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7"/>
  </p:notesMasterIdLst>
  <p:sldIdLst>
    <p:sldId id="256" r:id="rId2"/>
    <p:sldId id="257" r:id="rId3"/>
    <p:sldId id="258" r:id="rId4"/>
    <p:sldId id="259" r:id="rId5"/>
    <p:sldId id="260" r:id="rId6"/>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09" d="100"/>
          <a:sy n="109" d="100"/>
        </p:scale>
        <p:origin x="706" y="19"/>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622916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everyone — or rather, welcome to the honest part of the session.
I want to tell you something that most people do not say out loud when they present code.
I had never used Playwright before this project.
I had never written a browser automation test in my life.
So what did I do? I opened GitHub Copilot Chat. And I asked it to help me get started.
And I want to be clear about what that means — and what it does not mean.
GitHub Copilot helped me start. Official docs helped me understand. My own brain solved the real problems.
All three were necessary. And I am going to show you exactly what that looked like.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be specific about what Copilot actually did and did not do.
On the left — the green side — what Copilot genuinely helped with. The boilerplate. The sync_playwright context structure. Basic locator patterns. The repetitive parts — 3 sheets times 3 phases. Error wrapping. File structure. These are real contributions. Without Copilot this initial setup would have taken me a full day instead of 20 minutes.
On the right — the red side — what Copilot could not do.
It could not know my specific HTML selectors. I had to open Chrome DevTools, inspect every element, find the exact class and ID. Nobody can do that except someone who knows the dashboard.
It did not know that my dashboard wires JavaScript event listeners on DOMContentLoaded. So when it generated code to click the drawer button — the click worked but the drawer did not open. Copilot suggested I check the selector. The selector was fine. The real issue was timing — JavaScript had not finished wiring the events yet. I found this in the Playwright actionability documentation.
It generated generic selectors that matched elements across all tabs — including hidden ones. I had to scope every selector to the visible tab panel.
It wrote CSP validation that checked the full CSP string instead of specifically the script-src directive. Technically valid code — logically wrong for my use case.
And the timeline tab — Copilot assumed the same HTML pattern as the other tabs. It was completely different. I had to read the source code of the Python generator to understand how the timeline was built.
This is the honest split.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walk you through the real errors — the ones I actually hit in the order I hit them.
Error 1 — ModuleNotFoundError. Obvious. I had not installed the library. pip install playwright. Fixed in 10 seconds.
Error 2 — Browser executable not found. Less obvious. Playwright needs a separate step to download the browser. playwright install chromium. This is not in most tutorials. I found it in the official docs.
Error 3 — TimeoutError on the DR filter. This one took me 30 minutes to understand. Copilot's generic selector matched the DR filter across all tabs — including tabs that were not visible. The fix was to scope the selector to the specific tab panel.
Error 4 — Drawer not opening. The click was working. But the drawer did not appear. The issue was that my dashboard wires the drawer via addEventListener on DOMContentLoaded. Playwright was clicking before the JavaScript had finished wiring the events. Adding wait_for_timeout(800) after page load fixed it. I found the root cause in the Playwright actionability documentation.
Error 5 — CSP check passing incorrectly. The code looked right. But it was checking the full CSP string for unsafe-inline — which was present in the style-src. The real concern is the script-src. I had to understand CSP properly to fix this.
Error 6 — Timeline selectors returning zero. Copilot assumed the timeline used the same CSS classes as the other tabs. It does not. I had to read the Python source code to understand the timeline HTML structure.
Errors 7 through 10 were smaller — screenshot rendering, timing after filter clicks, clicking the wrong element for the collapsible, and forgetting to create the output directory.
Every single one of these errors taught me something. About Playwright. About my dashboard. About debugging. That is the real value — not just having it work, but understanding why.</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parts to this slide.
Left side — the real workflow. This is what actually happens when you use Copilot to build something new.
You ask GHCP for structure. It gives you something. You run it. It fails. You ask GHCP to fix it. Sometimes it works. Often it does not — because Copilot does not know your specific context. You go to the official Playwright documentation. You read it properly. You understand the root cause. You fix it yourself. You customise it for your specific dashboard. Then repeat.
This loop happened about 10 times during this project. Each time it got faster because I was building genuine understanding — not just copying code.
Right side — the five key lessons.
Lesson one — GHCP accelerates, it does not replace. Use it to get started fast. Do not expect it to finish the job.
Lesson two — official docs explain the WHY. Copilot fixes symptoms. The Playwright documentation at playwright.dev explains root causes. The actionability page alone solved three of my errors.
Lesson three — your domain knowledge is irreplaceable. Nobody knows your HTML, your JavaScript event wiring, your dashboard structure except you. Copilot cannot open Chrome DevTools and inspect your DOM.
Lesson four — every error is a learning. Each of the 10 errors I showed you taught me something real. By the end I genuinely understood Playwright — not just how to run it.
Lesson five — run after every addition. Do not write 100 lines without running. Add one check, run, verify, then add the next.
This approach — GHCP plus docs plus your own brain — is how AI-assisted development actually works. And it is still very powerful.</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 want to try Playwright after today — here is exactly how I would suggest you start.
Day 1 — install and read first. Do not use Copilot yet. Two commands — pip install playwright and playwright install chromium. Then read the official getting started at playwright.dev. Run the first example from the docs exactly as written. Understand what each line does before you change anything.
Day 2 and 3 — use the Test Generator. Run playwright codegen followed by your HTML file path. A browser opens. Click through your page normally. On the right side of the screen — Playwright writes the test code in real time. You now have real selectors for your specific page. Read every line it wrote. Understand each one before copying.
Week 1 — write your first real check. Just one. Open Chrome DevTools. Find the actual CSS selector for the element you want to check. Write one report.add_result() call. Run it. If it fails — read the error carefully before asking Copilot to fix it. Understanding the error is more valuable than the fix.
Week 2 — expand one section at a time. Run after every addition. Read your own source code carefully because your HTML structure is unique. Use Copilot for the repetitive sections but write the specific logic yourself.
The three pages on the Playwright docs I found most useful — intro, actionability, and locators. These three pages explain most of what you need to know to get started. They are linked at the bottom of the slide.
I am happy to pair with anyone who wants to start. Reach out to me after the session.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2A4A"/>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E3A5F"/>
          </a:solidFill>
          <a:ln/>
        </p:spPr>
      </p:sp>
      <p:sp>
        <p:nvSpPr>
          <p:cNvPr id="3" name="Shape 1"/>
          <p:cNvSpPr/>
          <p:nvPr/>
        </p:nvSpPr>
        <p:spPr>
          <a:xfrm>
            <a:off x="0" y="4480560"/>
            <a:ext cx="9144000" cy="662940"/>
          </a:xfrm>
          <a:prstGeom prst="rect">
            <a:avLst/>
          </a:prstGeom>
          <a:solidFill>
            <a:srgbClr val="0D1F35"/>
          </a:solidFill>
          <a:ln/>
        </p:spPr>
      </p:sp>
      <p:sp>
        <p:nvSpPr>
          <p:cNvPr id="4" name="Shape 2"/>
          <p:cNvSpPr/>
          <p:nvPr/>
        </p:nvSpPr>
        <p:spPr>
          <a:xfrm>
            <a:off x="548640" y="256032"/>
            <a:ext cx="1645920" cy="347472"/>
          </a:xfrm>
          <a:prstGeom prst="roundRect">
            <a:avLst>
              <a:gd name="adj" fmla="val 13158"/>
            </a:avLst>
          </a:prstGeom>
          <a:solidFill>
            <a:srgbClr val="00B4D8"/>
          </a:solidFill>
          <a:ln/>
        </p:spPr>
      </p:sp>
      <p:sp>
        <p:nvSpPr>
          <p:cNvPr id="5" name="Text 3"/>
          <p:cNvSpPr/>
          <p:nvPr/>
        </p:nvSpPr>
        <p:spPr>
          <a:xfrm>
            <a:off x="548640" y="256032"/>
            <a:ext cx="1645920" cy="34747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REAL STORY</a:t>
            </a:r>
            <a:endParaRPr lang="en-US" sz="1000" dirty="0"/>
          </a:p>
        </p:txBody>
      </p:sp>
      <p:sp>
        <p:nvSpPr>
          <p:cNvPr id="6" name="Text 4"/>
          <p:cNvSpPr/>
          <p:nvPr/>
        </p:nvSpPr>
        <p:spPr>
          <a:xfrm>
            <a:off x="548640" y="1097280"/>
            <a:ext cx="8046720" cy="777240"/>
          </a:xfrm>
          <a:prstGeom prst="rect">
            <a:avLst/>
          </a:prstGeom>
          <a:noFill/>
          <a:ln/>
        </p:spPr>
        <p:txBody>
          <a:bodyPr wrap="square" lIns="0" tIns="0" rIns="0" bIns="0" rtlCol="0" anchor="ctr"/>
          <a:lstStyle/>
          <a:p>
            <a:pPr marL="0" indent="0">
              <a:buNone/>
            </a:pPr>
            <a:r>
              <a:rPr lang="en-US" sz="3600" b="1" dirty="0">
                <a:solidFill>
                  <a:srgbClr val="FFFFFF"/>
                </a:solidFill>
                <a:latin typeface="Calibri" pitchFamily="34" charset="0"/>
                <a:ea typeface="Calibri" pitchFamily="34" charset="-122"/>
                <a:cs typeface="Calibri" pitchFamily="34" charset="-120"/>
              </a:rPr>
              <a:t>How I Actually Built This</a:t>
            </a:r>
            <a:endParaRPr lang="en-US" sz="3600" dirty="0"/>
          </a:p>
        </p:txBody>
      </p:sp>
      <p:sp>
        <p:nvSpPr>
          <p:cNvPr id="7" name="Text 5"/>
          <p:cNvSpPr/>
          <p:nvPr/>
        </p:nvSpPr>
        <p:spPr>
          <a:xfrm>
            <a:off x="548640" y="1901952"/>
            <a:ext cx="8046720" cy="411480"/>
          </a:xfrm>
          <a:prstGeom prst="rect">
            <a:avLst/>
          </a:prstGeom>
          <a:noFill/>
          <a:ln/>
        </p:spPr>
        <p:txBody>
          <a:bodyPr wrap="square" lIns="0" tIns="0" rIns="0" bIns="0" rtlCol="0" anchor="ctr"/>
          <a:lstStyle/>
          <a:p>
            <a:pPr marL="0" indent="0">
              <a:buNone/>
            </a:pPr>
            <a:r>
              <a:rPr lang="en-US" sz="1600" i="1" dirty="0">
                <a:solidFill>
                  <a:srgbClr val="00B4D8"/>
                </a:solidFill>
                <a:latin typeface="Calibri" pitchFamily="34" charset="0"/>
                <a:ea typeface="Calibri" pitchFamily="34" charset="-122"/>
                <a:cs typeface="Calibri" pitchFamily="34" charset="-120"/>
              </a:rPr>
              <a:t>The Honest Version — Vibe Coding with GitHub Copilot</a:t>
            </a:r>
            <a:endParaRPr lang="en-US" sz="1600" dirty="0"/>
          </a:p>
        </p:txBody>
      </p:sp>
      <p:sp>
        <p:nvSpPr>
          <p:cNvPr id="8" name="Text 6"/>
          <p:cNvSpPr/>
          <p:nvPr/>
        </p:nvSpPr>
        <p:spPr>
          <a:xfrm>
            <a:off x="548640" y="2514600"/>
            <a:ext cx="5486400" cy="365760"/>
          </a:xfrm>
          <a:prstGeom prst="rect">
            <a:avLst/>
          </a:prstGeom>
          <a:noFill/>
          <a:ln/>
        </p:spPr>
        <p:txBody>
          <a:bodyPr wrap="square" lIns="0" tIns="0" rIns="0" bIns="0" rtlCol="0" anchor="ctr"/>
          <a:lstStyle/>
          <a:p>
            <a:pPr marL="0" indent="0">
              <a:buNone/>
            </a:pPr>
            <a:r>
              <a:rPr lang="en-US" sz="1300" b="1" dirty="0">
                <a:solidFill>
                  <a:srgbClr val="00B4D8"/>
                </a:solidFill>
                <a:latin typeface="Calibri" pitchFamily="34" charset="0"/>
                <a:ea typeface="Calibri" pitchFamily="34" charset="-122"/>
                <a:cs typeface="Calibri" pitchFamily="34" charset="-120"/>
              </a:rPr>
              <a:t>GitHub Copilot  </a:t>
            </a:r>
            <a:r>
              <a:rPr lang="en-US" sz="1300" dirty="0">
                <a:solidFill>
                  <a:srgbClr val="CBD5E1"/>
                </a:solidFill>
                <a:latin typeface="Calibri" pitchFamily="34" charset="0"/>
                <a:ea typeface="Calibri" pitchFamily="34" charset="-122"/>
                <a:cs typeface="Calibri" pitchFamily="34" charset="-120"/>
              </a:rPr>
              <a:t>helped me start</a:t>
            </a:r>
            <a:endParaRPr lang="en-US" sz="1300" dirty="0"/>
          </a:p>
        </p:txBody>
      </p:sp>
      <p:sp>
        <p:nvSpPr>
          <p:cNvPr id="9" name="Text 7"/>
          <p:cNvSpPr/>
          <p:nvPr/>
        </p:nvSpPr>
        <p:spPr>
          <a:xfrm>
            <a:off x="548640" y="2953512"/>
            <a:ext cx="5486400" cy="365760"/>
          </a:xfrm>
          <a:prstGeom prst="rect">
            <a:avLst/>
          </a:prstGeom>
          <a:noFill/>
          <a:ln/>
        </p:spPr>
        <p:txBody>
          <a:bodyPr wrap="square" lIns="0" tIns="0" rIns="0" bIns="0" rtlCol="0" anchor="ctr"/>
          <a:lstStyle/>
          <a:p>
            <a:pPr marL="0" indent="0">
              <a:buNone/>
            </a:pPr>
            <a:r>
              <a:rPr lang="en-US" sz="1300" b="1" dirty="0">
                <a:solidFill>
                  <a:srgbClr val="00B4D8"/>
                </a:solidFill>
                <a:latin typeface="Calibri" pitchFamily="34" charset="0"/>
                <a:ea typeface="Calibri" pitchFamily="34" charset="-122"/>
                <a:cs typeface="Calibri" pitchFamily="34" charset="-120"/>
              </a:rPr>
              <a:t>Official docs  </a:t>
            </a:r>
            <a:r>
              <a:rPr lang="en-US" sz="1300" dirty="0">
                <a:solidFill>
                  <a:srgbClr val="CBD5E1"/>
                </a:solidFill>
                <a:latin typeface="Calibri" pitchFamily="34" charset="0"/>
                <a:ea typeface="Calibri" pitchFamily="34" charset="-122"/>
                <a:cs typeface="Calibri" pitchFamily="34" charset="-120"/>
              </a:rPr>
              <a:t>helped me understand</a:t>
            </a:r>
            <a:endParaRPr lang="en-US" sz="1300" dirty="0"/>
          </a:p>
        </p:txBody>
      </p:sp>
      <p:sp>
        <p:nvSpPr>
          <p:cNvPr id="10" name="Text 8"/>
          <p:cNvSpPr/>
          <p:nvPr/>
        </p:nvSpPr>
        <p:spPr>
          <a:xfrm>
            <a:off x="548640" y="3392424"/>
            <a:ext cx="5486400" cy="365760"/>
          </a:xfrm>
          <a:prstGeom prst="rect">
            <a:avLst/>
          </a:prstGeom>
          <a:noFill/>
          <a:ln/>
        </p:spPr>
        <p:txBody>
          <a:bodyPr wrap="square" lIns="0" tIns="0" rIns="0" bIns="0" rtlCol="0" anchor="ctr"/>
          <a:lstStyle/>
          <a:p>
            <a:pPr marL="0" indent="0">
              <a:buNone/>
            </a:pPr>
            <a:r>
              <a:rPr lang="en-US" sz="1300" b="1" dirty="0">
                <a:solidFill>
                  <a:srgbClr val="00B4D8"/>
                </a:solidFill>
                <a:latin typeface="Calibri" pitchFamily="34" charset="0"/>
                <a:ea typeface="Calibri" pitchFamily="34" charset="-122"/>
                <a:cs typeface="Calibri" pitchFamily="34" charset="-120"/>
              </a:rPr>
              <a:t>My own brain  </a:t>
            </a:r>
            <a:r>
              <a:rPr lang="en-US" sz="1300" dirty="0">
                <a:solidFill>
                  <a:srgbClr val="CBD5E1"/>
                </a:solidFill>
                <a:latin typeface="Calibri" pitchFamily="34" charset="0"/>
                <a:ea typeface="Calibri" pitchFamily="34" charset="-122"/>
                <a:cs typeface="Calibri" pitchFamily="34" charset="-120"/>
              </a:rPr>
              <a:t>solved the real problems</a:t>
            </a:r>
            <a:endParaRPr lang="en-US" sz="1300" dirty="0"/>
          </a:p>
        </p:txBody>
      </p:sp>
      <p:sp>
        <p:nvSpPr>
          <p:cNvPr id="11" name="Shape 9"/>
          <p:cNvSpPr/>
          <p:nvPr/>
        </p:nvSpPr>
        <p:spPr>
          <a:xfrm>
            <a:off x="6400800" y="1005840"/>
            <a:ext cx="2468880" cy="3291840"/>
          </a:xfrm>
          <a:prstGeom prst="roundRect">
            <a:avLst>
              <a:gd name="adj" fmla="val 3704"/>
            </a:avLst>
          </a:prstGeom>
          <a:solidFill>
            <a:srgbClr val="0D1F35"/>
          </a:solidFill>
          <a:ln/>
        </p:spPr>
      </p:sp>
      <p:sp>
        <p:nvSpPr>
          <p:cNvPr id="12" name="Text 10"/>
          <p:cNvSpPr/>
          <p:nvPr/>
        </p:nvSpPr>
        <p:spPr>
          <a:xfrm>
            <a:off x="6537960" y="1115568"/>
            <a:ext cx="2194560" cy="256032"/>
          </a:xfrm>
          <a:prstGeom prst="rect">
            <a:avLst/>
          </a:prstGeom>
          <a:noFill/>
          <a:ln/>
        </p:spPr>
        <p:txBody>
          <a:bodyPr wrap="square" lIns="0" tIns="0" rIns="0" bIns="0" rtlCol="0" anchor="ctr"/>
          <a:lstStyle/>
          <a:p>
            <a:pPr marL="0" indent="0">
              <a:buNone/>
            </a:pPr>
            <a:r>
              <a:rPr lang="en-US" sz="850" dirty="0">
                <a:solidFill>
                  <a:srgbClr val="6B7280"/>
                </a:solidFill>
                <a:latin typeface="Courier New" pitchFamily="34" charset="0"/>
                <a:ea typeface="Courier New" pitchFamily="34" charset="-122"/>
                <a:cs typeface="Courier New" pitchFamily="34" charset="-120"/>
              </a:rPr>
              <a:t># Week 1</a:t>
            </a:r>
            <a:endParaRPr lang="en-US" sz="850" dirty="0"/>
          </a:p>
        </p:txBody>
      </p:sp>
      <p:sp>
        <p:nvSpPr>
          <p:cNvPr id="13" name="Text 11"/>
          <p:cNvSpPr/>
          <p:nvPr/>
        </p:nvSpPr>
        <p:spPr>
          <a:xfrm>
            <a:off x="6537960" y="1417320"/>
            <a:ext cx="2194560" cy="256032"/>
          </a:xfrm>
          <a:prstGeom prst="rect">
            <a:avLst/>
          </a:prstGeom>
          <a:noFill/>
          <a:ln/>
        </p:spPr>
        <p:txBody>
          <a:bodyPr wrap="square" lIns="0" tIns="0" rIns="0" bIns="0" rtlCol="0" anchor="ctr"/>
          <a:lstStyle/>
          <a:p>
            <a:pPr marL="0" indent="0">
              <a:buNone/>
            </a:pPr>
            <a:r>
              <a:rPr lang="en-US" sz="850" dirty="0">
                <a:solidFill>
                  <a:srgbClr val="22C55E"/>
                </a:solidFill>
                <a:latin typeface="Courier New" pitchFamily="34" charset="0"/>
                <a:ea typeface="Courier New" pitchFamily="34" charset="-122"/>
                <a:cs typeface="Courier New" pitchFamily="34" charset="-120"/>
              </a:rPr>
              <a:t>pip install playwright</a:t>
            </a:r>
            <a:endParaRPr lang="en-US" sz="850" dirty="0"/>
          </a:p>
        </p:txBody>
      </p:sp>
      <p:sp>
        <p:nvSpPr>
          <p:cNvPr id="14" name="Text 12"/>
          <p:cNvSpPr/>
          <p:nvPr/>
        </p:nvSpPr>
        <p:spPr>
          <a:xfrm>
            <a:off x="6537960" y="1719072"/>
            <a:ext cx="2194560" cy="256032"/>
          </a:xfrm>
          <a:prstGeom prst="rect">
            <a:avLst/>
          </a:prstGeom>
          <a:noFill/>
          <a:ln/>
        </p:spPr>
        <p:txBody>
          <a:bodyPr wrap="square" lIns="0" tIns="0" rIns="0" bIns="0" rtlCol="0" anchor="ctr"/>
          <a:lstStyle/>
          <a:p>
            <a:pPr marL="0" indent="0">
              <a:buNone/>
            </a:pPr>
            <a:r>
              <a:rPr lang="en-US" sz="850" dirty="0">
                <a:solidFill>
                  <a:srgbClr val="6B7280"/>
                </a:solidFill>
                <a:latin typeface="Courier New" pitchFamily="34" charset="0"/>
                <a:ea typeface="Courier New" pitchFamily="34" charset="-122"/>
                <a:cs typeface="Courier New" pitchFamily="34" charset="-120"/>
              </a:rPr>
              <a:t># Error 1</a:t>
            </a:r>
            <a:endParaRPr lang="en-US" sz="850" dirty="0"/>
          </a:p>
        </p:txBody>
      </p:sp>
      <p:sp>
        <p:nvSpPr>
          <p:cNvPr id="15" name="Text 13"/>
          <p:cNvSpPr/>
          <p:nvPr/>
        </p:nvSpPr>
        <p:spPr>
          <a:xfrm>
            <a:off x="6537960" y="2020824"/>
            <a:ext cx="2194560" cy="256032"/>
          </a:xfrm>
          <a:prstGeom prst="rect">
            <a:avLst/>
          </a:prstGeom>
          <a:noFill/>
          <a:ln/>
        </p:spPr>
        <p:txBody>
          <a:bodyPr wrap="square" lIns="0" tIns="0" rIns="0" bIns="0" rtlCol="0" anchor="ctr"/>
          <a:lstStyle/>
          <a:p>
            <a:pPr marL="0" indent="0">
              <a:buNone/>
            </a:pPr>
            <a:r>
              <a:rPr lang="en-US" sz="850" dirty="0">
                <a:solidFill>
                  <a:srgbClr val="22C55E"/>
                </a:solidFill>
                <a:latin typeface="Courier New" pitchFamily="34" charset="0"/>
                <a:ea typeface="Courier New" pitchFamily="34" charset="-122"/>
                <a:cs typeface="Courier New" pitchFamily="34" charset="-120"/>
              </a:rPr>
              <a:t>$ playwright install</a:t>
            </a:r>
            <a:endParaRPr lang="en-US" sz="850" dirty="0"/>
          </a:p>
        </p:txBody>
      </p:sp>
      <p:sp>
        <p:nvSpPr>
          <p:cNvPr id="16" name="Text 14"/>
          <p:cNvSpPr/>
          <p:nvPr/>
        </p:nvSpPr>
        <p:spPr>
          <a:xfrm>
            <a:off x="6537960" y="2322576"/>
            <a:ext cx="2194560" cy="256032"/>
          </a:xfrm>
          <a:prstGeom prst="rect">
            <a:avLst/>
          </a:prstGeom>
          <a:noFill/>
          <a:ln/>
        </p:spPr>
        <p:txBody>
          <a:bodyPr wrap="square" lIns="0" tIns="0" rIns="0" bIns="0" rtlCol="0" anchor="ctr"/>
          <a:lstStyle/>
          <a:p>
            <a:pPr marL="0" indent="0">
              <a:buNone/>
            </a:pPr>
            <a:r>
              <a:rPr lang="en-US" sz="850" dirty="0">
                <a:solidFill>
                  <a:srgbClr val="6B7280"/>
                </a:solidFill>
                <a:latin typeface="Courier New" pitchFamily="34" charset="0"/>
                <a:ea typeface="Courier New" pitchFamily="34" charset="-122"/>
                <a:cs typeface="Courier New" pitchFamily="34" charset="-120"/>
              </a:rPr>
              <a:t># Error 2</a:t>
            </a:r>
            <a:endParaRPr lang="en-US" sz="850" dirty="0"/>
          </a:p>
        </p:txBody>
      </p:sp>
      <p:sp>
        <p:nvSpPr>
          <p:cNvPr id="17" name="Text 15"/>
          <p:cNvSpPr/>
          <p:nvPr/>
        </p:nvSpPr>
        <p:spPr>
          <a:xfrm>
            <a:off x="6537960" y="2624328"/>
            <a:ext cx="2194560" cy="256032"/>
          </a:xfrm>
          <a:prstGeom prst="rect">
            <a:avLst/>
          </a:prstGeom>
          <a:noFill/>
          <a:ln/>
        </p:spPr>
        <p:txBody>
          <a:bodyPr wrap="square" lIns="0" tIns="0" rIns="0" bIns="0" rtlCol="0" anchor="ctr"/>
          <a:lstStyle/>
          <a:p>
            <a:pPr marL="0" indent="0">
              <a:buNone/>
            </a:pPr>
            <a:r>
              <a:rPr lang="en-US" sz="850" dirty="0">
                <a:solidFill>
                  <a:srgbClr val="EF4444"/>
                </a:solidFill>
                <a:latin typeface="Courier New" pitchFamily="34" charset="0"/>
                <a:ea typeface="Courier New" pitchFamily="34" charset="-122"/>
                <a:cs typeface="Courier New" pitchFamily="34" charset="-120"/>
              </a:rPr>
              <a:t>TimeoutError: ...</a:t>
            </a:r>
            <a:endParaRPr lang="en-US" sz="850" dirty="0"/>
          </a:p>
        </p:txBody>
      </p:sp>
      <p:sp>
        <p:nvSpPr>
          <p:cNvPr id="18" name="Text 16"/>
          <p:cNvSpPr/>
          <p:nvPr/>
        </p:nvSpPr>
        <p:spPr>
          <a:xfrm>
            <a:off x="6537960" y="2926080"/>
            <a:ext cx="2194560" cy="256032"/>
          </a:xfrm>
          <a:prstGeom prst="rect">
            <a:avLst/>
          </a:prstGeom>
          <a:noFill/>
          <a:ln/>
        </p:spPr>
        <p:txBody>
          <a:bodyPr wrap="square" lIns="0" tIns="0" rIns="0" bIns="0" rtlCol="0" anchor="ctr"/>
          <a:lstStyle/>
          <a:p>
            <a:pPr marL="0" indent="0">
              <a:buNone/>
            </a:pPr>
            <a:r>
              <a:rPr lang="en-US" sz="850" dirty="0">
                <a:solidFill>
                  <a:srgbClr val="6B7280"/>
                </a:solidFill>
                <a:latin typeface="Courier New" pitchFamily="34" charset="0"/>
                <a:ea typeface="Courier New" pitchFamily="34" charset="-122"/>
                <a:cs typeface="Courier New" pitchFamily="34" charset="-120"/>
              </a:rPr>
              <a:t># Read the docs</a:t>
            </a:r>
            <a:endParaRPr lang="en-US" sz="850" dirty="0"/>
          </a:p>
        </p:txBody>
      </p:sp>
      <p:sp>
        <p:nvSpPr>
          <p:cNvPr id="19" name="Text 17"/>
          <p:cNvSpPr/>
          <p:nvPr/>
        </p:nvSpPr>
        <p:spPr>
          <a:xfrm>
            <a:off x="6537960" y="3227832"/>
            <a:ext cx="2194560" cy="256032"/>
          </a:xfrm>
          <a:prstGeom prst="rect">
            <a:avLst/>
          </a:prstGeom>
          <a:noFill/>
          <a:ln/>
        </p:spPr>
        <p:txBody>
          <a:bodyPr wrap="square" lIns="0" tIns="0" rIns="0" bIns="0" rtlCol="0" anchor="ctr"/>
          <a:lstStyle/>
          <a:p>
            <a:pPr marL="0" indent="0">
              <a:buNone/>
            </a:pPr>
            <a:r>
              <a:rPr lang="en-US" sz="850" dirty="0">
                <a:solidFill>
                  <a:srgbClr val="00B4D8"/>
                </a:solidFill>
                <a:latin typeface="Courier New" pitchFamily="34" charset="0"/>
                <a:ea typeface="Courier New" pitchFamily="34" charset="-122"/>
                <a:cs typeface="Courier New" pitchFamily="34" charset="-120"/>
              </a:rPr>
              <a:t>playwright.dev</a:t>
            </a:r>
            <a:endParaRPr lang="en-US" sz="850" dirty="0"/>
          </a:p>
        </p:txBody>
      </p:sp>
      <p:sp>
        <p:nvSpPr>
          <p:cNvPr id="20" name="Text 18"/>
          <p:cNvSpPr/>
          <p:nvPr/>
        </p:nvSpPr>
        <p:spPr>
          <a:xfrm>
            <a:off x="6537960" y="3529584"/>
            <a:ext cx="2194560" cy="256032"/>
          </a:xfrm>
          <a:prstGeom prst="rect">
            <a:avLst/>
          </a:prstGeom>
          <a:noFill/>
          <a:ln/>
        </p:spPr>
        <p:txBody>
          <a:bodyPr wrap="square" lIns="0" tIns="0" rIns="0" bIns="0" rtlCol="0" anchor="ctr"/>
          <a:lstStyle/>
          <a:p>
            <a:pPr marL="0" indent="0">
              <a:buNone/>
            </a:pPr>
            <a:r>
              <a:rPr lang="en-US" sz="850" dirty="0">
                <a:solidFill>
                  <a:srgbClr val="6B7280"/>
                </a:solidFill>
                <a:latin typeface="Courier New" pitchFamily="34" charset="0"/>
                <a:ea typeface="Courier New" pitchFamily="34" charset="-122"/>
                <a:cs typeface="Courier New" pitchFamily="34" charset="-120"/>
              </a:rPr>
              <a:t># Fixed!</a:t>
            </a:r>
            <a:endParaRPr lang="en-US" sz="850" dirty="0"/>
          </a:p>
        </p:txBody>
      </p:sp>
      <p:sp>
        <p:nvSpPr>
          <p:cNvPr id="21" name="Text 19"/>
          <p:cNvSpPr/>
          <p:nvPr/>
        </p:nvSpPr>
        <p:spPr>
          <a:xfrm>
            <a:off x="6537960" y="3831336"/>
            <a:ext cx="2194560" cy="256032"/>
          </a:xfrm>
          <a:prstGeom prst="rect">
            <a:avLst/>
          </a:prstGeom>
          <a:noFill/>
          <a:ln/>
        </p:spPr>
        <p:txBody>
          <a:bodyPr wrap="square" lIns="0" tIns="0" rIns="0" bIns="0" rtlCol="0" anchor="ctr"/>
          <a:lstStyle/>
          <a:p>
            <a:pPr marL="0" indent="0">
              <a:buNone/>
            </a:pPr>
            <a:r>
              <a:rPr lang="en-US" sz="850" dirty="0">
                <a:solidFill>
                  <a:srgbClr val="22C55E"/>
                </a:solidFill>
                <a:latin typeface="Courier New" pitchFamily="34" charset="0"/>
                <a:ea typeface="Courier New" pitchFamily="34" charset="-122"/>
                <a:cs typeface="Courier New" pitchFamily="34" charset="-120"/>
              </a:rPr>
              <a:t>✅  All passed</a:t>
            </a:r>
            <a:endParaRPr lang="en-US" sz="850" dirty="0"/>
          </a:p>
        </p:txBody>
      </p:sp>
      <p:sp>
        <p:nvSpPr>
          <p:cNvPr id="22" name="Text 20"/>
          <p:cNvSpPr/>
          <p:nvPr/>
        </p:nvSpPr>
        <p:spPr>
          <a:xfrm>
            <a:off x="548640" y="4526280"/>
            <a:ext cx="7315200" cy="256032"/>
          </a:xfrm>
          <a:prstGeom prst="rect">
            <a:avLst/>
          </a:prstGeom>
          <a:noFill/>
          <a:ln/>
        </p:spPr>
        <p:txBody>
          <a:bodyPr wrap="square" lIns="0" tIns="0" rIns="0" bIns="0" rtlCol="0" anchor="ctr"/>
          <a:lstStyle/>
          <a:p>
            <a:pPr marL="0" indent="0">
              <a:buNone/>
            </a:pPr>
            <a:r>
              <a:rPr lang="en-US" sz="950" i="1" dirty="0">
                <a:solidFill>
                  <a:srgbClr val="6B7280"/>
                </a:solidFill>
                <a:latin typeface="Calibri" pitchFamily="34" charset="0"/>
                <a:ea typeface="Calibri" pitchFamily="34" charset="-122"/>
                <a:cs typeface="Calibri" pitchFamily="34" charset="-120"/>
              </a:rPr>
              <a:t>Not everything done by GHCP. I was not sitting idle.</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457200" y="137160"/>
            <a:ext cx="1828800" cy="320040"/>
          </a:xfrm>
          <a:prstGeom prst="roundRect">
            <a:avLst>
              <a:gd name="adj" fmla="val 14286"/>
            </a:avLst>
          </a:prstGeom>
          <a:solidFill>
            <a:srgbClr val="00B4D8"/>
          </a:solidFill>
          <a:ln/>
        </p:spPr>
      </p:sp>
      <p:sp>
        <p:nvSpPr>
          <p:cNvPr id="3" name="Text 1"/>
          <p:cNvSpPr/>
          <p:nvPr/>
        </p:nvSpPr>
        <p:spPr>
          <a:xfrm>
            <a:off x="457200" y="137160"/>
            <a:ext cx="1828800" cy="320040"/>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GHCP — THE HONEST SPLIT</a:t>
            </a:r>
            <a:endParaRPr lang="en-US" sz="800" dirty="0"/>
          </a:p>
        </p:txBody>
      </p:sp>
      <p:sp>
        <p:nvSpPr>
          <p:cNvPr id="4" name="Text 2"/>
          <p:cNvSpPr/>
          <p:nvPr/>
        </p:nvSpPr>
        <p:spPr>
          <a:xfrm>
            <a:off x="457200" y="566928"/>
            <a:ext cx="8229600" cy="475488"/>
          </a:xfrm>
          <a:prstGeom prst="rect">
            <a:avLst/>
          </a:prstGeom>
          <a:noFill/>
          <a:ln/>
        </p:spPr>
        <p:txBody>
          <a:bodyPr wrap="square" lIns="0" tIns="0" rIns="0" bIns="0" rtlCol="0" anchor="ctr"/>
          <a:lstStyle/>
          <a:p>
            <a:pPr marL="0" indent="0">
              <a:buNone/>
            </a:pPr>
            <a:r>
              <a:rPr lang="en-US" sz="2000" b="1" dirty="0">
                <a:solidFill>
                  <a:srgbClr val="1A2A4A"/>
                </a:solidFill>
                <a:latin typeface="Calibri" pitchFamily="34" charset="0"/>
                <a:ea typeface="Calibri" pitchFamily="34" charset="-122"/>
                <a:cs typeface="Calibri" pitchFamily="34" charset="-120"/>
              </a:rPr>
              <a:t>What GitHub Copilot Did vs What I Had To Do</a:t>
            </a:r>
            <a:endParaRPr lang="en-US" sz="2000" dirty="0"/>
          </a:p>
        </p:txBody>
      </p:sp>
      <p:sp>
        <p:nvSpPr>
          <p:cNvPr id="5" name="Shape 3"/>
          <p:cNvSpPr/>
          <p:nvPr/>
        </p:nvSpPr>
        <p:spPr>
          <a:xfrm>
            <a:off x="457200" y="1115568"/>
            <a:ext cx="8229600" cy="0"/>
          </a:xfrm>
          <a:prstGeom prst="line">
            <a:avLst/>
          </a:prstGeom>
          <a:noFill/>
          <a:ln w="19050">
            <a:solidFill>
              <a:srgbClr val="00B4D8"/>
            </a:solidFill>
            <a:prstDash val="solid"/>
          </a:ln>
        </p:spPr>
      </p:sp>
      <p:sp>
        <p:nvSpPr>
          <p:cNvPr id="6" name="Shape 4"/>
          <p:cNvSpPr/>
          <p:nvPr/>
        </p:nvSpPr>
        <p:spPr>
          <a:xfrm>
            <a:off x="457200" y="1234440"/>
            <a:ext cx="3977640" cy="3611880"/>
          </a:xfrm>
          <a:prstGeom prst="roundRect">
            <a:avLst>
              <a:gd name="adj" fmla="val 2532"/>
            </a:avLst>
          </a:prstGeom>
          <a:solidFill>
            <a:srgbClr val="F0FDF4"/>
          </a:solidFill>
          <a:ln w="12700">
            <a:solidFill>
              <a:srgbClr val="BBF7D0"/>
            </a:solidFill>
            <a:prstDash val="solid"/>
          </a:ln>
        </p:spPr>
      </p:sp>
      <p:sp>
        <p:nvSpPr>
          <p:cNvPr id="7" name="Text 5"/>
          <p:cNvSpPr/>
          <p:nvPr/>
        </p:nvSpPr>
        <p:spPr>
          <a:xfrm>
            <a:off x="640080" y="1353312"/>
            <a:ext cx="3611880" cy="347472"/>
          </a:xfrm>
          <a:prstGeom prst="rect">
            <a:avLst/>
          </a:prstGeom>
          <a:noFill/>
          <a:ln/>
        </p:spPr>
        <p:txBody>
          <a:bodyPr wrap="square" lIns="0" tIns="0" rIns="0" bIns="0" rtlCol="0" anchor="ctr"/>
          <a:lstStyle/>
          <a:p>
            <a:pPr marL="0" indent="0">
              <a:buNone/>
            </a:pPr>
            <a:r>
              <a:rPr lang="en-US" sz="1200" b="1" dirty="0">
                <a:solidFill>
                  <a:srgbClr val="166534"/>
                </a:solidFill>
                <a:latin typeface="Calibri" pitchFamily="34" charset="0"/>
                <a:ea typeface="Calibri" pitchFamily="34" charset="-122"/>
                <a:cs typeface="Calibri" pitchFamily="34" charset="-120"/>
              </a:rPr>
              <a:t>✅  GHCP Helped With</a:t>
            </a:r>
            <a:endParaRPr lang="en-US" sz="1200" dirty="0"/>
          </a:p>
        </p:txBody>
      </p:sp>
      <p:sp>
        <p:nvSpPr>
          <p:cNvPr id="8" name="Text 6"/>
          <p:cNvSpPr/>
          <p:nvPr/>
        </p:nvSpPr>
        <p:spPr>
          <a:xfrm>
            <a:off x="658368" y="1783080"/>
            <a:ext cx="1417320" cy="310896"/>
          </a:xfrm>
          <a:prstGeom prst="rect">
            <a:avLst/>
          </a:prstGeom>
          <a:noFill/>
          <a:ln/>
        </p:spPr>
        <p:txBody>
          <a:bodyPr wrap="square" lIns="0" tIns="0" rIns="0" bIns="0" rtlCol="0" anchor="ctr"/>
          <a:lstStyle/>
          <a:p>
            <a:pPr marL="0" indent="0">
              <a:buNone/>
            </a:pPr>
            <a:r>
              <a:rPr lang="en-US" sz="900" b="1" dirty="0">
                <a:solidFill>
                  <a:srgbClr val="166534"/>
                </a:solidFill>
                <a:latin typeface="Calibri" pitchFamily="34" charset="0"/>
                <a:ea typeface="Calibri" pitchFamily="34" charset="-122"/>
                <a:cs typeface="Calibri" pitchFamily="34" charset="-120"/>
              </a:rPr>
              <a:t>▸ Boilerplate:  </a:t>
            </a:r>
            <a:endParaRPr lang="en-US" sz="900" dirty="0"/>
          </a:p>
        </p:txBody>
      </p:sp>
      <p:sp>
        <p:nvSpPr>
          <p:cNvPr id="9" name="Text 7"/>
          <p:cNvSpPr/>
          <p:nvPr/>
        </p:nvSpPr>
        <p:spPr>
          <a:xfrm>
            <a:off x="2057400" y="1783080"/>
            <a:ext cx="2240280" cy="310896"/>
          </a:xfrm>
          <a:prstGeom prst="rect">
            <a:avLst/>
          </a:prstGeom>
          <a:noFill/>
          <a:ln/>
        </p:spPr>
        <p:txBody>
          <a:bodyPr wrap="square" lIns="0" tIns="0" rIns="0" bIns="0" rtlCol="0" anchor="ctr"/>
          <a:lstStyle/>
          <a:p>
            <a:pPr marL="0" indent="0">
              <a:buNone/>
            </a:pPr>
            <a:r>
              <a:rPr lang="en-US" sz="900" dirty="0">
                <a:solidFill>
                  <a:srgbClr val="166534"/>
                </a:solidFill>
                <a:latin typeface="Calibri" pitchFamily="34" charset="0"/>
                <a:ea typeface="Calibri" pitchFamily="34" charset="-122"/>
                <a:cs typeface="Calibri" pitchFamily="34" charset="-120"/>
              </a:rPr>
              <a:t>sync_playwright context, browser open/close</a:t>
            </a:r>
            <a:endParaRPr lang="en-US" sz="900" dirty="0"/>
          </a:p>
        </p:txBody>
      </p:sp>
      <p:sp>
        <p:nvSpPr>
          <p:cNvPr id="10" name="Text 8"/>
          <p:cNvSpPr/>
          <p:nvPr/>
        </p:nvSpPr>
        <p:spPr>
          <a:xfrm>
            <a:off x="658368" y="2185416"/>
            <a:ext cx="1417320" cy="310896"/>
          </a:xfrm>
          <a:prstGeom prst="rect">
            <a:avLst/>
          </a:prstGeom>
          <a:noFill/>
          <a:ln/>
        </p:spPr>
        <p:txBody>
          <a:bodyPr wrap="square" lIns="0" tIns="0" rIns="0" bIns="0" rtlCol="0" anchor="ctr"/>
          <a:lstStyle/>
          <a:p>
            <a:pPr marL="0" indent="0">
              <a:buNone/>
            </a:pPr>
            <a:r>
              <a:rPr lang="en-US" sz="900" b="1" dirty="0">
                <a:solidFill>
                  <a:srgbClr val="166534"/>
                </a:solidFill>
                <a:latin typeface="Calibri" pitchFamily="34" charset="0"/>
                <a:ea typeface="Calibri" pitchFamily="34" charset="-122"/>
                <a:cs typeface="Calibri" pitchFamily="34" charset="-120"/>
              </a:rPr>
              <a:t>▸ Basic patterns:  </a:t>
            </a:r>
            <a:endParaRPr lang="en-US" sz="900" dirty="0"/>
          </a:p>
        </p:txBody>
      </p:sp>
      <p:sp>
        <p:nvSpPr>
          <p:cNvPr id="11" name="Text 9"/>
          <p:cNvSpPr/>
          <p:nvPr/>
        </p:nvSpPr>
        <p:spPr>
          <a:xfrm>
            <a:off x="2057400" y="2185416"/>
            <a:ext cx="2240280" cy="310896"/>
          </a:xfrm>
          <a:prstGeom prst="rect">
            <a:avLst/>
          </a:prstGeom>
          <a:noFill/>
          <a:ln/>
        </p:spPr>
        <p:txBody>
          <a:bodyPr wrap="square" lIns="0" tIns="0" rIns="0" bIns="0" rtlCol="0" anchor="ctr"/>
          <a:lstStyle/>
          <a:p>
            <a:pPr marL="0" indent="0">
              <a:buNone/>
            </a:pPr>
            <a:r>
              <a:rPr lang="en-US" sz="900" dirty="0">
                <a:solidFill>
                  <a:srgbClr val="166534"/>
                </a:solidFill>
                <a:latin typeface="Calibri" pitchFamily="34" charset="0"/>
                <a:ea typeface="Calibri" pitchFamily="34" charset="-122"/>
                <a:cs typeface="Calibri" pitchFamily="34" charset="-120"/>
              </a:rPr>
              <a:t>page.locator(), .click(), .fill(), .count()</a:t>
            </a:r>
            <a:endParaRPr lang="en-US" sz="900" dirty="0"/>
          </a:p>
        </p:txBody>
      </p:sp>
      <p:sp>
        <p:nvSpPr>
          <p:cNvPr id="12" name="Text 10"/>
          <p:cNvSpPr/>
          <p:nvPr/>
        </p:nvSpPr>
        <p:spPr>
          <a:xfrm>
            <a:off x="658368" y="2587752"/>
            <a:ext cx="1417320" cy="310896"/>
          </a:xfrm>
          <a:prstGeom prst="rect">
            <a:avLst/>
          </a:prstGeom>
          <a:noFill/>
          <a:ln/>
        </p:spPr>
        <p:txBody>
          <a:bodyPr wrap="square" lIns="0" tIns="0" rIns="0" bIns="0" rtlCol="0" anchor="ctr"/>
          <a:lstStyle/>
          <a:p>
            <a:pPr marL="0" indent="0">
              <a:buNone/>
            </a:pPr>
            <a:r>
              <a:rPr lang="en-US" sz="900" b="1" dirty="0">
                <a:solidFill>
                  <a:srgbClr val="166534"/>
                </a:solidFill>
                <a:latin typeface="Calibri" pitchFamily="34" charset="0"/>
                <a:ea typeface="Calibri" pitchFamily="34" charset="-122"/>
                <a:cs typeface="Calibri" pitchFamily="34" charset="-120"/>
              </a:rPr>
              <a:t>▸ Repetition:  </a:t>
            </a:r>
            <a:endParaRPr lang="en-US" sz="900" dirty="0"/>
          </a:p>
        </p:txBody>
      </p:sp>
      <p:sp>
        <p:nvSpPr>
          <p:cNvPr id="13" name="Text 11"/>
          <p:cNvSpPr/>
          <p:nvPr/>
        </p:nvSpPr>
        <p:spPr>
          <a:xfrm>
            <a:off x="2057400" y="2587752"/>
            <a:ext cx="2240280" cy="310896"/>
          </a:xfrm>
          <a:prstGeom prst="rect">
            <a:avLst/>
          </a:prstGeom>
          <a:noFill/>
          <a:ln/>
        </p:spPr>
        <p:txBody>
          <a:bodyPr wrap="square" lIns="0" tIns="0" rIns="0" bIns="0" rtlCol="0" anchor="ctr"/>
          <a:lstStyle/>
          <a:p>
            <a:pPr marL="0" indent="0">
              <a:buNone/>
            </a:pPr>
            <a:r>
              <a:rPr lang="en-US" sz="900" dirty="0">
                <a:solidFill>
                  <a:srgbClr val="166534"/>
                </a:solidFill>
                <a:latin typeface="Calibri" pitchFamily="34" charset="0"/>
                <a:ea typeface="Calibri" pitchFamily="34" charset="-122"/>
                <a:cs typeface="Calibri" pitchFamily="34" charset="-120"/>
              </a:rPr>
              <a:t>3 sheets × 3 phases — saved hours of typing</a:t>
            </a:r>
            <a:endParaRPr lang="en-US" sz="900" dirty="0"/>
          </a:p>
        </p:txBody>
      </p:sp>
      <p:sp>
        <p:nvSpPr>
          <p:cNvPr id="14" name="Text 12"/>
          <p:cNvSpPr/>
          <p:nvPr/>
        </p:nvSpPr>
        <p:spPr>
          <a:xfrm>
            <a:off x="658368" y="2990088"/>
            <a:ext cx="1417320" cy="310896"/>
          </a:xfrm>
          <a:prstGeom prst="rect">
            <a:avLst/>
          </a:prstGeom>
          <a:noFill/>
          <a:ln/>
        </p:spPr>
        <p:txBody>
          <a:bodyPr wrap="square" lIns="0" tIns="0" rIns="0" bIns="0" rtlCol="0" anchor="ctr"/>
          <a:lstStyle/>
          <a:p>
            <a:pPr marL="0" indent="0">
              <a:buNone/>
            </a:pPr>
            <a:r>
              <a:rPr lang="en-US" sz="900" b="1" dirty="0">
                <a:solidFill>
                  <a:srgbClr val="166534"/>
                </a:solidFill>
                <a:latin typeface="Calibri" pitchFamily="34" charset="0"/>
                <a:ea typeface="Calibri" pitchFamily="34" charset="-122"/>
                <a:cs typeface="Calibri" pitchFamily="34" charset="-120"/>
              </a:rPr>
              <a:t>▸ Error wrapping:  </a:t>
            </a:r>
            <a:endParaRPr lang="en-US" sz="900" dirty="0"/>
          </a:p>
        </p:txBody>
      </p:sp>
      <p:sp>
        <p:nvSpPr>
          <p:cNvPr id="15" name="Text 13"/>
          <p:cNvSpPr/>
          <p:nvPr/>
        </p:nvSpPr>
        <p:spPr>
          <a:xfrm>
            <a:off x="2057400" y="2990088"/>
            <a:ext cx="2240280" cy="310896"/>
          </a:xfrm>
          <a:prstGeom prst="rect">
            <a:avLst/>
          </a:prstGeom>
          <a:noFill/>
          <a:ln/>
        </p:spPr>
        <p:txBody>
          <a:bodyPr wrap="square" lIns="0" tIns="0" rIns="0" bIns="0" rtlCol="0" anchor="ctr"/>
          <a:lstStyle/>
          <a:p>
            <a:pPr marL="0" indent="0">
              <a:buNone/>
            </a:pPr>
            <a:r>
              <a:rPr lang="en-US" sz="900" dirty="0">
                <a:solidFill>
                  <a:srgbClr val="166534"/>
                </a:solidFill>
                <a:latin typeface="Calibri" pitchFamily="34" charset="0"/>
                <a:ea typeface="Calibri" pitchFamily="34" charset="-122"/>
                <a:cs typeface="Calibri" pitchFamily="34" charset="-120"/>
              </a:rPr>
              <a:t>try/except blocks around each check</a:t>
            </a:r>
            <a:endParaRPr lang="en-US" sz="900" dirty="0"/>
          </a:p>
        </p:txBody>
      </p:sp>
      <p:sp>
        <p:nvSpPr>
          <p:cNvPr id="16" name="Text 14"/>
          <p:cNvSpPr/>
          <p:nvPr/>
        </p:nvSpPr>
        <p:spPr>
          <a:xfrm>
            <a:off x="658368" y="3392424"/>
            <a:ext cx="1417320" cy="310896"/>
          </a:xfrm>
          <a:prstGeom prst="rect">
            <a:avLst/>
          </a:prstGeom>
          <a:noFill/>
          <a:ln/>
        </p:spPr>
        <p:txBody>
          <a:bodyPr wrap="square" lIns="0" tIns="0" rIns="0" bIns="0" rtlCol="0" anchor="ctr"/>
          <a:lstStyle/>
          <a:p>
            <a:pPr marL="0" indent="0">
              <a:buNone/>
            </a:pPr>
            <a:r>
              <a:rPr lang="en-US" sz="900" b="1" dirty="0">
                <a:solidFill>
                  <a:srgbClr val="166534"/>
                </a:solidFill>
                <a:latin typeface="Calibri" pitchFamily="34" charset="0"/>
                <a:ea typeface="Calibri" pitchFamily="34" charset="-122"/>
                <a:cs typeface="Calibri" pitchFamily="34" charset="-120"/>
              </a:rPr>
              <a:t>▸ File structure:  </a:t>
            </a:r>
            <a:endParaRPr lang="en-US" sz="900" dirty="0"/>
          </a:p>
        </p:txBody>
      </p:sp>
      <p:sp>
        <p:nvSpPr>
          <p:cNvPr id="17" name="Text 15"/>
          <p:cNvSpPr/>
          <p:nvPr/>
        </p:nvSpPr>
        <p:spPr>
          <a:xfrm>
            <a:off x="2057400" y="3392424"/>
            <a:ext cx="2240280" cy="310896"/>
          </a:xfrm>
          <a:prstGeom prst="rect">
            <a:avLst/>
          </a:prstGeom>
          <a:noFill/>
          <a:ln/>
        </p:spPr>
        <p:txBody>
          <a:bodyPr wrap="square" lIns="0" tIns="0" rIns="0" bIns="0" rtlCol="0" anchor="ctr"/>
          <a:lstStyle/>
          <a:p>
            <a:pPr marL="0" indent="0">
              <a:buNone/>
            </a:pPr>
            <a:r>
              <a:rPr lang="en-US" sz="900" dirty="0">
                <a:solidFill>
                  <a:srgbClr val="166534"/>
                </a:solidFill>
                <a:latin typeface="Calibri" pitchFamily="34" charset="0"/>
                <a:ea typeface="Calibri" pitchFamily="34" charset="-122"/>
                <a:cs typeface="Calibri" pitchFamily="34" charset="-120"/>
              </a:rPr>
              <a:t>requirements.txt, __init__.py, folder layout</a:t>
            </a:r>
            <a:endParaRPr lang="en-US" sz="900" dirty="0"/>
          </a:p>
        </p:txBody>
      </p:sp>
      <p:sp>
        <p:nvSpPr>
          <p:cNvPr id="18" name="Text 16"/>
          <p:cNvSpPr/>
          <p:nvPr/>
        </p:nvSpPr>
        <p:spPr>
          <a:xfrm>
            <a:off x="658368" y="3794760"/>
            <a:ext cx="1417320" cy="310896"/>
          </a:xfrm>
          <a:prstGeom prst="rect">
            <a:avLst/>
          </a:prstGeom>
          <a:noFill/>
          <a:ln/>
        </p:spPr>
        <p:txBody>
          <a:bodyPr wrap="square" lIns="0" tIns="0" rIns="0" bIns="0" rtlCol="0" anchor="ctr"/>
          <a:lstStyle/>
          <a:p>
            <a:pPr marL="0" indent="0">
              <a:buNone/>
            </a:pPr>
            <a:r>
              <a:rPr lang="en-US" sz="900" b="1" dirty="0">
                <a:solidFill>
                  <a:srgbClr val="166534"/>
                </a:solidFill>
                <a:latin typeface="Calibri" pitchFamily="34" charset="0"/>
                <a:ea typeface="Calibri" pitchFamily="34" charset="-122"/>
                <a:cs typeface="Calibri" pitchFamily="34" charset="-120"/>
              </a:rPr>
              <a:t>▸ Report saving:  </a:t>
            </a:r>
            <a:endParaRPr lang="en-US" sz="900" dirty="0"/>
          </a:p>
        </p:txBody>
      </p:sp>
      <p:sp>
        <p:nvSpPr>
          <p:cNvPr id="19" name="Text 17"/>
          <p:cNvSpPr/>
          <p:nvPr/>
        </p:nvSpPr>
        <p:spPr>
          <a:xfrm>
            <a:off x="2057400" y="3794760"/>
            <a:ext cx="2240280" cy="310896"/>
          </a:xfrm>
          <a:prstGeom prst="rect">
            <a:avLst/>
          </a:prstGeom>
          <a:noFill/>
          <a:ln/>
        </p:spPr>
        <p:txBody>
          <a:bodyPr wrap="square" lIns="0" tIns="0" rIns="0" bIns="0" rtlCol="0" anchor="ctr"/>
          <a:lstStyle/>
          <a:p>
            <a:pPr marL="0" indent="0">
              <a:buNone/>
            </a:pPr>
            <a:r>
              <a:rPr lang="en-US" sz="900" dirty="0">
                <a:solidFill>
                  <a:srgbClr val="166534"/>
                </a:solidFill>
                <a:latin typeface="Calibri" pitchFamily="34" charset="0"/>
                <a:ea typeface="Calibri" pitchFamily="34" charset="-122"/>
                <a:cs typeface="Calibri" pitchFamily="34" charset="-120"/>
              </a:rPr>
              <a:t>file write, timestamp, output folder creation</a:t>
            </a:r>
            <a:endParaRPr lang="en-US" sz="900" dirty="0"/>
          </a:p>
        </p:txBody>
      </p:sp>
      <p:sp>
        <p:nvSpPr>
          <p:cNvPr id="20" name="Text 18"/>
          <p:cNvSpPr/>
          <p:nvPr/>
        </p:nvSpPr>
        <p:spPr>
          <a:xfrm>
            <a:off x="658368" y="4197096"/>
            <a:ext cx="1417320" cy="310896"/>
          </a:xfrm>
          <a:prstGeom prst="rect">
            <a:avLst/>
          </a:prstGeom>
          <a:noFill/>
          <a:ln/>
        </p:spPr>
        <p:txBody>
          <a:bodyPr wrap="square" lIns="0" tIns="0" rIns="0" bIns="0" rtlCol="0" anchor="ctr"/>
          <a:lstStyle/>
          <a:p>
            <a:pPr marL="0" indent="0">
              <a:buNone/>
            </a:pPr>
            <a:r>
              <a:rPr lang="en-US" sz="900" b="1" dirty="0">
                <a:solidFill>
                  <a:srgbClr val="166534"/>
                </a:solidFill>
                <a:latin typeface="Calibri" pitchFamily="34" charset="0"/>
                <a:ea typeface="Calibri" pitchFamily="34" charset="-122"/>
                <a:cs typeface="Calibri" pitchFamily="34" charset="-120"/>
              </a:rPr>
              <a:t>▸ Suggesting waits:  </a:t>
            </a:r>
            <a:endParaRPr lang="en-US" sz="900" dirty="0"/>
          </a:p>
        </p:txBody>
      </p:sp>
      <p:sp>
        <p:nvSpPr>
          <p:cNvPr id="21" name="Text 19"/>
          <p:cNvSpPr/>
          <p:nvPr/>
        </p:nvSpPr>
        <p:spPr>
          <a:xfrm>
            <a:off x="2057400" y="4197096"/>
            <a:ext cx="2240280" cy="310896"/>
          </a:xfrm>
          <a:prstGeom prst="rect">
            <a:avLst/>
          </a:prstGeom>
          <a:noFill/>
          <a:ln/>
        </p:spPr>
        <p:txBody>
          <a:bodyPr wrap="square" lIns="0" tIns="0" rIns="0" bIns="0" rtlCol="0" anchor="ctr"/>
          <a:lstStyle/>
          <a:p>
            <a:pPr marL="0" indent="0">
              <a:buNone/>
            </a:pPr>
            <a:r>
              <a:rPr lang="en-US" sz="900" dirty="0">
                <a:solidFill>
                  <a:srgbClr val="166534"/>
                </a:solidFill>
                <a:latin typeface="Calibri" pitchFamily="34" charset="0"/>
                <a:ea typeface="Calibri" pitchFamily="34" charset="-122"/>
                <a:cs typeface="Calibri" pitchFamily="34" charset="-120"/>
              </a:rPr>
              <a:t>wait_for_timeout in obvious places</a:t>
            </a:r>
            <a:endParaRPr lang="en-US" sz="900" dirty="0"/>
          </a:p>
        </p:txBody>
      </p:sp>
      <p:sp>
        <p:nvSpPr>
          <p:cNvPr id="22" name="Shape 20"/>
          <p:cNvSpPr/>
          <p:nvPr/>
        </p:nvSpPr>
        <p:spPr>
          <a:xfrm>
            <a:off x="4709160" y="1234440"/>
            <a:ext cx="3977640" cy="3611880"/>
          </a:xfrm>
          <a:prstGeom prst="roundRect">
            <a:avLst>
              <a:gd name="adj" fmla="val 2532"/>
            </a:avLst>
          </a:prstGeom>
          <a:solidFill>
            <a:srgbClr val="FEF2F2"/>
          </a:solidFill>
          <a:ln w="12700">
            <a:solidFill>
              <a:srgbClr val="FECACA"/>
            </a:solidFill>
            <a:prstDash val="solid"/>
          </a:ln>
        </p:spPr>
      </p:sp>
      <p:sp>
        <p:nvSpPr>
          <p:cNvPr id="23" name="Text 21"/>
          <p:cNvSpPr/>
          <p:nvPr/>
        </p:nvSpPr>
        <p:spPr>
          <a:xfrm>
            <a:off x="4892040" y="1353312"/>
            <a:ext cx="3611880" cy="347472"/>
          </a:xfrm>
          <a:prstGeom prst="rect">
            <a:avLst/>
          </a:prstGeom>
          <a:noFill/>
          <a:ln/>
        </p:spPr>
        <p:txBody>
          <a:bodyPr wrap="square" lIns="0" tIns="0" rIns="0" bIns="0" rtlCol="0" anchor="ctr"/>
          <a:lstStyle/>
          <a:p>
            <a:pPr marL="0" indent="0">
              <a:buNone/>
            </a:pPr>
            <a:r>
              <a:rPr lang="en-US" sz="1200" b="1" dirty="0">
                <a:solidFill>
                  <a:srgbClr val="991B1B"/>
                </a:solidFill>
                <a:latin typeface="Calibri" pitchFamily="34" charset="0"/>
                <a:ea typeface="Calibri" pitchFamily="34" charset="-122"/>
                <a:cs typeface="Calibri" pitchFamily="34" charset="-120"/>
              </a:rPr>
              <a:t>❌  GHCP Could NOT Do</a:t>
            </a:r>
            <a:endParaRPr lang="en-US" sz="1200" dirty="0"/>
          </a:p>
        </p:txBody>
      </p:sp>
      <p:sp>
        <p:nvSpPr>
          <p:cNvPr id="24" name="Text 22"/>
          <p:cNvSpPr/>
          <p:nvPr/>
        </p:nvSpPr>
        <p:spPr>
          <a:xfrm>
            <a:off x="4892040" y="1783080"/>
            <a:ext cx="1554480" cy="310896"/>
          </a:xfrm>
          <a:prstGeom prst="rect">
            <a:avLst/>
          </a:prstGeom>
          <a:noFill/>
          <a:ln/>
        </p:spPr>
        <p:txBody>
          <a:bodyPr wrap="square" lIns="0" tIns="0" rIns="0" bIns="0" rtlCol="0" anchor="ctr"/>
          <a:lstStyle/>
          <a:p>
            <a:pPr marL="0" indent="0">
              <a:buNone/>
            </a:pPr>
            <a:r>
              <a:rPr lang="en-US" sz="900" b="1" dirty="0">
                <a:solidFill>
                  <a:srgbClr val="991B1B"/>
                </a:solidFill>
                <a:latin typeface="Calibri" pitchFamily="34" charset="0"/>
                <a:ea typeface="Calibri" pitchFamily="34" charset="-122"/>
                <a:cs typeface="Calibri" pitchFamily="34" charset="-120"/>
              </a:rPr>
              <a:t>▸ HTML selectors:  </a:t>
            </a:r>
            <a:endParaRPr lang="en-US" sz="900" dirty="0"/>
          </a:p>
        </p:txBody>
      </p:sp>
      <p:sp>
        <p:nvSpPr>
          <p:cNvPr id="25" name="Text 23"/>
          <p:cNvSpPr/>
          <p:nvPr/>
        </p:nvSpPr>
        <p:spPr>
          <a:xfrm>
            <a:off x="6419088" y="1783080"/>
            <a:ext cx="2148840" cy="310896"/>
          </a:xfrm>
          <a:prstGeom prst="rect">
            <a:avLst/>
          </a:prstGeom>
          <a:noFill/>
          <a:ln/>
        </p:spPr>
        <p:txBody>
          <a:bodyPr wrap="square" lIns="0" tIns="0" rIns="0" bIns="0" rtlCol="0" anchor="ctr"/>
          <a:lstStyle/>
          <a:p>
            <a:pPr marL="0" indent="0">
              <a:buNone/>
            </a:pPr>
            <a:r>
              <a:rPr lang="en-US" sz="900" dirty="0">
                <a:solidFill>
                  <a:srgbClr val="991B1B"/>
                </a:solidFill>
                <a:latin typeface="Calibri" pitchFamily="34" charset="0"/>
                <a:ea typeface="Calibri" pitchFamily="34" charset="-122"/>
                <a:cs typeface="Calibri" pitchFamily="34" charset="-120"/>
              </a:rPr>
              <a:t>Had to open Chrome DevTools and inspect actual DOM</a:t>
            </a:r>
            <a:endParaRPr lang="en-US" sz="900" dirty="0"/>
          </a:p>
        </p:txBody>
      </p:sp>
      <p:sp>
        <p:nvSpPr>
          <p:cNvPr id="26" name="Text 24"/>
          <p:cNvSpPr/>
          <p:nvPr/>
        </p:nvSpPr>
        <p:spPr>
          <a:xfrm>
            <a:off x="4892040" y="2185416"/>
            <a:ext cx="1554480" cy="310896"/>
          </a:xfrm>
          <a:prstGeom prst="rect">
            <a:avLst/>
          </a:prstGeom>
          <a:noFill/>
          <a:ln/>
        </p:spPr>
        <p:txBody>
          <a:bodyPr wrap="square" lIns="0" tIns="0" rIns="0" bIns="0" rtlCol="0" anchor="ctr"/>
          <a:lstStyle/>
          <a:p>
            <a:pPr marL="0" indent="0">
              <a:buNone/>
            </a:pPr>
            <a:r>
              <a:rPr lang="en-US" sz="900" b="1" dirty="0">
                <a:solidFill>
                  <a:srgbClr val="991B1B"/>
                </a:solidFill>
                <a:latin typeface="Calibri" pitchFamily="34" charset="0"/>
                <a:ea typeface="Calibri" pitchFamily="34" charset="-122"/>
                <a:cs typeface="Calibri" pitchFamily="34" charset="-120"/>
              </a:rPr>
              <a:t>▸ JS event wiring:  </a:t>
            </a:r>
            <a:endParaRPr lang="en-US" sz="900" dirty="0"/>
          </a:p>
        </p:txBody>
      </p:sp>
      <p:sp>
        <p:nvSpPr>
          <p:cNvPr id="27" name="Text 25"/>
          <p:cNvSpPr/>
          <p:nvPr/>
        </p:nvSpPr>
        <p:spPr>
          <a:xfrm>
            <a:off x="6419088" y="2185416"/>
            <a:ext cx="2148840" cy="310896"/>
          </a:xfrm>
          <a:prstGeom prst="rect">
            <a:avLst/>
          </a:prstGeom>
          <a:noFill/>
          <a:ln/>
        </p:spPr>
        <p:txBody>
          <a:bodyPr wrap="square" lIns="0" tIns="0" rIns="0" bIns="0" rtlCol="0" anchor="ctr"/>
          <a:lstStyle/>
          <a:p>
            <a:pPr marL="0" indent="0">
              <a:buNone/>
            </a:pPr>
            <a:r>
              <a:rPr lang="en-US" sz="900" dirty="0">
                <a:solidFill>
                  <a:srgbClr val="991B1B"/>
                </a:solidFill>
                <a:latin typeface="Calibri" pitchFamily="34" charset="0"/>
                <a:ea typeface="Calibri" pitchFamily="34" charset="-122"/>
                <a:cs typeface="Calibri" pitchFamily="34" charset="-120"/>
              </a:rPr>
              <a:t>Drawer used addEventListener — Copilot missed this</a:t>
            </a:r>
            <a:endParaRPr lang="en-US" sz="900" dirty="0"/>
          </a:p>
        </p:txBody>
      </p:sp>
      <p:sp>
        <p:nvSpPr>
          <p:cNvPr id="28" name="Text 26"/>
          <p:cNvSpPr/>
          <p:nvPr/>
        </p:nvSpPr>
        <p:spPr>
          <a:xfrm>
            <a:off x="4892040" y="2587752"/>
            <a:ext cx="1554480" cy="310896"/>
          </a:xfrm>
          <a:prstGeom prst="rect">
            <a:avLst/>
          </a:prstGeom>
          <a:noFill/>
          <a:ln/>
        </p:spPr>
        <p:txBody>
          <a:bodyPr wrap="square" lIns="0" tIns="0" rIns="0" bIns="0" rtlCol="0" anchor="ctr"/>
          <a:lstStyle/>
          <a:p>
            <a:pPr marL="0" indent="0">
              <a:buNone/>
            </a:pPr>
            <a:r>
              <a:rPr lang="en-US" sz="900" b="1" dirty="0">
                <a:solidFill>
                  <a:srgbClr val="991B1B"/>
                </a:solidFill>
                <a:latin typeface="Calibri" pitchFamily="34" charset="0"/>
                <a:ea typeface="Calibri" pitchFamily="34" charset="-122"/>
                <a:cs typeface="Calibri" pitchFamily="34" charset="-120"/>
              </a:rPr>
              <a:t>▸ Scoped selectors:  </a:t>
            </a:r>
            <a:endParaRPr lang="en-US" sz="900" dirty="0"/>
          </a:p>
        </p:txBody>
      </p:sp>
      <p:sp>
        <p:nvSpPr>
          <p:cNvPr id="29" name="Text 27"/>
          <p:cNvSpPr/>
          <p:nvPr/>
        </p:nvSpPr>
        <p:spPr>
          <a:xfrm>
            <a:off x="6419088" y="2587752"/>
            <a:ext cx="2148840" cy="310896"/>
          </a:xfrm>
          <a:prstGeom prst="rect">
            <a:avLst/>
          </a:prstGeom>
          <a:noFill/>
          <a:ln/>
        </p:spPr>
        <p:txBody>
          <a:bodyPr wrap="square" lIns="0" tIns="0" rIns="0" bIns="0" rtlCol="0" anchor="ctr"/>
          <a:lstStyle/>
          <a:p>
            <a:pPr marL="0" indent="0">
              <a:buNone/>
            </a:pPr>
            <a:r>
              <a:rPr lang="en-US" sz="900" dirty="0">
                <a:solidFill>
                  <a:srgbClr val="991B1B"/>
                </a:solidFill>
                <a:latin typeface="Calibri" pitchFamily="34" charset="0"/>
                <a:ea typeface="Calibri" pitchFamily="34" charset="-122"/>
                <a:cs typeface="Calibri" pitchFamily="34" charset="-120"/>
              </a:rPr>
              <a:t>Generic selectors matched hidden elements</a:t>
            </a:r>
            <a:endParaRPr lang="en-US" sz="900" dirty="0"/>
          </a:p>
        </p:txBody>
      </p:sp>
      <p:sp>
        <p:nvSpPr>
          <p:cNvPr id="30" name="Text 28"/>
          <p:cNvSpPr/>
          <p:nvPr/>
        </p:nvSpPr>
        <p:spPr>
          <a:xfrm>
            <a:off x="4892040" y="2990088"/>
            <a:ext cx="1554480" cy="310896"/>
          </a:xfrm>
          <a:prstGeom prst="rect">
            <a:avLst/>
          </a:prstGeom>
          <a:noFill/>
          <a:ln/>
        </p:spPr>
        <p:txBody>
          <a:bodyPr wrap="square" lIns="0" tIns="0" rIns="0" bIns="0" rtlCol="0" anchor="ctr"/>
          <a:lstStyle/>
          <a:p>
            <a:pPr marL="0" indent="0">
              <a:buNone/>
            </a:pPr>
            <a:r>
              <a:rPr lang="en-US" sz="900" b="1" dirty="0">
                <a:solidFill>
                  <a:srgbClr val="991B1B"/>
                </a:solidFill>
                <a:latin typeface="Calibri" pitchFamily="34" charset="0"/>
                <a:ea typeface="Calibri" pitchFamily="34" charset="-122"/>
                <a:cs typeface="Calibri" pitchFamily="34" charset="-120"/>
              </a:rPr>
              <a:t>▸ CSP logic:  </a:t>
            </a:r>
            <a:endParaRPr lang="en-US" sz="900" dirty="0"/>
          </a:p>
        </p:txBody>
      </p:sp>
      <p:sp>
        <p:nvSpPr>
          <p:cNvPr id="31" name="Text 29"/>
          <p:cNvSpPr/>
          <p:nvPr/>
        </p:nvSpPr>
        <p:spPr>
          <a:xfrm>
            <a:off x="6419088" y="2990088"/>
            <a:ext cx="2148840" cy="310896"/>
          </a:xfrm>
          <a:prstGeom prst="rect">
            <a:avLst/>
          </a:prstGeom>
          <a:noFill/>
          <a:ln/>
        </p:spPr>
        <p:txBody>
          <a:bodyPr wrap="square" lIns="0" tIns="0" rIns="0" bIns="0" rtlCol="0" anchor="ctr"/>
          <a:lstStyle/>
          <a:p>
            <a:pPr marL="0" indent="0">
              <a:buNone/>
            </a:pPr>
            <a:r>
              <a:rPr lang="en-US" sz="900" dirty="0">
                <a:solidFill>
                  <a:srgbClr val="991B1B"/>
                </a:solidFill>
                <a:latin typeface="Calibri" pitchFamily="34" charset="0"/>
                <a:ea typeface="Calibri" pitchFamily="34" charset="-122"/>
                <a:cs typeface="Calibri" pitchFamily="34" charset="-120"/>
              </a:rPr>
              <a:t>Checked wrong part of CSP — had to understand CSP</a:t>
            </a:r>
            <a:endParaRPr lang="en-US" sz="900" dirty="0"/>
          </a:p>
        </p:txBody>
      </p:sp>
      <p:sp>
        <p:nvSpPr>
          <p:cNvPr id="32" name="Text 30"/>
          <p:cNvSpPr/>
          <p:nvPr/>
        </p:nvSpPr>
        <p:spPr>
          <a:xfrm>
            <a:off x="4892040" y="3392424"/>
            <a:ext cx="1554480" cy="310896"/>
          </a:xfrm>
          <a:prstGeom prst="rect">
            <a:avLst/>
          </a:prstGeom>
          <a:noFill/>
          <a:ln/>
        </p:spPr>
        <p:txBody>
          <a:bodyPr wrap="square" lIns="0" tIns="0" rIns="0" bIns="0" rtlCol="0" anchor="ctr"/>
          <a:lstStyle/>
          <a:p>
            <a:pPr marL="0" indent="0">
              <a:buNone/>
            </a:pPr>
            <a:r>
              <a:rPr lang="en-US" sz="900" b="1" dirty="0">
                <a:solidFill>
                  <a:srgbClr val="991B1B"/>
                </a:solidFill>
                <a:latin typeface="Calibri" pitchFamily="34" charset="0"/>
                <a:ea typeface="Calibri" pitchFamily="34" charset="-122"/>
                <a:cs typeface="Calibri" pitchFamily="34" charset="-120"/>
              </a:rPr>
              <a:t>▸ Timeline structure:  </a:t>
            </a:r>
            <a:endParaRPr lang="en-US" sz="900" dirty="0"/>
          </a:p>
        </p:txBody>
      </p:sp>
      <p:sp>
        <p:nvSpPr>
          <p:cNvPr id="33" name="Text 31"/>
          <p:cNvSpPr/>
          <p:nvPr/>
        </p:nvSpPr>
        <p:spPr>
          <a:xfrm>
            <a:off x="6419088" y="3392424"/>
            <a:ext cx="2148840" cy="310896"/>
          </a:xfrm>
          <a:prstGeom prst="rect">
            <a:avLst/>
          </a:prstGeom>
          <a:noFill/>
          <a:ln/>
        </p:spPr>
        <p:txBody>
          <a:bodyPr wrap="square" lIns="0" tIns="0" rIns="0" bIns="0" rtlCol="0" anchor="ctr"/>
          <a:lstStyle/>
          <a:p>
            <a:pPr marL="0" indent="0">
              <a:buNone/>
            </a:pPr>
            <a:r>
              <a:rPr lang="en-US" sz="900" dirty="0">
                <a:solidFill>
                  <a:srgbClr val="991B1B"/>
                </a:solidFill>
                <a:latin typeface="Calibri" pitchFamily="34" charset="0"/>
                <a:ea typeface="Calibri" pitchFamily="34" charset="-122"/>
                <a:cs typeface="Calibri" pitchFamily="34" charset="-120"/>
              </a:rPr>
              <a:t>Completely different HTML — had to read source code</a:t>
            </a:r>
            <a:endParaRPr lang="en-US" sz="900" dirty="0"/>
          </a:p>
        </p:txBody>
      </p:sp>
      <p:sp>
        <p:nvSpPr>
          <p:cNvPr id="34" name="Text 32"/>
          <p:cNvSpPr/>
          <p:nvPr/>
        </p:nvSpPr>
        <p:spPr>
          <a:xfrm>
            <a:off x="4892040" y="3794760"/>
            <a:ext cx="1554480" cy="310896"/>
          </a:xfrm>
          <a:prstGeom prst="rect">
            <a:avLst/>
          </a:prstGeom>
          <a:noFill/>
          <a:ln/>
        </p:spPr>
        <p:txBody>
          <a:bodyPr wrap="square" lIns="0" tIns="0" rIns="0" bIns="0" rtlCol="0" anchor="ctr"/>
          <a:lstStyle/>
          <a:p>
            <a:pPr marL="0" indent="0">
              <a:buNone/>
            </a:pPr>
            <a:r>
              <a:rPr lang="en-US" sz="900" b="1" dirty="0">
                <a:solidFill>
                  <a:srgbClr val="991B1B"/>
                </a:solidFill>
                <a:latin typeface="Calibri" pitchFamily="34" charset="0"/>
                <a:ea typeface="Calibri" pitchFamily="34" charset="-122"/>
                <a:cs typeface="Calibri" pitchFamily="34" charset="-120"/>
              </a:rPr>
              <a:t>▸ Test strategy:  </a:t>
            </a:r>
            <a:endParaRPr lang="en-US" sz="900" dirty="0"/>
          </a:p>
        </p:txBody>
      </p:sp>
      <p:sp>
        <p:nvSpPr>
          <p:cNvPr id="35" name="Text 33"/>
          <p:cNvSpPr/>
          <p:nvPr/>
        </p:nvSpPr>
        <p:spPr>
          <a:xfrm>
            <a:off x="6419088" y="3794760"/>
            <a:ext cx="2148840" cy="310896"/>
          </a:xfrm>
          <a:prstGeom prst="rect">
            <a:avLst/>
          </a:prstGeom>
          <a:noFill/>
          <a:ln/>
        </p:spPr>
        <p:txBody>
          <a:bodyPr wrap="square" lIns="0" tIns="0" rIns="0" bIns="0" rtlCol="0" anchor="ctr"/>
          <a:lstStyle/>
          <a:p>
            <a:pPr marL="0" indent="0">
              <a:buNone/>
            </a:pPr>
            <a:r>
              <a:rPr lang="en-US" sz="900" dirty="0">
                <a:solidFill>
                  <a:srgbClr val="991B1B"/>
                </a:solidFill>
                <a:latin typeface="Calibri" pitchFamily="34" charset="0"/>
                <a:ea typeface="Calibri" pitchFamily="34" charset="-122"/>
                <a:cs typeface="Calibri" pitchFamily="34" charset="-120"/>
              </a:rPr>
              <a:t>What to test, what to skip — manager + me decided</a:t>
            </a:r>
            <a:endParaRPr lang="en-US" sz="900" dirty="0"/>
          </a:p>
        </p:txBody>
      </p:sp>
      <p:sp>
        <p:nvSpPr>
          <p:cNvPr id="36" name="Text 34"/>
          <p:cNvSpPr/>
          <p:nvPr/>
        </p:nvSpPr>
        <p:spPr>
          <a:xfrm>
            <a:off x="4892040" y="4197096"/>
            <a:ext cx="1554480" cy="310896"/>
          </a:xfrm>
          <a:prstGeom prst="rect">
            <a:avLst/>
          </a:prstGeom>
          <a:noFill/>
          <a:ln/>
        </p:spPr>
        <p:txBody>
          <a:bodyPr wrap="square" lIns="0" tIns="0" rIns="0" bIns="0" rtlCol="0" anchor="ctr"/>
          <a:lstStyle/>
          <a:p>
            <a:pPr marL="0" indent="0">
              <a:buNone/>
            </a:pPr>
            <a:r>
              <a:rPr lang="en-US" sz="900" b="1" dirty="0">
                <a:solidFill>
                  <a:srgbClr val="991B1B"/>
                </a:solidFill>
                <a:latin typeface="Calibri" pitchFamily="34" charset="0"/>
                <a:ea typeface="Calibri" pitchFamily="34" charset="-122"/>
                <a:cs typeface="Calibri" pitchFamily="34" charset="-120"/>
              </a:rPr>
              <a:t>▸ Design decisions:  </a:t>
            </a:r>
            <a:endParaRPr lang="en-US" sz="900" dirty="0"/>
          </a:p>
        </p:txBody>
      </p:sp>
      <p:sp>
        <p:nvSpPr>
          <p:cNvPr id="37" name="Text 35"/>
          <p:cNvSpPr/>
          <p:nvPr/>
        </p:nvSpPr>
        <p:spPr>
          <a:xfrm>
            <a:off x="6419088" y="4197096"/>
            <a:ext cx="2148840" cy="310896"/>
          </a:xfrm>
          <a:prstGeom prst="rect">
            <a:avLst/>
          </a:prstGeom>
          <a:noFill/>
          <a:ln/>
        </p:spPr>
        <p:txBody>
          <a:bodyPr wrap="square" lIns="0" tIns="0" rIns="0" bIns="0" rtlCol="0" anchor="ctr"/>
          <a:lstStyle/>
          <a:p>
            <a:pPr marL="0" indent="0">
              <a:buNone/>
            </a:pPr>
            <a:r>
              <a:rPr lang="en-US" sz="900" dirty="0">
                <a:solidFill>
                  <a:srgbClr val="991B1B"/>
                </a:solidFill>
                <a:latin typeface="Calibri" pitchFamily="34" charset="0"/>
                <a:ea typeface="Calibri" pitchFamily="34" charset="-122"/>
                <a:cs typeface="Calibri" pitchFamily="34" charset="-120"/>
              </a:rPr>
              <a:t>Folder structure, one file per dashboard — my call</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A2A4A"/>
        </a:solidFill>
        <a:effectLst/>
      </p:bgPr>
    </p:bg>
    <p:spTree>
      <p:nvGrpSpPr>
        <p:cNvPr id="1" name=""/>
        <p:cNvGrpSpPr/>
        <p:nvPr/>
      </p:nvGrpSpPr>
      <p:grpSpPr>
        <a:xfrm>
          <a:off x="0" y="0"/>
          <a:ext cx="0" cy="0"/>
          <a:chOff x="0" y="0"/>
          <a:chExt cx="0" cy="0"/>
        </a:xfrm>
      </p:grpSpPr>
      <p:sp>
        <p:nvSpPr>
          <p:cNvPr id="2" name="Shape 0"/>
          <p:cNvSpPr/>
          <p:nvPr/>
        </p:nvSpPr>
        <p:spPr>
          <a:xfrm>
            <a:off x="457200" y="137160"/>
            <a:ext cx="1645920" cy="320040"/>
          </a:xfrm>
          <a:prstGeom prst="roundRect">
            <a:avLst>
              <a:gd name="adj" fmla="val 14286"/>
            </a:avLst>
          </a:prstGeom>
          <a:solidFill>
            <a:srgbClr val="EF4444"/>
          </a:solidFill>
          <a:ln/>
        </p:spPr>
      </p:sp>
      <p:sp>
        <p:nvSpPr>
          <p:cNvPr id="3" name="Text 1"/>
          <p:cNvSpPr/>
          <p:nvPr/>
        </p:nvSpPr>
        <p:spPr>
          <a:xfrm>
            <a:off x="457200" y="137160"/>
            <a:ext cx="1645920" cy="320040"/>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REAL ERRORS</a:t>
            </a:r>
            <a:endParaRPr lang="en-US" sz="800" dirty="0"/>
          </a:p>
        </p:txBody>
      </p:sp>
      <p:sp>
        <p:nvSpPr>
          <p:cNvPr id="4" name="Text 2"/>
          <p:cNvSpPr/>
          <p:nvPr/>
        </p:nvSpPr>
        <p:spPr>
          <a:xfrm>
            <a:off x="457200" y="566928"/>
            <a:ext cx="8229600" cy="475488"/>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Every Error I Hit — And How I Fixed It</a:t>
            </a:r>
            <a:endParaRPr lang="en-US" sz="2000" dirty="0"/>
          </a:p>
        </p:txBody>
      </p:sp>
      <p:sp>
        <p:nvSpPr>
          <p:cNvPr id="5" name="Shape 3"/>
          <p:cNvSpPr/>
          <p:nvPr/>
        </p:nvSpPr>
        <p:spPr>
          <a:xfrm>
            <a:off x="457200" y="1115568"/>
            <a:ext cx="8229600" cy="0"/>
          </a:xfrm>
          <a:prstGeom prst="line">
            <a:avLst/>
          </a:prstGeom>
          <a:noFill/>
          <a:ln w="19050">
            <a:solidFill>
              <a:srgbClr val="00B4D8"/>
            </a:solidFill>
            <a:prstDash val="solid"/>
          </a:ln>
        </p:spPr>
      </p:sp>
      <p:sp>
        <p:nvSpPr>
          <p:cNvPr id="6" name="Shape 4"/>
          <p:cNvSpPr/>
          <p:nvPr/>
        </p:nvSpPr>
        <p:spPr>
          <a:xfrm>
            <a:off x="457200" y="1207008"/>
            <a:ext cx="365760" cy="292608"/>
          </a:xfrm>
          <a:prstGeom prst="rect">
            <a:avLst/>
          </a:prstGeom>
          <a:solidFill>
            <a:srgbClr val="0D1F35"/>
          </a:solidFill>
          <a:ln/>
        </p:spPr>
      </p:sp>
      <p:sp>
        <p:nvSpPr>
          <p:cNvPr id="7" name="Text 5"/>
          <p:cNvSpPr/>
          <p:nvPr/>
        </p:nvSpPr>
        <p:spPr>
          <a:xfrm>
            <a:off x="502920" y="1207008"/>
            <a:ext cx="274320" cy="292608"/>
          </a:xfrm>
          <a:prstGeom prst="rect">
            <a:avLst/>
          </a:prstGeom>
          <a:noFill/>
          <a:ln/>
        </p:spPr>
        <p:txBody>
          <a:bodyPr wrap="square" lIns="0" tIns="0" rIns="0" bIns="0" rtlCol="0" anchor="ctr"/>
          <a:lstStyle/>
          <a:p>
            <a:pPr marL="0" indent="0" algn="l">
              <a:buNone/>
            </a:pPr>
            <a:r>
              <a:rPr lang="en-US" sz="900" b="1" dirty="0">
                <a:solidFill>
                  <a:srgbClr val="00B4D8"/>
                </a:solidFill>
                <a:latin typeface="Calibri" pitchFamily="34" charset="0"/>
                <a:ea typeface="Calibri" pitchFamily="34" charset="-122"/>
                <a:cs typeface="Calibri" pitchFamily="34" charset="-120"/>
              </a:rPr>
              <a:t>#</a:t>
            </a:r>
            <a:endParaRPr lang="en-US" sz="900" dirty="0"/>
          </a:p>
        </p:txBody>
      </p:sp>
      <p:sp>
        <p:nvSpPr>
          <p:cNvPr id="8" name="Shape 6"/>
          <p:cNvSpPr/>
          <p:nvPr/>
        </p:nvSpPr>
        <p:spPr>
          <a:xfrm>
            <a:off x="868680" y="1207008"/>
            <a:ext cx="2194560" cy="292608"/>
          </a:xfrm>
          <a:prstGeom prst="rect">
            <a:avLst/>
          </a:prstGeom>
          <a:solidFill>
            <a:srgbClr val="0D1F35"/>
          </a:solidFill>
          <a:ln/>
        </p:spPr>
      </p:sp>
      <p:sp>
        <p:nvSpPr>
          <p:cNvPr id="9" name="Text 7"/>
          <p:cNvSpPr/>
          <p:nvPr/>
        </p:nvSpPr>
        <p:spPr>
          <a:xfrm>
            <a:off x="914400" y="1207008"/>
            <a:ext cx="2103120" cy="292608"/>
          </a:xfrm>
          <a:prstGeom prst="rect">
            <a:avLst/>
          </a:prstGeom>
          <a:noFill/>
          <a:ln/>
        </p:spPr>
        <p:txBody>
          <a:bodyPr wrap="square" lIns="0" tIns="0" rIns="0" bIns="0" rtlCol="0" anchor="ctr"/>
          <a:lstStyle/>
          <a:p>
            <a:pPr marL="0" indent="0" algn="l">
              <a:buNone/>
            </a:pPr>
            <a:r>
              <a:rPr lang="en-US" sz="900" b="1" dirty="0">
                <a:solidFill>
                  <a:srgbClr val="00B4D8"/>
                </a:solidFill>
                <a:latin typeface="Calibri" pitchFamily="34" charset="0"/>
                <a:ea typeface="Calibri" pitchFamily="34" charset="-122"/>
                <a:cs typeface="Calibri" pitchFamily="34" charset="-120"/>
              </a:rPr>
              <a:t>Error</a:t>
            </a:r>
            <a:endParaRPr lang="en-US" sz="900" dirty="0"/>
          </a:p>
        </p:txBody>
      </p:sp>
      <p:sp>
        <p:nvSpPr>
          <p:cNvPr id="10" name="Shape 8"/>
          <p:cNvSpPr/>
          <p:nvPr/>
        </p:nvSpPr>
        <p:spPr>
          <a:xfrm>
            <a:off x="3200400" y="1207008"/>
            <a:ext cx="2194560" cy="292608"/>
          </a:xfrm>
          <a:prstGeom prst="rect">
            <a:avLst/>
          </a:prstGeom>
          <a:solidFill>
            <a:srgbClr val="0D1F35"/>
          </a:solidFill>
          <a:ln/>
        </p:spPr>
      </p:sp>
      <p:sp>
        <p:nvSpPr>
          <p:cNvPr id="11" name="Text 9"/>
          <p:cNvSpPr/>
          <p:nvPr/>
        </p:nvSpPr>
        <p:spPr>
          <a:xfrm>
            <a:off x="3246120" y="1207008"/>
            <a:ext cx="2103120" cy="292608"/>
          </a:xfrm>
          <a:prstGeom prst="rect">
            <a:avLst/>
          </a:prstGeom>
          <a:noFill/>
          <a:ln/>
        </p:spPr>
        <p:txBody>
          <a:bodyPr wrap="square" lIns="0" tIns="0" rIns="0" bIns="0" rtlCol="0" anchor="ctr"/>
          <a:lstStyle/>
          <a:p>
            <a:pPr marL="0" indent="0" algn="l">
              <a:buNone/>
            </a:pPr>
            <a:r>
              <a:rPr lang="en-US" sz="900" b="1" dirty="0">
                <a:solidFill>
                  <a:srgbClr val="00B4D8"/>
                </a:solidFill>
                <a:latin typeface="Calibri" pitchFamily="34" charset="0"/>
                <a:ea typeface="Calibri" pitchFamily="34" charset="-122"/>
                <a:cs typeface="Calibri" pitchFamily="34" charset="-120"/>
              </a:rPr>
              <a:t>Cause</a:t>
            </a:r>
            <a:endParaRPr lang="en-US" sz="900" dirty="0"/>
          </a:p>
        </p:txBody>
      </p:sp>
      <p:sp>
        <p:nvSpPr>
          <p:cNvPr id="12" name="Shape 10"/>
          <p:cNvSpPr/>
          <p:nvPr/>
        </p:nvSpPr>
        <p:spPr>
          <a:xfrm>
            <a:off x="5486400" y="1207008"/>
            <a:ext cx="3383280" cy="292608"/>
          </a:xfrm>
          <a:prstGeom prst="rect">
            <a:avLst/>
          </a:prstGeom>
          <a:solidFill>
            <a:srgbClr val="0D1F35"/>
          </a:solidFill>
          <a:ln/>
        </p:spPr>
      </p:sp>
      <p:sp>
        <p:nvSpPr>
          <p:cNvPr id="13" name="Text 11"/>
          <p:cNvSpPr/>
          <p:nvPr/>
        </p:nvSpPr>
        <p:spPr>
          <a:xfrm>
            <a:off x="5532120" y="1207008"/>
            <a:ext cx="3291840" cy="292608"/>
          </a:xfrm>
          <a:prstGeom prst="rect">
            <a:avLst/>
          </a:prstGeom>
          <a:noFill/>
          <a:ln/>
        </p:spPr>
        <p:txBody>
          <a:bodyPr wrap="square" lIns="0" tIns="0" rIns="0" bIns="0" rtlCol="0" anchor="ctr"/>
          <a:lstStyle/>
          <a:p>
            <a:pPr marL="0" indent="0" algn="l">
              <a:buNone/>
            </a:pPr>
            <a:r>
              <a:rPr lang="en-US" sz="900" b="1" dirty="0">
                <a:solidFill>
                  <a:srgbClr val="00B4D8"/>
                </a:solidFill>
                <a:latin typeface="Calibri" pitchFamily="34" charset="0"/>
                <a:ea typeface="Calibri" pitchFamily="34" charset="-122"/>
                <a:cs typeface="Calibri" pitchFamily="34" charset="-120"/>
              </a:rPr>
              <a:t>Fix</a:t>
            </a:r>
            <a:endParaRPr lang="en-US" sz="900" dirty="0"/>
          </a:p>
        </p:txBody>
      </p:sp>
      <p:sp>
        <p:nvSpPr>
          <p:cNvPr id="14" name="Shape 12"/>
          <p:cNvSpPr/>
          <p:nvPr/>
        </p:nvSpPr>
        <p:spPr>
          <a:xfrm>
            <a:off x="457200" y="1536192"/>
            <a:ext cx="8458200" cy="301752"/>
          </a:xfrm>
          <a:prstGeom prst="rect">
            <a:avLst/>
          </a:prstGeom>
          <a:solidFill>
            <a:srgbClr val="0D1F35"/>
          </a:solidFill>
          <a:ln w="6350">
            <a:solidFill>
              <a:srgbClr val="1E3A5F"/>
            </a:solidFill>
            <a:prstDash val="solid"/>
          </a:ln>
        </p:spPr>
      </p:sp>
      <p:sp>
        <p:nvSpPr>
          <p:cNvPr id="15" name="Text 13"/>
          <p:cNvSpPr/>
          <p:nvPr/>
        </p:nvSpPr>
        <p:spPr>
          <a:xfrm>
            <a:off x="502920" y="1536192"/>
            <a:ext cx="320040" cy="301752"/>
          </a:xfrm>
          <a:prstGeom prst="rect">
            <a:avLst/>
          </a:prstGeom>
          <a:noFill/>
          <a:ln/>
        </p:spPr>
        <p:txBody>
          <a:bodyPr wrap="square" lIns="0" tIns="0" rIns="0" bIns="0" rtlCol="0" anchor="ctr"/>
          <a:lstStyle/>
          <a:p>
            <a:pPr marL="0" indent="0" algn="ctr">
              <a:buNone/>
            </a:pPr>
            <a:r>
              <a:rPr lang="en-US" sz="800" b="1" dirty="0">
                <a:solidFill>
                  <a:srgbClr val="00B4D8"/>
                </a:solidFill>
                <a:latin typeface="Calibri" pitchFamily="34" charset="0"/>
                <a:ea typeface="Calibri" pitchFamily="34" charset="-122"/>
                <a:cs typeface="Calibri" pitchFamily="34" charset="-120"/>
              </a:rPr>
              <a:t>1</a:t>
            </a:r>
            <a:endParaRPr lang="en-US" sz="800" dirty="0"/>
          </a:p>
        </p:txBody>
      </p:sp>
      <p:sp>
        <p:nvSpPr>
          <p:cNvPr id="16" name="Text 14"/>
          <p:cNvSpPr/>
          <p:nvPr/>
        </p:nvSpPr>
        <p:spPr>
          <a:xfrm>
            <a:off x="877824" y="1536192"/>
            <a:ext cx="2267712" cy="301752"/>
          </a:xfrm>
          <a:prstGeom prst="rect">
            <a:avLst/>
          </a:prstGeom>
          <a:noFill/>
          <a:ln/>
        </p:spPr>
        <p:txBody>
          <a:bodyPr wrap="square" lIns="0" tIns="0" rIns="0" bIns="0" rtlCol="0" anchor="ctr"/>
          <a:lstStyle/>
          <a:p>
            <a:pPr marL="0" indent="0">
              <a:buNone/>
            </a:pPr>
            <a:r>
              <a:rPr lang="en-US" sz="750" dirty="0">
                <a:solidFill>
                  <a:srgbClr val="EF4444"/>
                </a:solidFill>
                <a:latin typeface="Courier New" pitchFamily="34" charset="0"/>
                <a:ea typeface="Courier New" pitchFamily="34" charset="-122"/>
                <a:cs typeface="Courier New" pitchFamily="34" charset="-120"/>
              </a:rPr>
              <a:t>ModuleNotFoundError: playwright</a:t>
            </a:r>
            <a:endParaRPr lang="en-US" sz="750" dirty="0"/>
          </a:p>
        </p:txBody>
      </p:sp>
      <p:sp>
        <p:nvSpPr>
          <p:cNvPr id="17" name="Text 15"/>
          <p:cNvSpPr/>
          <p:nvPr/>
        </p:nvSpPr>
        <p:spPr>
          <a:xfrm>
            <a:off x="3218688" y="1536192"/>
            <a:ext cx="2212848" cy="301752"/>
          </a:xfrm>
          <a:prstGeom prst="rect">
            <a:avLst/>
          </a:prstGeom>
          <a:noFill/>
          <a:ln/>
        </p:spPr>
        <p:txBody>
          <a:bodyPr wrap="square" lIns="0" tIns="0" rIns="0" bIns="0" rtlCol="0" anchor="ctr"/>
          <a:lstStyle/>
          <a:p>
            <a:pPr marL="0" indent="0">
              <a:buNone/>
            </a:pPr>
            <a:r>
              <a:rPr lang="en-US" sz="750" dirty="0">
                <a:solidFill>
                  <a:srgbClr val="CBD5E1"/>
                </a:solidFill>
                <a:latin typeface="Calibri" pitchFamily="34" charset="0"/>
                <a:ea typeface="Calibri" pitchFamily="34" charset="-122"/>
                <a:cs typeface="Calibri" pitchFamily="34" charset="-120"/>
              </a:rPr>
              <a:t>Library not installed</a:t>
            </a:r>
            <a:endParaRPr lang="en-US" sz="750" dirty="0"/>
          </a:p>
        </p:txBody>
      </p:sp>
      <p:sp>
        <p:nvSpPr>
          <p:cNvPr id="18" name="Text 16"/>
          <p:cNvSpPr/>
          <p:nvPr/>
        </p:nvSpPr>
        <p:spPr>
          <a:xfrm>
            <a:off x="5504688" y="1536192"/>
            <a:ext cx="3337560" cy="301752"/>
          </a:xfrm>
          <a:prstGeom prst="rect">
            <a:avLst/>
          </a:prstGeom>
          <a:noFill/>
          <a:ln/>
        </p:spPr>
        <p:txBody>
          <a:bodyPr wrap="square" lIns="0" tIns="0" rIns="0" bIns="0" rtlCol="0" anchor="ctr"/>
          <a:lstStyle/>
          <a:p>
            <a:pPr marL="0" indent="0">
              <a:buNone/>
            </a:pPr>
            <a:r>
              <a:rPr lang="en-US" sz="750" dirty="0">
                <a:solidFill>
                  <a:srgbClr val="22C55E"/>
                </a:solidFill>
                <a:latin typeface="Calibri" pitchFamily="34" charset="0"/>
                <a:ea typeface="Calibri" pitchFamily="34" charset="-122"/>
                <a:cs typeface="Calibri" pitchFamily="34" charset="-120"/>
              </a:rPr>
              <a:t>→ pip install playwright</a:t>
            </a:r>
            <a:endParaRPr lang="en-US" sz="750" dirty="0"/>
          </a:p>
        </p:txBody>
      </p:sp>
      <p:sp>
        <p:nvSpPr>
          <p:cNvPr id="19" name="Shape 17"/>
          <p:cNvSpPr/>
          <p:nvPr/>
        </p:nvSpPr>
        <p:spPr>
          <a:xfrm>
            <a:off x="457200" y="1856232"/>
            <a:ext cx="8458200" cy="301752"/>
          </a:xfrm>
          <a:prstGeom prst="rect">
            <a:avLst/>
          </a:prstGeom>
          <a:solidFill>
            <a:srgbClr val="111E30"/>
          </a:solidFill>
          <a:ln w="6350">
            <a:solidFill>
              <a:srgbClr val="1E3A5F"/>
            </a:solidFill>
            <a:prstDash val="solid"/>
          </a:ln>
        </p:spPr>
      </p:sp>
      <p:sp>
        <p:nvSpPr>
          <p:cNvPr id="20" name="Text 18"/>
          <p:cNvSpPr/>
          <p:nvPr/>
        </p:nvSpPr>
        <p:spPr>
          <a:xfrm>
            <a:off x="502920" y="1856232"/>
            <a:ext cx="320040" cy="301752"/>
          </a:xfrm>
          <a:prstGeom prst="rect">
            <a:avLst/>
          </a:prstGeom>
          <a:noFill/>
          <a:ln/>
        </p:spPr>
        <p:txBody>
          <a:bodyPr wrap="square" lIns="0" tIns="0" rIns="0" bIns="0" rtlCol="0" anchor="ctr"/>
          <a:lstStyle/>
          <a:p>
            <a:pPr marL="0" indent="0" algn="ctr">
              <a:buNone/>
            </a:pPr>
            <a:r>
              <a:rPr lang="en-US" sz="800" b="1" dirty="0">
                <a:solidFill>
                  <a:srgbClr val="00B4D8"/>
                </a:solidFill>
                <a:latin typeface="Calibri" pitchFamily="34" charset="0"/>
                <a:ea typeface="Calibri" pitchFamily="34" charset="-122"/>
                <a:cs typeface="Calibri" pitchFamily="34" charset="-120"/>
              </a:rPr>
              <a:t>2</a:t>
            </a:r>
            <a:endParaRPr lang="en-US" sz="800" dirty="0"/>
          </a:p>
        </p:txBody>
      </p:sp>
      <p:sp>
        <p:nvSpPr>
          <p:cNvPr id="21" name="Text 19"/>
          <p:cNvSpPr/>
          <p:nvPr/>
        </p:nvSpPr>
        <p:spPr>
          <a:xfrm>
            <a:off x="877824" y="1856232"/>
            <a:ext cx="2267712" cy="301752"/>
          </a:xfrm>
          <a:prstGeom prst="rect">
            <a:avLst/>
          </a:prstGeom>
          <a:noFill/>
          <a:ln/>
        </p:spPr>
        <p:txBody>
          <a:bodyPr wrap="square" lIns="0" tIns="0" rIns="0" bIns="0" rtlCol="0" anchor="ctr"/>
          <a:lstStyle/>
          <a:p>
            <a:pPr marL="0" indent="0">
              <a:buNone/>
            </a:pPr>
            <a:r>
              <a:rPr lang="en-US" sz="750" dirty="0">
                <a:solidFill>
                  <a:srgbClr val="EF4444"/>
                </a:solidFill>
                <a:latin typeface="Courier New" pitchFamily="34" charset="0"/>
                <a:ea typeface="Courier New" pitchFamily="34" charset="-122"/>
                <a:cs typeface="Courier New" pitchFamily="34" charset="-120"/>
              </a:rPr>
              <a:t>Browser executable not found</a:t>
            </a:r>
            <a:endParaRPr lang="en-US" sz="750" dirty="0"/>
          </a:p>
        </p:txBody>
      </p:sp>
      <p:sp>
        <p:nvSpPr>
          <p:cNvPr id="22" name="Text 20"/>
          <p:cNvSpPr/>
          <p:nvPr/>
        </p:nvSpPr>
        <p:spPr>
          <a:xfrm>
            <a:off x="3218688" y="1856232"/>
            <a:ext cx="2212848" cy="301752"/>
          </a:xfrm>
          <a:prstGeom prst="rect">
            <a:avLst/>
          </a:prstGeom>
          <a:noFill/>
          <a:ln/>
        </p:spPr>
        <p:txBody>
          <a:bodyPr wrap="square" lIns="0" tIns="0" rIns="0" bIns="0" rtlCol="0" anchor="ctr"/>
          <a:lstStyle/>
          <a:p>
            <a:pPr marL="0" indent="0">
              <a:buNone/>
            </a:pPr>
            <a:r>
              <a:rPr lang="en-US" sz="750" dirty="0">
                <a:solidFill>
                  <a:srgbClr val="CBD5E1"/>
                </a:solidFill>
                <a:latin typeface="Calibri" pitchFamily="34" charset="0"/>
                <a:ea typeface="Calibri" pitchFamily="34" charset="-122"/>
                <a:cs typeface="Calibri" pitchFamily="34" charset="-120"/>
              </a:rPr>
              <a:t>Browser not installed separately</a:t>
            </a:r>
            <a:endParaRPr lang="en-US" sz="750" dirty="0"/>
          </a:p>
        </p:txBody>
      </p:sp>
      <p:sp>
        <p:nvSpPr>
          <p:cNvPr id="23" name="Text 21"/>
          <p:cNvSpPr/>
          <p:nvPr/>
        </p:nvSpPr>
        <p:spPr>
          <a:xfrm>
            <a:off x="5504688" y="1856232"/>
            <a:ext cx="3337560" cy="301752"/>
          </a:xfrm>
          <a:prstGeom prst="rect">
            <a:avLst/>
          </a:prstGeom>
          <a:noFill/>
          <a:ln/>
        </p:spPr>
        <p:txBody>
          <a:bodyPr wrap="square" lIns="0" tIns="0" rIns="0" bIns="0" rtlCol="0" anchor="ctr"/>
          <a:lstStyle/>
          <a:p>
            <a:pPr marL="0" indent="0">
              <a:buNone/>
            </a:pPr>
            <a:r>
              <a:rPr lang="en-US" sz="750" dirty="0">
                <a:solidFill>
                  <a:srgbClr val="22C55E"/>
                </a:solidFill>
                <a:latin typeface="Calibri" pitchFamily="34" charset="0"/>
                <a:ea typeface="Calibri" pitchFamily="34" charset="-122"/>
                <a:cs typeface="Calibri" pitchFamily="34" charset="-120"/>
              </a:rPr>
              <a:t>→ playwright install chromium</a:t>
            </a:r>
            <a:endParaRPr lang="en-US" sz="750" dirty="0"/>
          </a:p>
        </p:txBody>
      </p:sp>
      <p:sp>
        <p:nvSpPr>
          <p:cNvPr id="24" name="Shape 22"/>
          <p:cNvSpPr/>
          <p:nvPr/>
        </p:nvSpPr>
        <p:spPr>
          <a:xfrm>
            <a:off x="457200" y="2176272"/>
            <a:ext cx="8458200" cy="301752"/>
          </a:xfrm>
          <a:prstGeom prst="rect">
            <a:avLst/>
          </a:prstGeom>
          <a:solidFill>
            <a:srgbClr val="0D1F35"/>
          </a:solidFill>
          <a:ln w="6350">
            <a:solidFill>
              <a:srgbClr val="1E3A5F"/>
            </a:solidFill>
            <a:prstDash val="solid"/>
          </a:ln>
        </p:spPr>
      </p:sp>
      <p:sp>
        <p:nvSpPr>
          <p:cNvPr id="25" name="Text 23"/>
          <p:cNvSpPr/>
          <p:nvPr/>
        </p:nvSpPr>
        <p:spPr>
          <a:xfrm>
            <a:off x="502920" y="2176272"/>
            <a:ext cx="320040" cy="301752"/>
          </a:xfrm>
          <a:prstGeom prst="rect">
            <a:avLst/>
          </a:prstGeom>
          <a:noFill/>
          <a:ln/>
        </p:spPr>
        <p:txBody>
          <a:bodyPr wrap="square" lIns="0" tIns="0" rIns="0" bIns="0" rtlCol="0" anchor="ctr"/>
          <a:lstStyle/>
          <a:p>
            <a:pPr marL="0" indent="0" algn="ctr">
              <a:buNone/>
            </a:pPr>
            <a:r>
              <a:rPr lang="en-US" sz="800" b="1" dirty="0">
                <a:solidFill>
                  <a:srgbClr val="00B4D8"/>
                </a:solidFill>
                <a:latin typeface="Calibri" pitchFamily="34" charset="0"/>
                <a:ea typeface="Calibri" pitchFamily="34" charset="-122"/>
                <a:cs typeface="Calibri" pitchFamily="34" charset="-120"/>
              </a:rPr>
              <a:t>3</a:t>
            </a:r>
            <a:endParaRPr lang="en-US" sz="800" dirty="0"/>
          </a:p>
        </p:txBody>
      </p:sp>
      <p:sp>
        <p:nvSpPr>
          <p:cNvPr id="26" name="Text 24"/>
          <p:cNvSpPr/>
          <p:nvPr/>
        </p:nvSpPr>
        <p:spPr>
          <a:xfrm>
            <a:off x="877824" y="2176272"/>
            <a:ext cx="2267712" cy="301752"/>
          </a:xfrm>
          <a:prstGeom prst="rect">
            <a:avLst/>
          </a:prstGeom>
          <a:noFill/>
          <a:ln/>
        </p:spPr>
        <p:txBody>
          <a:bodyPr wrap="square" lIns="0" tIns="0" rIns="0" bIns="0" rtlCol="0" anchor="ctr"/>
          <a:lstStyle/>
          <a:p>
            <a:pPr marL="0" indent="0">
              <a:buNone/>
            </a:pPr>
            <a:r>
              <a:rPr lang="en-US" sz="750" dirty="0">
                <a:solidFill>
                  <a:srgbClr val="EF4444"/>
                </a:solidFill>
                <a:latin typeface="Courier New" pitchFamily="34" charset="0"/>
                <a:ea typeface="Courier New" pitchFamily="34" charset="-122"/>
                <a:cs typeface="Courier New" pitchFamily="34" charset="-120"/>
              </a:rPr>
              <a:t>TimeoutError on filter selector</a:t>
            </a:r>
            <a:endParaRPr lang="en-US" sz="750" dirty="0"/>
          </a:p>
        </p:txBody>
      </p:sp>
      <p:sp>
        <p:nvSpPr>
          <p:cNvPr id="27" name="Text 25"/>
          <p:cNvSpPr/>
          <p:nvPr/>
        </p:nvSpPr>
        <p:spPr>
          <a:xfrm>
            <a:off x="3218688" y="2176272"/>
            <a:ext cx="2212848" cy="301752"/>
          </a:xfrm>
          <a:prstGeom prst="rect">
            <a:avLst/>
          </a:prstGeom>
          <a:noFill/>
          <a:ln/>
        </p:spPr>
        <p:txBody>
          <a:bodyPr wrap="square" lIns="0" tIns="0" rIns="0" bIns="0" rtlCol="0" anchor="ctr"/>
          <a:lstStyle/>
          <a:p>
            <a:pPr marL="0" indent="0">
              <a:buNone/>
            </a:pPr>
            <a:r>
              <a:rPr lang="en-US" sz="750" dirty="0">
                <a:solidFill>
                  <a:srgbClr val="CBD5E1"/>
                </a:solidFill>
                <a:latin typeface="Calibri" pitchFamily="34" charset="0"/>
                <a:ea typeface="Calibri" pitchFamily="34" charset="-122"/>
                <a:cs typeface="Calibri" pitchFamily="34" charset="-120"/>
              </a:rPr>
              <a:t>Selector matched hidden tab elements</a:t>
            </a:r>
            <a:endParaRPr lang="en-US" sz="750" dirty="0"/>
          </a:p>
        </p:txBody>
      </p:sp>
      <p:sp>
        <p:nvSpPr>
          <p:cNvPr id="28" name="Text 26"/>
          <p:cNvSpPr/>
          <p:nvPr/>
        </p:nvSpPr>
        <p:spPr>
          <a:xfrm>
            <a:off x="5504688" y="2176272"/>
            <a:ext cx="3337560" cy="301752"/>
          </a:xfrm>
          <a:prstGeom prst="rect">
            <a:avLst/>
          </a:prstGeom>
          <a:noFill/>
          <a:ln/>
        </p:spPr>
        <p:txBody>
          <a:bodyPr wrap="square" lIns="0" tIns="0" rIns="0" bIns="0" rtlCol="0" anchor="ctr"/>
          <a:lstStyle/>
          <a:p>
            <a:pPr marL="0" indent="0">
              <a:buNone/>
            </a:pPr>
            <a:r>
              <a:rPr lang="en-US" sz="750" dirty="0">
                <a:solidFill>
                  <a:srgbClr val="22C55E"/>
                </a:solidFill>
                <a:latin typeface="Calibri" pitchFamily="34" charset="0"/>
                <a:ea typeface="Calibri" pitchFamily="34" charset="-122"/>
                <a:cs typeface="Calibri" pitchFamily="34" charset="-120"/>
              </a:rPr>
              <a:t>→ Scoped to #tab-{key} .f-sel</a:t>
            </a:r>
            <a:endParaRPr lang="en-US" sz="750" dirty="0"/>
          </a:p>
        </p:txBody>
      </p:sp>
      <p:sp>
        <p:nvSpPr>
          <p:cNvPr id="29" name="Shape 27"/>
          <p:cNvSpPr/>
          <p:nvPr/>
        </p:nvSpPr>
        <p:spPr>
          <a:xfrm>
            <a:off x="457200" y="2496312"/>
            <a:ext cx="8458200" cy="301752"/>
          </a:xfrm>
          <a:prstGeom prst="rect">
            <a:avLst/>
          </a:prstGeom>
          <a:solidFill>
            <a:srgbClr val="111E30"/>
          </a:solidFill>
          <a:ln w="6350">
            <a:solidFill>
              <a:srgbClr val="1E3A5F"/>
            </a:solidFill>
            <a:prstDash val="solid"/>
          </a:ln>
        </p:spPr>
      </p:sp>
      <p:sp>
        <p:nvSpPr>
          <p:cNvPr id="30" name="Text 28"/>
          <p:cNvSpPr/>
          <p:nvPr/>
        </p:nvSpPr>
        <p:spPr>
          <a:xfrm>
            <a:off x="502920" y="2496312"/>
            <a:ext cx="320040" cy="301752"/>
          </a:xfrm>
          <a:prstGeom prst="rect">
            <a:avLst/>
          </a:prstGeom>
          <a:noFill/>
          <a:ln/>
        </p:spPr>
        <p:txBody>
          <a:bodyPr wrap="square" lIns="0" tIns="0" rIns="0" bIns="0" rtlCol="0" anchor="ctr"/>
          <a:lstStyle/>
          <a:p>
            <a:pPr marL="0" indent="0" algn="ctr">
              <a:buNone/>
            </a:pPr>
            <a:r>
              <a:rPr lang="en-US" sz="800" b="1" dirty="0">
                <a:solidFill>
                  <a:srgbClr val="00B4D8"/>
                </a:solidFill>
                <a:latin typeface="Calibri" pitchFamily="34" charset="0"/>
                <a:ea typeface="Calibri" pitchFamily="34" charset="-122"/>
                <a:cs typeface="Calibri" pitchFamily="34" charset="-120"/>
              </a:rPr>
              <a:t>4</a:t>
            </a:r>
            <a:endParaRPr lang="en-US" sz="800" dirty="0"/>
          </a:p>
        </p:txBody>
      </p:sp>
      <p:sp>
        <p:nvSpPr>
          <p:cNvPr id="31" name="Text 29"/>
          <p:cNvSpPr/>
          <p:nvPr/>
        </p:nvSpPr>
        <p:spPr>
          <a:xfrm>
            <a:off x="877824" y="2496312"/>
            <a:ext cx="2267712" cy="301752"/>
          </a:xfrm>
          <a:prstGeom prst="rect">
            <a:avLst/>
          </a:prstGeom>
          <a:noFill/>
          <a:ln/>
        </p:spPr>
        <p:txBody>
          <a:bodyPr wrap="square" lIns="0" tIns="0" rIns="0" bIns="0" rtlCol="0" anchor="ctr"/>
          <a:lstStyle/>
          <a:p>
            <a:pPr marL="0" indent="0">
              <a:buNone/>
            </a:pPr>
            <a:r>
              <a:rPr lang="en-US" sz="750" dirty="0">
                <a:solidFill>
                  <a:srgbClr val="EF4444"/>
                </a:solidFill>
                <a:latin typeface="Courier New" pitchFamily="34" charset="0"/>
                <a:ea typeface="Courier New" pitchFamily="34" charset="-122"/>
                <a:cs typeface="Courier New" pitchFamily="34" charset="-120"/>
              </a:rPr>
              <a:t>Drawer not opening after click</a:t>
            </a:r>
            <a:endParaRPr lang="en-US" sz="750" dirty="0"/>
          </a:p>
        </p:txBody>
      </p:sp>
      <p:sp>
        <p:nvSpPr>
          <p:cNvPr id="32" name="Text 30"/>
          <p:cNvSpPr/>
          <p:nvPr/>
        </p:nvSpPr>
        <p:spPr>
          <a:xfrm>
            <a:off x="3218688" y="2496312"/>
            <a:ext cx="2212848" cy="301752"/>
          </a:xfrm>
          <a:prstGeom prst="rect">
            <a:avLst/>
          </a:prstGeom>
          <a:noFill/>
          <a:ln/>
        </p:spPr>
        <p:txBody>
          <a:bodyPr wrap="square" lIns="0" tIns="0" rIns="0" bIns="0" rtlCol="0" anchor="ctr"/>
          <a:lstStyle/>
          <a:p>
            <a:pPr marL="0" indent="0">
              <a:buNone/>
            </a:pPr>
            <a:r>
              <a:rPr lang="en-US" sz="750" dirty="0">
                <a:solidFill>
                  <a:srgbClr val="CBD5E1"/>
                </a:solidFill>
                <a:latin typeface="Calibri" pitchFamily="34" charset="0"/>
                <a:ea typeface="Calibri" pitchFamily="34" charset="-122"/>
                <a:cs typeface="Calibri" pitchFamily="34" charset="-120"/>
              </a:rPr>
              <a:t>JS events not wired — page not ready</a:t>
            </a:r>
            <a:endParaRPr lang="en-US" sz="750" dirty="0"/>
          </a:p>
        </p:txBody>
      </p:sp>
      <p:sp>
        <p:nvSpPr>
          <p:cNvPr id="33" name="Text 31"/>
          <p:cNvSpPr/>
          <p:nvPr/>
        </p:nvSpPr>
        <p:spPr>
          <a:xfrm>
            <a:off x="5504688" y="2496312"/>
            <a:ext cx="3337560" cy="301752"/>
          </a:xfrm>
          <a:prstGeom prst="rect">
            <a:avLst/>
          </a:prstGeom>
          <a:noFill/>
          <a:ln/>
        </p:spPr>
        <p:txBody>
          <a:bodyPr wrap="square" lIns="0" tIns="0" rIns="0" bIns="0" rtlCol="0" anchor="ctr"/>
          <a:lstStyle/>
          <a:p>
            <a:pPr marL="0" indent="0">
              <a:buNone/>
            </a:pPr>
            <a:r>
              <a:rPr lang="en-US" sz="750" dirty="0">
                <a:solidFill>
                  <a:srgbClr val="22C55E"/>
                </a:solidFill>
                <a:latin typeface="Calibri" pitchFamily="34" charset="0"/>
                <a:ea typeface="Calibri" pitchFamily="34" charset="-122"/>
                <a:cs typeface="Calibri" pitchFamily="34" charset="-120"/>
              </a:rPr>
              <a:t>→ wait_for_timeout(800) after goto()</a:t>
            </a:r>
            <a:endParaRPr lang="en-US" sz="750" dirty="0"/>
          </a:p>
        </p:txBody>
      </p:sp>
      <p:sp>
        <p:nvSpPr>
          <p:cNvPr id="34" name="Shape 32"/>
          <p:cNvSpPr/>
          <p:nvPr/>
        </p:nvSpPr>
        <p:spPr>
          <a:xfrm>
            <a:off x="457200" y="2816352"/>
            <a:ext cx="8458200" cy="301752"/>
          </a:xfrm>
          <a:prstGeom prst="rect">
            <a:avLst/>
          </a:prstGeom>
          <a:solidFill>
            <a:srgbClr val="0D1F35"/>
          </a:solidFill>
          <a:ln w="6350">
            <a:solidFill>
              <a:srgbClr val="1E3A5F"/>
            </a:solidFill>
            <a:prstDash val="solid"/>
          </a:ln>
        </p:spPr>
      </p:sp>
      <p:sp>
        <p:nvSpPr>
          <p:cNvPr id="35" name="Text 33"/>
          <p:cNvSpPr/>
          <p:nvPr/>
        </p:nvSpPr>
        <p:spPr>
          <a:xfrm>
            <a:off x="502920" y="2816352"/>
            <a:ext cx="320040" cy="301752"/>
          </a:xfrm>
          <a:prstGeom prst="rect">
            <a:avLst/>
          </a:prstGeom>
          <a:noFill/>
          <a:ln/>
        </p:spPr>
        <p:txBody>
          <a:bodyPr wrap="square" lIns="0" tIns="0" rIns="0" bIns="0" rtlCol="0" anchor="ctr"/>
          <a:lstStyle/>
          <a:p>
            <a:pPr marL="0" indent="0" algn="ctr">
              <a:buNone/>
            </a:pPr>
            <a:r>
              <a:rPr lang="en-US" sz="800" b="1" dirty="0">
                <a:solidFill>
                  <a:srgbClr val="00B4D8"/>
                </a:solidFill>
                <a:latin typeface="Calibri" pitchFamily="34" charset="0"/>
                <a:ea typeface="Calibri" pitchFamily="34" charset="-122"/>
                <a:cs typeface="Calibri" pitchFamily="34" charset="-120"/>
              </a:rPr>
              <a:t>5</a:t>
            </a:r>
            <a:endParaRPr lang="en-US" sz="800" dirty="0"/>
          </a:p>
        </p:txBody>
      </p:sp>
      <p:sp>
        <p:nvSpPr>
          <p:cNvPr id="36" name="Text 34"/>
          <p:cNvSpPr/>
          <p:nvPr/>
        </p:nvSpPr>
        <p:spPr>
          <a:xfrm>
            <a:off x="877824" y="2816352"/>
            <a:ext cx="2267712" cy="301752"/>
          </a:xfrm>
          <a:prstGeom prst="rect">
            <a:avLst/>
          </a:prstGeom>
          <a:noFill/>
          <a:ln/>
        </p:spPr>
        <p:txBody>
          <a:bodyPr wrap="square" lIns="0" tIns="0" rIns="0" bIns="0" rtlCol="0" anchor="ctr"/>
          <a:lstStyle/>
          <a:p>
            <a:pPr marL="0" indent="0">
              <a:buNone/>
            </a:pPr>
            <a:r>
              <a:rPr lang="en-US" sz="750" dirty="0">
                <a:solidFill>
                  <a:srgbClr val="EF4444"/>
                </a:solidFill>
                <a:latin typeface="Courier New" pitchFamily="34" charset="0"/>
                <a:ea typeface="Courier New" pitchFamily="34" charset="-122"/>
                <a:cs typeface="Courier New" pitchFamily="34" charset="-120"/>
              </a:rPr>
              <a:t>CSP check passing incorrectly</a:t>
            </a:r>
            <a:endParaRPr lang="en-US" sz="750" dirty="0"/>
          </a:p>
        </p:txBody>
      </p:sp>
      <p:sp>
        <p:nvSpPr>
          <p:cNvPr id="37" name="Text 35"/>
          <p:cNvSpPr/>
          <p:nvPr/>
        </p:nvSpPr>
        <p:spPr>
          <a:xfrm>
            <a:off x="3218688" y="2816352"/>
            <a:ext cx="2212848" cy="301752"/>
          </a:xfrm>
          <a:prstGeom prst="rect">
            <a:avLst/>
          </a:prstGeom>
          <a:noFill/>
          <a:ln/>
        </p:spPr>
        <p:txBody>
          <a:bodyPr wrap="square" lIns="0" tIns="0" rIns="0" bIns="0" rtlCol="0" anchor="ctr"/>
          <a:lstStyle/>
          <a:p>
            <a:pPr marL="0" indent="0">
              <a:buNone/>
            </a:pPr>
            <a:r>
              <a:rPr lang="en-US" sz="750" dirty="0">
                <a:solidFill>
                  <a:srgbClr val="CBD5E1"/>
                </a:solidFill>
                <a:latin typeface="Calibri" pitchFamily="34" charset="0"/>
                <a:ea typeface="Calibri" pitchFamily="34" charset="-122"/>
                <a:cs typeface="Calibri" pitchFamily="34" charset="-120"/>
              </a:rPr>
              <a:t>Checked full CSP not script-src only</a:t>
            </a:r>
            <a:endParaRPr lang="en-US" sz="750" dirty="0"/>
          </a:p>
        </p:txBody>
      </p:sp>
      <p:sp>
        <p:nvSpPr>
          <p:cNvPr id="38" name="Text 36"/>
          <p:cNvSpPr/>
          <p:nvPr/>
        </p:nvSpPr>
        <p:spPr>
          <a:xfrm>
            <a:off x="5504688" y="2816352"/>
            <a:ext cx="3337560" cy="301752"/>
          </a:xfrm>
          <a:prstGeom prst="rect">
            <a:avLst/>
          </a:prstGeom>
          <a:noFill/>
          <a:ln/>
        </p:spPr>
        <p:txBody>
          <a:bodyPr wrap="square" lIns="0" tIns="0" rIns="0" bIns="0" rtlCol="0" anchor="ctr"/>
          <a:lstStyle/>
          <a:p>
            <a:pPr marL="0" indent="0">
              <a:buNone/>
            </a:pPr>
            <a:r>
              <a:rPr lang="en-US" sz="750" dirty="0">
                <a:solidFill>
                  <a:srgbClr val="22C55E"/>
                </a:solidFill>
                <a:latin typeface="Calibri" pitchFamily="34" charset="0"/>
                <a:ea typeface="Calibri" pitchFamily="34" charset="-122"/>
                <a:cs typeface="Calibri" pitchFamily="34" charset="-120"/>
              </a:rPr>
              <a:t>→ Split on script-src, check that part</a:t>
            </a:r>
            <a:endParaRPr lang="en-US" sz="750" dirty="0"/>
          </a:p>
        </p:txBody>
      </p:sp>
      <p:sp>
        <p:nvSpPr>
          <p:cNvPr id="39" name="Shape 37"/>
          <p:cNvSpPr/>
          <p:nvPr/>
        </p:nvSpPr>
        <p:spPr>
          <a:xfrm>
            <a:off x="457200" y="3136392"/>
            <a:ext cx="8458200" cy="301752"/>
          </a:xfrm>
          <a:prstGeom prst="rect">
            <a:avLst/>
          </a:prstGeom>
          <a:solidFill>
            <a:srgbClr val="111E30"/>
          </a:solidFill>
          <a:ln w="6350">
            <a:solidFill>
              <a:srgbClr val="1E3A5F"/>
            </a:solidFill>
            <a:prstDash val="solid"/>
          </a:ln>
        </p:spPr>
      </p:sp>
      <p:sp>
        <p:nvSpPr>
          <p:cNvPr id="40" name="Text 38"/>
          <p:cNvSpPr/>
          <p:nvPr/>
        </p:nvSpPr>
        <p:spPr>
          <a:xfrm>
            <a:off x="502920" y="3136392"/>
            <a:ext cx="320040" cy="301752"/>
          </a:xfrm>
          <a:prstGeom prst="rect">
            <a:avLst/>
          </a:prstGeom>
          <a:noFill/>
          <a:ln/>
        </p:spPr>
        <p:txBody>
          <a:bodyPr wrap="square" lIns="0" tIns="0" rIns="0" bIns="0" rtlCol="0" anchor="ctr"/>
          <a:lstStyle/>
          <a:p>
            <a:pPr marL="0" indent="0" algn="ctr">
              <a:buNone/>
            </a:pPr>
            <a:r>
              <a:rPr lang="en-US" sz="800" b="1" dirty="0">
                <a:solidFill>
                  <a:srgbClr val="00B4D8"/>
                </a:solidFill>
                <a:latin typeface="Calibri" pitchFamily="34" charset="0"/>
                <a:ea typeface="Calibri" pitchFamily="34" charset="-122"/>
                <a:cs typeface="Calibri" pitchFamily="34" charset="-120"/>
              </a:rPr>
              <a:t>6</a:t>
            </a:r>
            <a:endParaRPr lang="en-US" sz="800" dirty="0"/>
          </a:p>
        </p:txBody>
      </p:sp>
      <p:sp>
        <p:nvSpPr>
          <p:cNvPr id="41" name="Text 39"/>
          <p:cNvSpPr/>
          <p:nvPr/>
        </p:nvSpPr>
        <p:spPr>
          <a:xfrm>
            <a:off x="877824" y="3136392"/>
            <a:ext cx="2267712" cy="301752"/>
          </a:xfrm>
          <a:prstGeom prst="rect">
            <a:avLst/>
          </a:prstGeom>
          <a:noFill/>
          <a:ln/>
        </p:spPr>
        <p:txBody>
          <a:bodyPr wrap="square" lIns="0" tIns="0" rIns="0" bIns="0" rtlCol="0" anchor="ctr"/>
          <a:lstStyle/>
          <a:p>
            <a:pPr marL="0" indent="0">
              <a:buNone/>
            </a:pPr>
            <a:r>
              <a:rPr lang="en-US" sz="750" dirty="0">
                <a:solidFill>
                  <a:srgbClr val="EF4444"/>
                </a:solidFill>
                <a:latin typeface="Courier New" pitchFamily="34" charset="0"/>
                <a:ea typeface="Courier New" pitchFamily="34" charset="-122"/>
                <a:cs typeface="Courier New" pitchFamily="34" charset="-120"/>
              </a:rPr>
              <a:t>Timeline selectors returning 0</a:t>
            </a:r>
            <a:endParaRPr lang="en-US" sz="750" dirty="0"/>
          </a:p>
        </p:txBody>
      </p:sp>
      <p:sp>
        <p:nvSpPr>
          <p:cNvPr id="42" name="Text 40"/>
          <p:cNvSpPr/>
          <p:nvPr/>
        </p:nvSpPr>
        <p:spPr>
          <a:xfrm>
            <a:off x="3218688" y="3136392"/>
            <a:ext cx="2212848" cy="301752"/>
          </a:xfrm>
          <a:prstGeom prst="rect">
            <a:avLst/>
          </a:prstGeom>
          <a:noFill/>
          <a:ln/>
        </p:spPr>
        <p:txBody>
          <a:bodyPr wrap="square" lIns="0" tIns="0" rIns="0" bIns="0" rtlCol="0" anchor="ctr"/>
          <a:lstStyle/>
          <a:p>
            <a:pPr marL="0" indent="0">
              <a:buNone/>
            </a:pPr>
            <a:r>
              <a:rPr lang="en-US" sz="750" dirty="0">
                <a:solidFill>
                  <a:srgbClr val="CBD5E1"/>
                </a:solidFill>
                <a:latin typeface="Calibri" pitchFamily="34" charset="0"/>
                <a:ea typeface="Calibri" pitchFamily="34" charset="-122"/>
                <a:cs typeface="Calibri" pitchFamily="34" charset="-120"/>
              </a:rPr>
              <a:t>Timeline HTML completely different</a:t>
            </a:r>
            <a:endParaRPr lang="en-US" sz="750" dirty="0"/>
          </a:p>
        </p:txBody>
      </p:sp>
      <p:sp>
        <p:nvSpPr>
          <p:cNvPr id="43" name="Text 41"/>
          <p:cNvSpPr/>
          <p:nvPr/>
        </p:nvSpPr>
        <p:spPr>
          <a:xfrm>
            <a:off x="5504688" y="3136392"/>
            <a:ext cx="3337560" cy="301752"/>
          </a:xfrm>
          <a:prstGeom prst="rect">
            <a:avLst/>
          </a:prstGeom>
          <a:noFill/>
          <a:ln/>
        </p:spPr>
        <p:txBody>
          <a:bodyPr wrap="square" lIns="0" tIns="0" rIns="0" bIns="0" rtlCol="0" anchor="ctr"/>
          <a:lstStyle/>
          <a:p>
            <a:pPr marL="0" indent="0">
              <a:buNone/>
            </a:pPr>
            <a:r>
              <a:rPr lang="en-US" sz="750" dirty="0">
                <a:solidFill>
                  <a:srgbClr val="22C55E"/>
                </a:solidFill>
                <a:latin typeface="Calibri" pitchFamily="34" charset="0"/>
                <a:ea typeface="Calibri" pitchFamily="34" charset="-122"/>
                <a:cs typeface="Calibri" pitchFamily="34" charset="-120"/>
              </a:rPr>
              <a:t>→ Read source code, used #tl-f-dr IDs</a:t>
            </a:r>
            <a:endParaRPr lang="en-US" sz="750" dirty="0"/>
          </a:p>
        </p:txBody>
      </p:sp>
      <p:sp>
        <p:nvSpPr>
          <p:cNvPr id="44" name="Shape 42"/>
          <p:cNvSpPr/>
          <p:nvPr/>
        </p:nvSpPr>
        <p:spPr>
          <a:xfrm>
            <a:off x="457200" y="3456432"/>
            <a:ext cx="8458200" cy="301752"/>
          </a:xfrm>
          <a:prstGeom prst="rect">
            <a:avLst/>
          </a:prstGeom>
          <a:solidFill>
            <a:srgbClr val="0D1F35"/>
          </a:solidFill>
          <a:ln w="6350">
            <a:solidFill>
              <a:srgbClr val="1E3A5F"/>
            </a:solidFill>
            <a:prstDash val="solid"/>
          </a:ln>
        </p:spPr>
      </p:sp>
      <p:sp>
        <p:nvSpPr>
          <p:cNvPr id="45" name="Text 43"/>
          <p:cNvSpPr/>
          <p:nvPr/>
        </p:nvSpPr>
        <p:spPr>
          <a:xfrm>
            <a:off x="502920" y="3456432"/>
            <a:ext cx="320040" cy="301752"/>
          </a:xfrm>
          <a:prstGeom prst="rect">
            <a:avLst/>
          </a:prstGeom>
          <a:noFill/>
          <a:ln/>
        </p:spPr>
        <p:txBody>
          <a:bodyPr wrap="square" lIns="0" tIns="0" rIns="0" bIns="0" rtlCol="0" anchor="ctr"/>
          <a:lstStyle/>
          <a:p>
            <a:pPr marL="0" indent="0" algn="ctr">
              <a:buNone/>
            </a:pPr>
            <a:r>
              <a:rPr lang="en-US" sz="800" b="1" dirty="0">
                <a:solidFill>
                  <a:srgbClr val="00B4D8"/>
                </a:solidFill>
                <a:latin typeface="Calibri" pitchFamily="34" charset="0"/>
                <a:ea typeface="Calibri" pitchFamily="34" charset="-122"/>
                <a:cs typeface="Calibri" pitchFamily="34" charset="-120"/>
              </a:rPr>
              <a:t>7</a:t>
            </a:r>
            <a:endParaRPr lang="en-US" sz="800" dirty="0"/>
          </a:p>
        </p:txBody>
      </p:sp>
      <p:sp>
        <p:nvSpPr>
          <p:cNvPr id="46" name="Text 44"/>
          <p:cNvSpPr/>
          <p:nvPr/>
        </p:nvSpPr>
        <p:spPr>
          <a:xfrm>
            <a:off x="877824" y="3456432"/>
            <a:ext cx="2267712" cy="301752"/>
          </a:xfrm>
          <a:prstGeom prst="rect">
            <a:avLst/>
          </a:prstGeom>
          <a:noFill/>
          <a:ln/>
        </p:spPr>
        <p:txBody>
          <a:bodyPr wrap="square" lIns="0" tIns="0" rIns="0" bIns="0" rtlCol="0" anchor="ctr"/>
          <a:lstStyle/>
          <a:p>
            <a:pPr marL="0" indent="0">
              <a:buNone/>
            </a:pPr>
            <a:r>
              <a:rPr lang="en-US" sz="750" dirty="0">
                <a:solidFill>
                  <a:srgbClr val="EF4444"/>
                </a:solidFill>
                <a:latin typeface="Courier New" pitchFamily="34" charset="0"/>
                <a:ea typeface="Courier New" pitchFamily="34" charset="-122"/>
                <a:cs typeface="Courier New" pitchFamily="34" charset="-120"/>
              </a:rPr>
              <a:t>Screenshot saving blank page</a:t>
            </a:r>
            <a:endParaRPr lang="en-US" sz="750" dirty="0"/>
          </a:p>
        </p:txBody>
      </p:sp>
      <p:sp>
        <p:nvSpPr>
          <p:cNvPr id="47" name="Text 45"/>
          <p:cNvSpPr/>
          <p:nvPr/>
        </p:nvSpPr>
        <p:spPr>
          <a:xfrm>
            <a:off x="3218688" y="3456432"/>
            <a:ext cx="2212848" cy="301752"/>
          </a:xfrm>
          <a:prstGeom prst="rect">
            <a:avLst/>
          </a:prstGeom>
          <a:noFill/>
          <a:ln/>
        </p:spPr>
        <p:txBody>
          <a:bodyPr wrap="square" lIns="0" tIns="0" rIns="0" bIns="0" rtlCol="0" anchor="ctr"/>
          <a:lstStyle/>
          <a:p>
            <a:pPr marL="0" indent="0">
              <a:buNone/>
            </a:pPr>
            <a:r>
              <a:rPr lang="en-US" sz="750" dirty="0">
                <a:solidFill>
                  <a:srgbClr val="CBD5E1"/>
                </a:solidFill>
                <a:latin typeface="Calibri" pitchFamily="34" charset="0"/>
                <a:ea typeface="Calibri" pitchFamily="34" charset="-122"/>
                <a:cs typeface="Calibri" pitchFamily="34" charset="-120"/>
              </a:rPr>
              <a:t>Page not fully rendered yet</a:t>
            </a:r>
            <a:endParaRPr lang="en-US" sz="750" dirty="0"/>
          </a:p>
        </p:txBody>
      </p:sp>
      <p:sp>
        <p:nvSpPr>
          <p:cNvPr id="48" name="Text 46"/>
          <p:cNvSpPr/>
          <p:nvPr/>
        </p:nvSpPr>
        <p:spPr>
          <a:xfrm>
            <a:off x="5504688" y="3456432"/>
            <a:ext cx="3337560" cy="301752"/>
          </a:xfrm>
          <a:prstGeom prst="rect">
            <a:avLst/>
          </a:prstGeom>
          <a:noFill/>
          <a:ln/>
        </p:spPr>
        <p:txBody>
          <a:bodyPr wrap="square" lIns="0" tIns="0" rIns="0" bIns="0" rtlCol="0" anchor="ctr"/>
          <a:lstStyle/>
          <a:p>
            <a:pPr marL="0" indent="0">
              <a:buNone/>
            </a:pPr>
            <a:r>
              <a:rPr lang="en-US" sz="750" dirty="0">
                <a:solidFill>
                  <a:srgbClr val="22C55E"/>
                </a:solidFill>
                <a:latin typeface="Calibri" pitchFamily="34" charset="0"/>
                <a:ea typeface="Calibri" pitchFamily="34" charset="-122"/>
                <a:cs typeface="Calibri" pitchFamily="34" charset="-120"/>
              </a:rPr>
              <a:t>→ wait_for_load_state('domcontentloaded')</a:t>
            </a:r>
            <a:endParaRPr lang="en-US" sz="750" dirty="0"/>
          </a:p>
        </p:txBody>
      </p:sp>
      <p:sp>
        <p:nvSpPr>
          <p:cNvPr id="49" name="Shape 47"/>
          <p:cNvSpPr/>
          <p:nvPr/>
        </p:nvSpPr>
        <p:spPr>
          <a:xfrm>
            <a:off x="457200" y="3776472"/>
            <a:ext cx="8458200" cy="301752"/>
          </a:xfrm>
          <a:prstGeom prst="rect">
            <a:avLst/>
          </a:prstGeom>
          <a:solidFill>
            <a:srgbClr val="111E30"/>
          </a:solidFill>
          <a:ln w="6350">
            <a:solidFill>
              <a:srgbClr val="1E3A5F"/>
            </a:solidFill>
            <a:prstDash val="solid"/>
          </a:ln>
        </p:spPr>
      </p:sp>
      <p:sp>
        <p:nvSpPr>
          <p:cNvPr id="50" name="Text 48"/>
          <p:cNvSpPr/>
          <p:nvPr/>
        </p:nvSpPr>
        <p:spPr>
          <a:xfrm>
            <a:off x="502920" y="3776472"/>
            <a:ext cx="320040" cy="301752"/>
          </a:xfrm>
          <a:prstGeom prst="rect">
            <a:avLst/>
          </a:prstGeom>
          <a:noFill/>
          <a:ln/>
        </p:spPr>
        <p:txBody>
          <a:bodyPr wrap="square" lIns="0" tIns="0" rIns="0" bIns="0" rtlCol="0" anchor="ctr"/>
          <a:lstStyle/>
          <a:p>
            <a:pPr marL="0" indent="0" algn="ctr">
              <a:buNone/>
            </a:pPr>
            <a:r>
              <a:rPr lang="en-US" sz="800" b="1" dirty="0">
                <a:solidFill>
                  <a:srgbClr val="00B4D8"/>
                </a:solidFill>
                <a:latin typeface="Calibri" pitchFamily="34" charset="0"/>
                <a:ea typeface="Calibri" pitchFamily="34" charset="-122"/>
                <a:cs typeface="Calibri" pitchFamily="34" charset="-120"/>
              </a:rPr>
              <a:t>8</a:t>
            </a:r>
            <a:endParaRPr lang="en-US" sz="800" dirty="0"/>
          </a:p>
        </p:txBody>
      </p:sp>
      <p:sp>
        <p:nvSpPr>
          <p:cNvPr id="51" name="Text 49"/>
          <p:cNvSpPr/>
          <p:nvPr/>
        </p:nvSpPr>
        <p:spPr>
          <a:xfrm>
            <a:off x="877824" y="3776472"/>
            <a:ext cx="2267712" cy="301752"/>
          </a:xfrm>
          <a:prstGeom prst="rect">
            <a:avLst/>
          </a:prstGeom>
          <a:noFill/>
          <a:ln/>
        </p:spPr>
        <p:txBody>
          <a:bodyPr wrap="square" lIns="0" tIns="0" rIns="0" bIns="0" rtlCol="0" anchor="ctr"/>
          <a:lstStyle/>
          <a:p>
            <a:pPr marL="0" indent="0">
              <a:buNone/>
            </a:pPr>
            <a:r>
              <a:rPr lang="en-US" sz="750" dirty="0">
                <a:solidFill>
                  <a:srgbClr val="EF4444"/>
                </a:solidFill>
                <a:latin typeface="Courier New" pitchFamily="34" charset="0"/>
                <a:ea typeface="Courier New" pitchFamily="34" charset="-122"/>
                <a:cs typeface="Courier New" pitchFamily="34" charset="-120"/>
              </a:rPr>
              <a:t>Row count 0 after filter click</a:t>
            </a:r>
            <a:endParaRPr lang="en-US" sz="750" dirty="0"/>
          </a:p>
        </p:txBody>
      </p:sp>
      <p:sp>
        <p:nvSpPr>
          <p:cNvPr id="52" name="Text 50"/>
          <p:cNvSpPr/>
          <p:nvPr/>
        </p:nvSpPr>
        <p:spPr>
          <a:xfrm>
            <a:off x="3218688" y="3776472"/>
            <a:ext cx="2212848" cy="301752"/>
          </a:xfrm>
          <a:prstGeom prst="rect">
            <a:avLst/>
          </a:prstGeom>
          <a:noFill/>
          <a:ln/>
        </p:spPr>
        <p:txBody>
          <a:bodyPr wrap="square" lIns="0" tIns="0" rIns="0" bIns="0" rtlCol="0" anchor="ctr"/>
          <a:lstStyle/>
          <a:p>
            <a:pPr marL="0" indent="0">
              <a:buNone/>
            </a:pPr>
            <a:r>
              <a:rPr lang="en-US" sz="750" dirty="0">
                <a:solidFill>
                  <a:srgbClr val="CBD5E1"/>
                </a:solidFill>
                <a:latin typeface="Calibri" pitchFamily="34" charset="0"/>
                <a:ea typeface="Calibri" pitchFamily="34" charset="-122"/>
                <a:cs typeface="Calibri" pitchFamily="34" charset="-120"/>
              </a:rPr>
              <a:t>Queried before JS filter applied</a:t>
            </a:r>
            <a:endParaRPr lang="en-US" sz="750" dirty="0"/>
          </a:p>
        </p:txBody>
      </p:sp>
      <p:sp>
        <p:nvSpPr>
          <p:cNvPr id="53" name="Text 51"/>
          <p:cNvSpPr/>
          <p:nvPr/>
        </p:nvSpPr>
        <p:spPr>
          <a:xfrm>
            <a:off x="5504688" y="3776472"/>
            <a:ext cx="3337560" cy="301752"/>
          </a:xfrm>
          <a:prstGeom prst="rect">
            <a:avLst/>
          </a:prstGeom>
          <a:noFill/>
          <a:ln/>
        </p:spPr>
        <p:txBody>
          <a:bodyPr wrap="square" lIns="0" tIns="0" rIns="0" bIns="0" rtlCol="0" anchor="ctr"/>
          <a:lstStyle/>
          <a:p>
            <a:pPr marL="0" indent="0">
              <a:buNone/>
            </a:pPr>
            <a:r>
              <a:rPr lang="en-US" sz="750" dirty="0">
                <a:solidFill>
                  <a:srgbClr val="22C55E"/>
                </a:solidFill>
                <a:latin typeface="Calibri" pitchFamily="34" charset="0"/>
                <a:ea typeface="Calibri" pitchFamily="34" charset="-122"/>
                <a:cs typeface="Calibri" pitchFamily="34" charset="-120"/>
              </a:rPr>
              <a:t>→ wait_for_timeout(400) after filter click</a:t>
            </a:r>
            <a:endParaRPr lang="en-US" sz="750" dirty="0"/>
          </a:p>
        </p:txBody>
      </p:sp>
      <p:sp>
        <p:nvSpPr>
          <p:cNvPr id="54" name="Shape 52"/>
          <p:cNvSpPr/>
          <p:nvPr/>
        </p:nvSpPr>
        <p:spPr>
          <a:xfrm>
            <a:off x="457200" y="4096512"/>
            <a:ext cx="8458200" cy="301752"/>
          </a:xfrm>
          <a:prstGeom prst="rect">
            <a:avLst/>
          </a:prstGeom>
          <a:solidFill>
            <a:srgbClr val="0D1F35"/>
          </a:solidFill>
          <a:ln w="6350">
            <a:solidFill>
              <a:srgbClr val="1E3A5F"/>
            </a:solidFill>
            <a:prstDash val="solid"/>
          </a:ln>
        </p:spPr>
      </p:sp>
      <p:sp>
        <p:nvSpPr>
          <p:cNvPr id="55" name="Text 53"/>
          <p:cNvSpPr/>
          <p:nvPr/>
        </p:nvSpPr>
        <p:spPr>
          <a:xfrm>
            <a:off x="502920" y="4096512"/>
            <a:ext cx="320040" cy="301752"/>
          </a:xfrm>
          <a:prstGeom prst="rect">
            <a:avLst/>
          </a:prstGeom>
          <a:noFill/>
          <a:ln/>
        </p:spPr>
        <p:txBody>
          <a:bodyPr wrap="square" lIns="0" tIns="0" rIns="0" bIns="0" rtlCol="0" anchor="ctr"/>
          <a:lstStyle/>
          <a:p>
            <a:pPr marL="0" indent="0" algn="ctr">
              <a:buNone/>
            </a:pPr>
            <a:r>
              <a:rPr lang="en-US" sz="800" b="1" dirty="0">
                <a:solidFill>
                  <a:srgbClr val="00B4D8"/>
                </a:solidFill>
                <a:latin typeface="Calibri" pitchFamily="34" charset="0"/>
                <a:ea typeface="Calibri" pitchFamily="34" charset="-122"/>
                <a:cs typeface="Calibri" pitchFamily="34" charset="-120"/>
              </a:rPr>
              <a:t>9</a:t>
            </a:r>
            <a:endParaRPr lang="en-US" sz="800" dirty="0"/>
          </a:p>
        </p:txBody>
      </p:sp>
      <p:sp>
        <p:nvSpPr>
          <p:cNvPr id="56" name="Text 54"/>
          <p:cNvSpPr/>
          <p:nvPr/>
        </p:nvSpPr>
        <p:spPr>
          <a:xfrm>
            <a:off x="877824" y="4096512"/>
            <a:ext cx="2267712" cy="301752"/>
          </a:xfrm>
          <a:prstGeom prst="rect">
            <a:avLst/>
          </a:prstGeom>
          <a:noFill/>
          <a:ln/>
        </p:spPr>
        <p:txBody>
          <a:bodyPr wrap="square" lIns="0" tIns="0" rIns="0" bIns="0" rtlCol="0" anchor="ctr"/>
          <a:lstStyle/>
          <a:p>
            <a:pPr marL="0" indent="0">
              <a:buNone/>
            </a:pPr>
            <a:r>
              <a:rPr lang="en-US" sz="750" dirty="0">
                <a:solidFill>
                  <a:srgbClr val="EF4444"/>
                </a:solidFill>
                <a:latin typeface="Courier New" pitchFamily="34" charset="0"/>
                <a:ea typeface="Courier New" pitchFamily="34" charset="-122"/>
                <a:cs typeface="Courier New" pitchFamily="34" charset="-120"/>
              </a:rPr>
              <a:t>Collapsible not toggling</a:t>
            </a:r>
            <a:endParaRPr lang="en-US" sz="750" dirty="0"/>
          </a:p>
        </p:txBody>
      </p:sp>
      <p:sp>
        <p:nvSpPr>
          <p:cNvPr id="57" name="Text 55"/>
          <p:cNvSpPr/>
          <p:nvPr/>
        </p:nvSpPr>
        <p:spPr>
          <a:xfrm>
            <a:off x="3218688" y="4096512"/>
            <a:ext cx="2212848" cy="301752"/>
          </a:xfrm>
          <a:prstGeom prst="rect">
            <a:avLst/>
          </a:prstGeom>
          <a:noFill/>
          <a:ln/>
        </p:spPr>
        <p:txBody>
          <a:bodyPr wrap="square" lIns="0" tIns="0" rIns="0" bIns="0" rtlCol="0" anchor="ctr"/>
          <a:lstStyle/>
          <a:p>
            <a:pPr marL="0" indent="0">
              <a:buNone/>
            </a:pPr>
            <a:r>
              <a:rPr lang="en-US" sz="750" dirty="0">
                <a:solidFill>
                  <a:srgbClr val="CBD5E1"/>
                </a:solidFill>
                <a:latin typeface="Calibri" pitchFamily="34" charset="0"/>
                <a:ea typeface="Calibri" pitchFamily="34" charset="-122"/>
                <a:cs typeface="Calibri" pitchFamily="34" charset="-120"/>
              </a:rPr>
              <a:t>Clicking container div not summary tag</a:t>
            </a:r>
            <a:endParaRPr lang="en-US" sz="750" dirty="0"/>
          </a:p>
        </p:txBody>
      </p:sp>
      <p:sp>
        <p:nvSpPr>
          <p:cNvPr id="58" name="Text 56"/>
          <p:cNvSpPr/>
          <p:nvPr/>
        </p:nvSpPr>
        <p:spPr>
          <a:xfrm>
            <a:off x="5504688" y="4096512"/>
            <a:ext cx="3337560" cy="301752"/>
          </a:xfrm>
          <a:prstGeom prst="rect">
            <a:avLst/>
          </a:prstGeom>
          <a:noFill/>
          <a:ln/>
        </p:spPr>
        <p:txBody>
          <a:bodyPr wrap="square" lIns="0" tIns="0" rIns="0" bIns="0" rtlCol="0" anchor="ctr"/>
          <a:lstStyle/>
          <a:p>
            <a:pPr marL="0" indent="0">
              <a:buNone/>
            </a:pPr>
            <a:r>
              <a:rPr lang="en-US" sz="750" dirty="0">
                <a:solidFill>
                  <a:srgbClr val="22C55E"/>
                </a:solidFill>
                <a:latin typeface="Calibri" pitchFamily="34" charset="0"/>
                <a:ea typeface="Calibri" pitchFamily="34" charset="-122"/>
                <a:cs typeface="Calibri" pitchFamily="34" charset="-120"/>
              </a:rPr>
              <a:t>→ Changed to .locator('summary').click()</a:t>
            </a:r>
            <a:endParaRPr lang="en-US" sz="750" dirty="0"/>
          </a:p>
        </p:txBody>
      </p:sp>
      <p:sp>
        <p:nvSpPr>
          <p:cNvPr id="59" name="Shape 57"/>
          <p:cNvSpPr/>
          <p:nvPr/>
        </p:nvSpPr>
        <p:spPr>
          <a:xfrm>
            <a:off x="457200" y="4416552"/>
            <a:ext cx="8458200" cy="301752"/>
          </a:xfrm>
          <a:prstGeom prst="rect">
            <a:avLst/>
          </a:prstGeom>
          <a:solidFill>
            <a:srgbClr val="111E30"/>
          </a:solidFill>
          <a:ln w="6350">
            <a:solidFill>
              <a:srgbClr val="1E3A5F"/>
            </a:solidFill>
            <a:prstDash val="solid"/>
          </a:ln>
        </p:spPr>
      </p:sp>
      <p:sp>
        <p:nvSpPr>
          <p:cNvPr id="60" name="Text 58"/>
          <p:cNvSpPr/>
          <p:nvPr/>
        </p:nvSpPr>
        <p:spPr>
          <a:xfrm>
            <a:off x="502920" y="4416552"/>
            <a:ext cx="320040" cy="301752"/>
          </a:xfrm>
          <a:prstGeom prst="rect">
            <a:avLst/>
          </a:prstGeom>
          <a:noFill/>
          <a:ln/>
        </p:spPr>
        <p:txBody>
          <a:bodyPr wrap="square" lIns="0" tIns="0" rIns="0" bIns="0" rtlCol="0" anchor="ctr"/>
          <a:lstStyle/>
          <a:p>
            <a:pPr marL="0" indent="0" algn="ctr">
              <a:buNone/>
            </a:pPr>
            <a:r>
              <a:rPr lang="en-US" sz="800" b="1" dirty="0">
                <a:solidFill>
                  <a:srgbClr val="00B4D8"/>
                </a:solidFill>
                <a:latin typeface="Calibri" pitchFamily="34" charset="0"/>
                <a:ea typeface="Calibri" pitchFamily="34" charset="-122"/>
                <a:cs typeface="Calibri" pitchFamily="34" charset="-120"/>
              </a:rPr>
              <a:t>10</a:t>
            </a:r>
            <a:endParaRPr lang="en-US" sz="800" dirty="0"/>
          </a:p>
        </p:txBody>
      </p:sp>
      <p:sp>
        <p:nvSpPr>
          <p:cNvPr id="61" name="Text 59"/>
          <p:cNvSpPr/>
          <p:nvPr/>
        </p:nvSpPr>
        <p:spPr>
          <a:xfrm>
            <a:off x="877824" y="4416552"/>
            <a:ext cx="2267712" cy="301752"/>
          </a:xfrm>
          <a:prstGeom prst="rect">
            <a:avLst/>
          </a:prstGeom>
          <a:noFill/>
          <a:ln/>
        </p:spPr>
        <p:txBody>
          <a:bodyPr wrap="square" lIns="0" tIns="0" rIns="0" bIns="0" rtlCol="0" anchor="ctr"/>
          <a:lstStyle/>
          <a:p>
            <a:pPr marL="0" indent="0">
              <a:buNone/>
            </a:pPr>
            <a:r>
              <a:rPr lang="en-US" sz="750" dirty="0">
                <a:solidFill>
                  <a:srgbClr val="EF4444"/>
                </a:solidFill>
                <a:latin typeface="Courier New" pitchFamily="34" charset="0"/>
                <a:ea typeface="Courier New" pitchFamily="34" charset="-122"/>
                <a:cs typeface="Courier New" pitchFamily="34" charset="-120"/>
              </a:rPr>
              <a:t>Report not saving to file</a:t>
            </a:r>
            <a:endParaRPr lang="en-US" sz="750" dirty="0"/>
          </a:p>
        </p:txBody>
      </p:sp>
      <p:sp>
        <p:nvSpPr>
          <p:cNvPr id="62" name="Text 60"/>
          <p:cNvSpPr/>
          <p:nvPr/>
        </p:nvSpPr>
        <p:spPr>
          <a:xfrm>
            <a:off x="3218688" y="4416552"/>
            <a:ext cx="2212848" cy="301752"/>
          </a:xfrm>
          <a:prstGeom prst="rect">
            <a:avLst/>
          </a:prstGeom>
          <a:noFill/>
          <a:ln/>
        </p:spPr>
        <p:txBody>
          <a:bodyPr wrap="square" lIns="0" tIns="0" rIns="0" bIns="0" rtlCol="0" anchor="ctr"/>
          <a:lstStyle/>
          <a:p>
            <a:pPr marL="0" indent="0">
              <a:buNone/>
            </a:pPr>
            <a:r>
              <a:rPr lang="en-US" sz="750" dirty="0">
                <a:solidFill>
                  <a:srgbClr val="CBD5E1"/>
                </a:solidFill>
                <a:latin typeface="Calibri" pitchFamily="34" charset="0"/>
                <a:ea typeface="Calibri" pitchFamily="34" charset="-122"/>
                <a:cs typeface="Calibri" pitchFamily="34" charset="-120"/>
              </a:rPr>
              <a:t>Output directory did not exist</a:t>
            </a:r>
            <a:endParaRPr lang="en-US" sz="750" dirty="0"/>
          </a:p>
        </p:txBody>
      </p:sp>
      <p:sp>
        <p:nvSpPr>
          <p:cNvPr id="63" name="Text 61"/>
          <p:cNvSpPr/>
          <p:nvPr/>
        </p:nvSpPr>
        <p:spPr>
          <a:xfrm>
            <a:off x="5504688" y="4416552"/>
            <a:ext cx="3337560" cy="301752"/>
          </a:xfrm>
          <a:prstGeom prst="rect">
            <a:avLst/>
          </a:prstGeom>
          <a:noFill/>
          <a:ln/>
        </p:spPr>
        <p:txBody>
          <a:bodyPr wrap="square" lIns="0" tIns="0" rIns="0" bIns="0" rtlCol="0" anchor="ctr"/>
          <a:lstStyle/>
          <a:p>
            <a:pPr marL="0" indent="0">
              <a:buNone/>
            </a:pPr>
            <a:r>
              <a:rPr lang="en-US" sz="750" dirty="0">
                <a:solidFill>
                  <a:srgbClr val="22C55E"/>
                </a:solidFill>
                <a:latin typeface="Calibri" pitchFamily="34" charset="0"/>
                <a:ea typeface="Calibri" pitchFamily="34" charset="-122"/>
                <a:cs typeface="Calibri" pitchFamily="34" charset="-120"/>
              </a:rPr>
              <a:t>→ Added mkdir(exist_ok=True) before save</a:t>
            </a:r>
            <a:endParaRPr lang="en-US" sz="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457200" y="137160"/>
            <a:ext cx="1645920" cy="320040"/>
          </a:xfrm>
          <a:prstGeom prst="roundRect">
            <a:avLst>
              <a:gd name="adj" fmla="val 14286"/>
            </a:avLst>
          </a:prstGeom>
          <a:solidFill>
            <a:srgbClr val="00B4D8"/>
          </a:solidFill>
          <a:ln/>
        </p:spPr>
      </p:sp>
      <p:sp>
        <p:nvSpPr>
          <p:cNvPr id="3" name="Text 1"/>
          <p:cNvSpPr/>
          <p:nvPr/>
        </p:nvSpPr>
        <p:spPr>
          <a:xfrm>
            <a:off x="457200" y="137160"/>
            <a:ext cx="1645920" cy="320040"/>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KEY LESSONS</a:t>
            </a:r>
            <a:endParaRPr lang="en-US" sz="800" dirty="0"/>
          </a:p>
        </p:txBody>
      </p:sp>
      <p:sp>
        <p:nvSpPr>
          <p:cNvPr id="4" name="Text 2"/>
          <p:cNvSpPr/>
          <p:nvPr/>
        </p:nvSpPr>
        <p:spPr>
          <a:xfrm>
            <a:off x="457200" y="566928"/>
            <a:ext cx="8229600" cy="475488"/>
          </a:xfrm>
          <a:prstGeom prst="rect">
            <a:avLst/>
          </a:prstGeom>
          <a:noFill/>
          <a:ln/>
        </p:spPr>
        <p:txBody>
          <a:bodyPr wrap="square" lIns="0" tIns="0" rIns="0" bIns="0" rtlCol="0" anchor="ctr"/>
          <a:lstStyle/>
          <a:p>
            <a:pPr marL="0" indent="0">
              <a:buNone/>
            </a:pPr>
            <a:r>
              <a:rPr lang="en-US" sz="2000" b="1" dirty="0">
                <a:solidFill>
                  <a:srgbClr val="1A2A4A"/>
                </a:solidFill>
                <a:latin typeface="Calibri" pitchFamily="34" charset="0"/>
                <a:ea typeface="Calibri" pitchFamily="34" charset="-122"/>
                <a:cs typeface="Calibri" pitchFamily="34" charset="-120"/>
              </a:rPr>
              <a:t>The Real Workflow + What I Learned</a:t>
            </a:r>
            <a:endParaRPr lang="en-US" sz="2000" dirty="0"/>
          </a:p>
        </p:txBody>
      </p:sp>
      <p:sp>
        <p:nvSpPr>
          <p:cNvPr id="5" name="Shape 3"/>
          <p:cNvSpPr/>
          <p:nvPr/>
        </p:nvSpPr>
        <p:spPr>
          <a:xfrm>
            <a:off x="457200" y="1115568"/>
            <a:ext cx="8229600" cy="0"/>
          </a:xfrm>
          <a:prstGeom prst="line">
            <a:avLst/>
          </a:prstGeom>
          <a:noFill/>
          <a:ln w="19050">
            <a:solidFill>
              <a:srgbClr val="00B4D8"/>
            </a:solidFill>
            <a:prstDash val="solid"/>
          </a:ln>
        </p:spPr>
      </p:sp>
      <p:sp>
        <p:nvSpPr>
          <p:cNvPr id="6" name="Shape 4"/>
          <p:cNvSpPr/>
          <p:nvPr/>
        </p:nvSpPr>
        <p:spPr>
          <a:xfrm>
            <a:off x="457200" y="1234440"/>
            <a:ext cx="3474720" cy="3611880"/>
          </a:xfrm>
          <a:prstGeom prst="roundRect">
            <a:avLst>
              <a:gd name="adj" fmla="val 2632"/>
            </a:avLst>
          </a:prstGeom>
          <a:solidFill>
            <a:srgbClr val="1A2A4A"/>
          </a:solidFill>
          <a:ln/>
        </p:spPr>
      </p:sp>
      <p:sp>
        <p:nvSpPr>
          <p:cNvPr id="7" name="Text 5"/>
          <p:cNvSpPr/>
          <p:nvPr/>
        </p:nvSpPr>
        <p:spPr>
          <a:xfrm>
            <a:off x="640080" y="1353312"/>
            <a:ext cx="3108960" cy="292608"/>
          </a:xfrm>
          <a:prstGeom prst="rect">
            <a:avLst/>
          </a:prstGeom>
          <a:noFill/>
          <a:ln/>
        </p:spPr>
        <p:txBody>
          <a:bodyPr wrap="square" lIns="0" tIns="0" rIns="0" bIns="0" rtlCol="0" anchor="ctr"/>
          <a:lstStyle/>
          <a:p>
            <a:pPr marL="0" indent="0">
              <a:buNone/>
            </a:pPr>
            <a:r>
              <a:rPr lang="en-US" sz="1100" b="1" dirty="0">
                <a:solidFill>
                  <a:srgbClr val="00B4D8"/>
                </a:solidFill>
                <a:latin typeface="Calibri" pitchFamily="34" charset="0"/>
                <a:ea typeface="Calibri" pitchFamily="34" charset="-122"/>
                <a:cs typeface="Calibri" pitchFamily="34" charset="-120"/>
              </a:rPr>
              <a:t>The Real Workflow Loop</a:t>
            </a:r>
            <a:endParaRPr lang="en-US" sz="1100" dirty="0"/>
          </a:p>
        </p:txBody>
      </p:sp>
      <p:sp>
        <p:nvSpPr>
          <p:cNvPr id="8" name="Shape 6"/>
          <p:cNvSpPr/>
          <p:nvPr/>
        </p:nvSpPr>
        <p:spPr>
          <a:xfrm>
            <a:off x="621792" y="1719072"/>
            <a:ext cx="237744" cy="237744"/>
          </a:xfrm>
          <a:prstGeom prst="ellipse">
            <a:avLst/>
          </a:prstGeom>
          <a:solidFill>
            <a:srgbClr val="1E3A5F"/>
          </a:solidFill>
          <a:ln/>
        </p:spPr>
      </p:sp>
      <p:sp>
        <p:nvSpPr>
          <p:cNvPr id="9" name="Text 7"/>
          <p:cNvSpPr/>
          <p:nvPr/>
        </p:nvSpPr>
        <p:spPr>
          <a:xfrm>
            <a:off x="621792" y="1719072"/>
            <a:ext cx="237744" cy="237744"/>
          </a:xfrm>
          <a:prstGeom prst="rect">
            <a:avLst/>
          </a:prstGeom>
          <a:noFill/>
          <a:ln/>
        </p:spPr>
        <p:txBody>
          <a:bodyPr wrap="square" lIns="0" tIns="0" rIns="0" bIns="0" rtlCol="0" anchor="ctr"/>
          <a:lstStyle/>
          <a:p>
            <a:pPr marL="0" indent="0" algn="ctr">
              <a:buNone/>
            </a:pPr>
            <a:r>
              <a:rPr lang="en-US" sz="700" b="1" dirty="0">
                <a:solidFill>
                  <a:srgbClr val="FFFFFF"/>
                </a:solidFill>
                <a:latin typeface="Calibri" pitchFamily="34" charset="0"/>
                <a:ea typeface="Calibri" pitchFamily="34" charset="-122"/>
                <a:cs typeface="Calibri" pitchFamily="34" charset="-120"/>
              </a:rPr>
              <a:t>1</a:t>
            </a:r>
            <a:endParaRPr lang="en-US" sz="700" dirty="0"/>
          </a:p>
        </p:txBody>
      </p:sp>
      <p:sp>
        <p:nvSpPr>
          <p:cNvPr id="10" name="Text 8"/>
          <p:cNvSpPr/>
          <p:nvPr/>
        </p:nvSpPr>
        <p:spPr>
          <a:xfrm>
            <a:off x="932688" y="1719072"/>
            <a:ext cx="2834640" cy="256032"/>
          </a:xfrm>
          <a:prstGeom prst="rect">
            <a:avLst/>
          </a:prstGeom>
          <a:noFill/>
          <a:ln/>
        </p:spPr>
        <p:txBody>
          <a:bodyPr wrap="square" lIns="0" tIns="0" rIns="0" bIns="0" rtlCol="0" anchor="ctr"/>
          <a:lstStyle/>
          <a:p>
            <a:pPr marL="0" indent="0">
              <a:buNone/>
            </a:pPr>
            <a:r>
              <a:rPr lang="en-US" sz="850" dirty="0">
                <a:solidFill>
                  <a:srgbClr val="00B4D8"/>
                </a:solidFill>
                <a:latin typeface="Calibri" pitchFamily="34" charset="0"/>
                <a:ea typeface="Calibri" pitchFamily="34" charset="-122"/>
                <a:cs typeface="Calibri" pitchFamily="34" charset="-120"/>
              </a:rPr>
              <a:t>Ask GHCP for structure</a:t>
            </a:r>
            <a:endParaRPr lang="en-US" sz="850" dirty="0"/>
          </a:p>
        </p:txBody>
      </p:sp>
      <p:sp>
        <p:nvSpPr>
          <p:cNvPr id="11" name="Shape 9"/>
          <p:cNvSpPr/>
          <p:nvPr/>
        </p:nvSpPr>
        <p:spPr>
          <a:xfrm>
            <a:off x="621792" y="2020824"/>
            <a:ext cx="237744" cy="237744"/>
          </a:xfrm>
          <a:prstGeom prst="ellipse">
            <a:avLst/>
          </a:prstGeom>
          <a:solidFill>
            <a:srgbClr val="1E3A5F"/>
          </a:solidFill>
          <a:ln/>
        </p:spPr>
      </p:sp>
      <p:sp>
        <p:nvSpPr>
          <p:cNvPr id="12" name="Text 10"/>
          <p:cNvSpPr/>
          <p:nvPr/>
        </p:nvSpPr>
        <p:spPr>
          <a:xfrm>
            <a:off x="621792" y="2020824"/>
            <a:ext cx="237744" cy="237744"/>
          </a:xfrm>
          <a:prstGeom prst="rect">
            <a:avLst/>
          </a:prstGeom>
          <a:noFill/>
          <a:ln/>
        </p:spPr>
        <p:txBody>
          <a:bodyPr wrap="square" lIns="0" tIns="0" rIns="0" bIns="0" rtlCol="0" anchor="ctr"/>
          <a:lstStyle/>
          <a:p>
            <a:pPr marL="0" indent="0" algn="ctr">
              <a:buNone/>
            </a:pPr>
            <a:r>
              <a:rPr lang="en-US" sz="700" b="1" dirty="0">
                <a:solidFill>
                  <a:srgbClr val="FFFFFF"/>
                </a:solidFill>
                <a:latin typeface="Calibri" pitchFamily="34" charset="0"/>
                <a:ea typeface="Calibri" pitchFamily="34" charset="-122"/>
                <a:cs typeface="Calibri" pitchFamily="34" charset="-120"/>
              </a:rPr>
              <a:t>2</a:t>
            </a:r>
            <a:endParaRPr lang="en-US" sz="700" dirty="0"/>
          </a:p>
        </p:txBody>
      </p:sp>
      <p:sp>
        <p:nvSpPr>
          <p:cNvPr id="13" name="Text 11"/>
          <p:cNvSpPr/>
          <p:nvPr/>
        </p:nvSpPr>
        <p:spPr>
          <a:xfrm>
            <a:off x="932688" y="2020824"/>
            <a:ext cx="2834640" cy="256032"/>
          </a:xfrm>
          <a:prstGeom prst="rect">
            <a:avLst/>
          </a:prstGeom>
          <a:noFill/>
          <a:ln/>
        </p:spPr>
        <p:txBody>
          <a:bodyPr wrap="square" lIns="0" tIns="0" rIns="0" bIns="0" rtlCol="0" anchor="ctr"/>
          <a:lstStyle/>
          <a:p>
            <a:pPr marL="0" indent="0">
              <a:buNone/>
            </a:pPr>
            <a:r>
              <a:rPr lang="en-US" sz="850" dirty="0">
                <a:solidFill>
                  <a:srgbClr val="EF4444"/>
                </a:solidFill>
                <a:latin typeface="Calibri" pitchFamily="34" charset="0"/>
                <a:ea typeface="Calibri" pitchFamily="34" charset="-122"/>
                <a:cs typeface="Calibri" pitchFamily="34" charset="-120"/>
              </a:rPr>
              <a:t>Run it — it fails</a:t>
            </a:r>
            <a:endParaRPr lang="en-US" sz="850" dirty="0"/>
          </a:p>
        </p:txBody>
      </p:sp>
      <p:sp>
        <p:nvSpPr>
          <p:cNvPr id="14" name="Shape 12"/>
          <p:cNvSpPr/>
          <p:nvPr/>
        </p:nvSpPr>
        <p:spPr>
          <a:xfrm>
            <a:off x="621792" y="2322576"/>
            <a:ext cx="237744" cy="237744"/>
          </a:xfrm>
          <a:prstGeom prst="ellipse">
            <a:avLst/>
          </a:prstGeom>
          <a:solidFill>
            <a:srgbClr val="1E3A5F"/>
          </a:solidFill>
          <a:ln/>
        </p:spPr>
      </p:sp>
      <p:sp>
        <p:nvSpPr>
          <p:cNvPr id="15" name="Text 13"/>
          <p:cNvSpPr/>
          <p:nvPr/>
        </p:nvSpPr>
        <p:spPr>
          <a:xfrm>
            <a:off x="621792" y="2322576"/>
            <a:ext cx="237744" cy="237744"/>
          </a:xfrm>
          <a:prstGeom prst="rect">
            <a:avLst/>
          </a:prstGeom>
          <a:noFill/>
          <a:ln/>
        </p:spPr>
        <p:txBody>
          <a:bodyPr wrap="square" lIns="0" tIns="0" rIns="0" bIns="0" rtlCol="0" anchor="ctr"/>
          <a:lstStyle/>
          <a:p>
            <a:pPr marL="0" indent="0" algn="ctr">
              <a:buNone/>
            </a:pPr>
            <a:r>
              <a:rPr lang="en-US" sz="700" b="1" dirty="0">
                <a:solidFill>
                  <a:srgbClr val="FFFFFF"/>
                </a:solidFill>
                <a:latin typeface="Calibri" pitchFamily="34" charset="0"/>
                <a:ea typeface="Calibri" pitchFamily="34" charset="-122"/>
                <a:cs typeface="Calibri" pitchFamily="34" charset="-120"/>
              </a:rPr>
              <a:t>3</a:t>
            </a:r>
            <a:endParaRPr lang="en-US" sz="700" dirty="0"/>
          </a:p>
        </p:txBody>
      </p:sp>
      <p:sp>
        <p:nvSpPr>
          <p:cNvPr id="16" name="Text 14"/>
          <p:cNvSpPr/>
          <p:nvPr/>
        </p:nvSpPr>
        <p:spPr>
          <a:xfrm>
            <a:off x="932688" y="2322576"/>
            <a:ext cx="2834640" cy="256032"/>
          </a:xfrm>
          <a:prstGeom prst="rect">
            <a:avLst/>
          </a:prstGeom>
          <a:noFill/>
          <a:ln/>
        </p:spPr>
        <p:txBody>
          <a:bodyPr wrap="square" lIns="0" tIns="0" rIns="0" bIns="0" rtlCol="0" anchor="ctr"/>
          <a:lstStyle/>
          <a:p>
            <a:pPr marL="0" indent="0">
              <a:buNone/>
            </a:pPr>
            <a:r>
              <a:rPr lang="en-US" sz="850" dirty="0">
                <a:solidFill>
                  <a:srgbClr val="F59E0B"/>
                </a:solidFill>
                <a:latin typeface="Calibri" pitchFamily="34" charset="0"/>
                <a:ea typeface="Calibri" pitchFamily="34" charset="-122"/>
                <a:cs typeface="Calibri" pitchFamily="34" charset="-120"/>
              </a:rPr>
              <a:t>Ask GHCP to fix</a:t>
            </a:r>
            <a:endParaRPr lang="en-US" sz="850" dirty="0"/>
          </a:p>
        </p:txBody>
      </p:sp>
      <p:sp>
        <p:nvSpPr>
          <p:cNvPr id="17" name="Shape 15"/>
          <p:cNvSpPr/>
          <p:nvPr/>
        </p:nvSpPr>
        <p:spPr>
          <a:xfrm>
            <a:off x="621792" y="2624328"/>
            <a:ext cx="237744" cy="237744"/>
          </a:xfrm>
          <a:prstGeom prst="ellipse">
            <a:avLst/>
          </a:prstGeom>
          <a:solidFill>
            <a:srgbClr val="1E3A5F"/>
          </a:solidFill>
          <a:ln/>
        </p:spPr>
      </p:sp>
      <p:sp>
        <p:nvSpPr>
          <p:cNvPr id="18" name="Text 16"/>
          <p:cNvSpPr/>
          <p:nvPr/>
        </p:nvSpPr>
        <p:spPr>
          <a:xfrm>
            <a:off x="621792" y="2624328"/>
            <a:ext cx="237744" cy="237744"/>
          </a:xfrm>
          <a:prstGeom prst="rect">
            <a:avLst/>
          </a:prstGeom>
          <a:noFill/>
          <a:ln/>
        </p:spPr>
        <p:txBody>
          <a:bodyPr wrap="square" lIns="0" tIns="0" rIns="0" bIns="0" rtlCol="0" anchor="ctr"/>
          <a:lstStyle/>
          <a:p>
            <a:pPr marL="0" indent="0" algn="ctr">
              <a:buNone/>
            </a:pPr>
            <a:r>
              <a:rPr lang="en-US" sz="700" b="1" dirty="0">
                <a:solidFill>
                  <a:srgbClr val="FFFFFF"/>
                </a:solidFill>
                <a:latin typeface="Calibri" pitchFamily="34" charset="0"/>
                <a:ea typeface="Calibri" pitchFamily="34" charset="-122"/>
                <a:cs typeface="Calibri" pitchFamily="34" charset="-120"/>
              </a:rPr>
              <a:t>4</a:t>
            </a:r>
            <a:endParaRPr lang="en-US" sz="700" dirty="0"/>
          </a:p>
        </p:txBody>
      </p:sp>
      <p:sp>
        <p:nvSpPr>
          <p:cNvPr id="19" name="Text 17"/>
          <p:cNvSpPr/>
          <p:nvPr/>
        </p:nvSpPr>
        <p:spPr>
          <a:xfrm>
            <a:off x="932688" y="2624328"/>
            <a:ext cx="2834640" cy="256032"/>
          </a:xfrm>
          <a:prstGeom prst="rect">
            <a:avLst/>
          </a:prstGeom>
          <a:noFill/>
          <a:ln/>
        </p:spPr>
        <p:txBody>
          <a:bodyPr wrap="square" lIns="0" tIns="0" rIns="0" bIns="0" rtlCol="0" anchor="ctr"/>
          <a:lstStyle/>
          <a:p>
            <a:pPr marL="0" indent="0">
              <a:buNone/>
            </a:pPr>
            <a:r>
              <a:rPr lang="en-US" sz="850" dirty="0">
                <a:solidFill>
                  <a:srgbClr val="22C55E"/>
                </a:solidFill>
                <a:latin typeface="Calibri" pitchFamily="34" charset="0"/>
                <a:ea typeface="Calibri" pitchFamily="34" charset="-122"/>
                <a:cs typeface="Calibri" pitchFamily="34" charset="-120"/>
              </a:rPr>
              <a:t>Sometimes works</a:t>
            </a:r>
            <a:endParaRPr lang="en-US" sz="850" dirty="0"/>
          </a:p>
        </p:txBody>
      </p:sp>
      <p:sp>
        <p:nvSpPr>
          <p:cNvPr id="20" name="Shape 18"/>
          <p:cNvSpPr/>
          <p:nvPr/>
        </p:nvSpPr>
        <p:spPr>
          <a:xfrm>
            <a:off x="621792" y="2926080"/>
            <a:ext cx="237744" cy="237744"/>
          </a:xfrm>
          <a:prstGeom prst="ellipse">
            <a:avLst/>
          </a:prstGeom>
          <a:solidFill>
            <a:srgbClr val="1E3A5F"/>
          </a:solidFill>
          <a:ln/>
        </p:spPr>
      </p:sp>
      <p:sp>
        <p:nvSpPr>
          <p:cNvPr id="21" name="Text 19"/>
          <p:cNvSpPr/>
          <p:nvPr/>
        </p:nvSpPr>
        <p:spPr>
          <a:xfrm>
            <a:off x="621792" y="2926080"/>
            <a:ext cx="237744" cy="237744"/>
          </a:xfrm>
          <a:prstGeom prst="rect">
            <a:avLst/>
          </a:prstGeom>
          <a:noFill/>
          <a:ln/>
        </p:spPr>
        <p:txBody>
          <a:bodyPr wrap="square" lIns="0" tIns="0" rIns="0" bIns="0" rtlCol="0" anchor="ctr"/>
          <a:lstStyle/>
          <a:p>
            <a:pPr marL="0" indent="0" algn="ctr">
              <a:buNone/>
            </a:pPr>
            <a:r>
              <a:rPr lang="en-US" sz="700" b="1" dirty="0">
                <a:solidFill>
                  <a:srgbClr val="FFFFFF"/>
                </a:solidFill>
                <a:latin typeface="Calibri" pitchFamily="34" charset="0"/>
                <a:ea typeface="Calibri" pitchFamily="34" charset="-122"/>
                <a:cs typeface="Calibri" pitchFamily="34" charset="-120"/>
              </a:rPr>
              <a:t>5</a:t>
            </a:r>
            <a:endParaRPr lang="en-US" sz="700" dirty="0"/>
          </a:p>
        </p:txBody>
      </p:sp>
      <p:sp>
        <p:nvSpPr>
          <p:cNvPr id="22" name="Text 20"/>
          <p:cNvSpPr/>
          <p:nvPr/>
        </p:nvSpPr>
        <p:spPr>
          <a:xfrm>
            <a:off x="932688" y="2926080"/>
            <a:ext cx="2834640" cy="256032"/>
          </a:xfrm>
          <a:prstGeom prst="rect">
            <a:avLst/>
          </a:prstGeom>
          <a:noFill/>
          <a:ln/>
        </p:spPr>
        <p:txBody>
          <a:bodyPr wrap="square" lIns="0" tIns="0" rIns="0" bIns="0" rtlCol="0" anchor="ctr"/>
          <a:lstStyle/>
          <a:p>
            <a:pPr marL="0" indent="0">
              <a:buNone/>
            </a:pPr>
            <a:r>
              <a:rPr lang="en-US" sz="850" dirty="0">
                <a:solidFill>
                  <a:srgbClr val="EF4444"/>
                </a:solidFill>
                <a:latin typeface="Calibri" pitchFamily="34" charset="0"/>
                <a:ea typeface="Calibri" pitchFamily="34" charset="-122"/>
                <a:cs typeface="Calibri" pitchFamily="34" charset="-120"/>
              </a:rPr>
              <a:t>Sometimes does not</a:t>
            </a:r>
            <a:endParaRPr lang="en-US" sz="850" dirty="0"/>
          </a:p>
        </p:txBody>
      </p:sp>
      <p:sp>
        <p:nvSpPr>
          <p:cNvPr id="23" name="Shape 21"/>
          <p:cNvSpPr/>
          <p:nvPr/>
        </p:nvSpPr>
        <p:spPr>
          <a:xfrm>
            <a:off x="621792" y="3227832"/>
            <a:ext cx="237744" cy="237744"/>
          </a:xfrm>
          <a:prstGeom prst="ellipse">
            <a:avLst/>
          </a:prstGeom>
          <a:solidFill>
            <a:srgbClr val="1E3A5F"/>
          </a:solidFill>
          <a:ln/>
        </p:spPr>
      </p:sp>
      <p:sp>
        <p:nvSpPr>
          <p:cNvPr id="24" name="Text 22"/>
          <p:cNvSpPr/>
          <p:nvPr/>
        </p:nvSpPr>
        <p:spPr>
          <a:xfrm>
            <a:off x="621792" y="3227832"/>
            <a:ext cx="237744" cy="237744"/>
          </a:xfrm>
          <a:prstGeom prst="rect">
            <a:avLst/>
          </a:prstGeom>
          <a:noFill/>
          <a:ln/>
        </p:spPr>
        <p:txBody>
          <a:bodyPr wrap="square" lIns="0" tIns="0" rIns="0" bIns="0" rtlCol="0" anchor="ctr"/>
          <a:lstStyle/>
          <a:p>
            <a:pPr marL="0" indent="0" algn="ctr">
              <a:buNone/>
            </a:pPr>
            <a:r>
              <a:rPr lang="en-US" sz="700" b="1" dirty="0">
                <a:solidFill>
                  <a:srgbClr val="FFFFFF"/>
                </a:solidFill>
                <a:latin typeface="Calibri" pitchFamily="34" charset="0"/>
                <a:ea typeface="Calibri" pitchFamily="34" charset="-122"/>
                <a:cs typeface="Calibri" pitchFamily="34" charset="-120"/>
              </a:rPr>
              <a:t>6</a:t>
            </a:r>
            <a:endParaRPr lang="en-US" sz="700" dirty="0"/>
          </a:p>
        </p:txBody>
      </p:sp>
      <p:sp>
        <p:nvSpPr>
          <p:cNvPr id="25" name="Text 23"/>
          <p:cNvSpPr/>
          <p:nvPr/>
        </p:nvSpPr>
        <p:spPr>
          <a:xfrm>
            <a:off x="932688" y="3227832"/>
            <a:ext cx="2834640" cy="256032"/>
          </a:xfrm>
          <a:prstGeom prst="rect">
            <a:avLst/>
          </a:prstGeom>
          <a:noFill/>
          <a:ln/>
        </p:spPr>
        <p:txBody>
          <a:bodyPr wrap="square" lIns="0" tIns="0" rIns="0" bIns="0" rtlCol="0" anchor="ctr"/>
          <a:lstStyle/>
          <a:p>
            <a:pPr marL="0" indent="0">
              <a:buNone/>
            </a:pPr>
            <a:r>
              <a:rPr lang="en-US" sz="850" dirty="0">
                <a:solidFill>
                  <a:srgbClr val="00B4D8"/>
                </a:solidFill>
                <a:latin typeface="Calibri" pitchFamily="34" charset="0"/>
                <a:ea typeface="Calibri" pitchFamily="34" charset="-122"/>
                <a:cs typeface="Calibri" pitchFamily="34" charset="-120"/>
              </a:rPr>
              <a:t>Read official Playwright docs</a:t>
            </a:r>
            <a:endParaRPr lang="en-US" sz="850" dirty="0"/>
          </a:p>
        </p:txBody>
      </p:sp>
      <p:sp>
        <p:nvSpPr>
          <p:cNvPr id="26" name="Shape 24"/>
          <p:cNvSpPr/>
          <p:nvPr/>
        </p:nvSpPr>
        <p:spPr>
          <a:xfrm>
            <a:off x="621792" y="3529584"/>
            <a:ext cx="237744" cy="237744"/>
          </a:xfrm>
          <a:prstGeom prst="ellipse">
            <a:avLst/>
          </a:prstGeom>
          <a:solidFill>
            <a:srgbClr val="1E3A5F"/>
          </a:solidFill>
          <a:ln/>
        </p:spPr>
      </p:sp>
      <p:sp>
        <p:nvSpPr>
          <p:cNvPr id="27" name="Text 25"/>
          <p:cNvSpPr/>
          <p:nvPr/>
        </p:nvSpPr>
        <p:spPr>
          <a:xfrm>
            <a:off x="621792" y="3529584"/>
            <a:ext cx="237744" cy="237744"/>
          </a:xfrm>
          <a:prstGeom prst="rect">
            <a:avLst/>
          </a:prstGeom>
          <a:noFill/>
          <a:ln/>
        </p:spPr>
        <p:txBody>
          <a:bodyPr wrap="square" lIns="0" tIns="0" rIns="0" bIns="0" rtlCol="0" anchor="ctr"/>
          <a:lstStyle/>
          <a:p>
            <a:pPr marL="0" indent="0" algn="ctr">
              <a:buNone/>
            </a:pPr>
            <a:r>
              <a:rPr lang="en-US" sz="700" b="1" dirty="0">
                <a:solidFill>
                  <a:srgbClr val="FFFFFF"/>
                </a:solidFill>
                <a:latin typeface="Calibri" pitchFamily="34" charset="0"/>
                <a:ea typeface="Calibri" pitchFamily="34" charset="-122"/>
                <a:cs typeface="Calibri" pitchFamily="34" charset="-120"/>
              </a:rPr>
              <a:t>7</a:t>
            </a:r>
            <a:endParaRPr lang="en-US" sz="700" dirty="0"/>
          </a:p>
        </p:txBody>
      </p:sp>
      <p:sp>
        <p:nvSpPr>
          <p:cNvPr id="28" name="Text 26"/>
          <p:cNvSpPr/>
          <p:nvPr/>
        </p:nvSpPr>
        <p:spPr>
          <a:xfrm>
            <a:off x="932688" y="3529584"/>
            <a:ext cx="2834640" cy="256032"/>
          </a:xfrm>
          <a:prstGeom prst="rect">
            <a:avLst/>
          </a:prstGeom>
          <a:noFill/>
          <a:ln/>
        </p:spPr>
        <p:txBody>
          <a:bodyPr wrap="square" lIns="0" tIns="0" rIns="0" bIns="0" rtlCol="0" anchor="ctr"/>
          <a:lstStyle/>
          <a:p>
            <a:pPr marL="0" indent="0">
              <a:buNone/>
            </a:pPr>
            <a:r>
              <a:rPr lang="en-US" sz="850" dirty="0">
                <a:solidFill>
                  <a:srgbClr val="CBD5E1"/>
                </a:solidFill>
                <a:latin typeface="Calibri" pitchFamily="34" charset="0"/>
                <a:ea typeface="Calibri" pitchFamily="34" charset="-122"/>
                <a:cs typeface="Calibri" pitchFamily="34" charset="-120"/>
              </a:rPr>
              <a:t>Understand the root cause</a:t>
            </a:r>
            <a:endParaRPr lang="en-US" sz="850" dirty="0"/>
          </a:p>
        </p:txBody>
      </p:sp>
      <p:sp>
        <p:nvSpPr>
          <p:cNvPr id="29" name="Shape 27"/>
          <p:cNvSpPr/>
          <p:nvPr/>
        </p:nvSpPr>
        <p:spPr>
          <a:xfrm>
            <a:off x="621792" y="3831336"/>
            <a:ext cx="237744" cy="237744"/>
          </a:xfrm>
          <a:prstGeom prst="ellipse">
            <a:avLst/>
          </a:prstGeom>
          <a:solidFill>
            <a:srgbClr val="1E3A5F"/>
          </a:solidFill>
          <a:ln/>
        </p:spPr>
      </p:sp>
      <p:sp>
        <p:nvSpPr>
          <p:cNvPr id="30" name="Text 28"/>
          <p:cNvSpPr/>
          <p:nvPr/>
        </p:nvSpPr>
        <p:spPr>
          <a:xfrm>
            <a:off x="621792" y="3831336"/>
            <a:ext cx="237744" cy="237744"/>
          </a:xfrm>
          <a:prstGeom prst="rect">
            <a:avLst/>
          </a:prstGeom>
          <a:noFill/>
          <a:ln/>
        </p:spPr>
        <p:txBody>
          <a:bodyPr wrap="square" lIns="0" tIns="0" rIns="0" bIns="0" rtlCol="0" anchor="ctr"/>
          <a:lstStyle/>
          <a:p>
            <a:pPr marL="0" indent="0" algn="ctr">
              <a:buNone/>
            </a:pPr>
            <a:r>
              <a:rPr lang="en-US" sz="700" b="1" dirty="0">
                <a:solidFill>
                  <a:srgbClr val="FFFFFF"/>
                </a:solidFill>
                <a:latin typeface="Calibri" pitchFamily="34" charset="0"/>
                <a:ea typeface="Calibri" pitchFamily="34" charset="-122"/>
                <a:cs typeface="Calibri" pitchFamily="34" charset="-120"/>
              </a:rPr>
              <a:t>8</a:t>
            </a:r>
            <a:endParaRPr lang="en-US" sz="700" dirty="0"/>
          </a:p>
        </p:txBody>
      </p:sp>
      <p:sp>
        <p:nvSpPr>
          <p:cNvPr id="31" name="Text 29"/>
          <p:cNvSpPr/>
          <p:nvPr/>
        </p:nvSpPr>
        <p:spPr>
          <a:xfrm>
            <a:off x="932688" y="3831336"/>
            <a:ext cx="2834640" cy="256032"/>
          </a:xfrm>
          <a:prstGeom prst="rect">
            <a:avLst/>
          </a:prstGeom>
          <a:noFill/>
          <a:ln/>
        </p:spPr>
        <p:txBody>
          <a:bodyPr wrap="square" lIns="0" tIns="0" rIns="0" bIns="0" rtlCol="0" anchor="ctr"/>
          <a:lstStyle/>
          <a:p>
            <a:pPr marL="0" indent="0">
              <a:buNone/>
            </a:pPr>
            <a:r>
              <a:rPr lang="en-US" sz="850" dirty="0">
                <a:solidFill>
                  <a:srgbClr val="22C55E"/>
                </a:solidFill>
                <a:latin typeface="Calibri" pitchFamily="34" charset="0"/>
                <a:ea typeface="Calibri" pitchFamily="34" charset="-122"/>
                <a:cs typeface="Calibri" pitchFamily="34" charset="-120"/>
              </a:rPr>
              <a:t>Fix it yourself</a:t>
            </a:r>
            <a:endParaRPr lang="en-US" sz="850" dirty="0"/>
          </a:p>
        </p:txBody>
      </p:sp>
      <p:sp>
        <p:nvSpPr>
          <p:cNvPr id="32" name="Shape 30"/>
          <p:cNvSpPr/>
          <p:nvPr/>
        </p:nvSpPr>
        <p:spPr>
          <a:xfrm>
            <a:off x="621792" y="4133088"/>
            <a:ext cx="237744" cy="237744"/>
          </a:xfrm>
          <a:prstGeom prst="ellipse">
            <a:avLst/>
          </a:prstGeom>
          <a:solidFill>
            <a:srgbClr val="1E3A5F"/>
          </a:solidFill>
          <a:ln/>
        </p:spPr>
      </p:sp>
      <p:sp>
        <p:nvSpPr>
          <p:cNvPr id="33" name="Text 31"/>
          <p:cNvSpPr/>
          <p:nvPr/>
        </p:nvSpPr>
        <p:spPr>
          <a:xfrm>
            <a:off x="621792" y="4133088"/>
            <a:ext cx="237744" cy="237744"/>
          </a:xfrm>
          <a:prstGeom prst="rect">
            <a:avLst/>
          </a:prstGeom>
          <a:noFill/>
          <a:ln/>
        </p:spPr>
        <p:txBody>
          <a:bodyPr wrap="square" lIns="0" tIns="0" rIns="0" bIns="0" rtlCol="0" anchor="ctr"/>
          <a:lstStyle/>
          <a:p>
            <a:pPr marL="0" indent="0" algn="ctr">
              <a:buNone/>
            </a:pPr>
            <a:r>
              <a:rPr lang="en-US" sz="700" b="1" dirty="0">
                <a:solidFill>
                  <a:srgbClr val="FFFFFF"/>
                </a:solidFill>
                <a:latin typeface="Calibri" pitchFamily="34" charset="0"/>
                <a:ea typeface="Calibri" pitchFamily="34" charset="-122"/>
                <a:cs typeface="Calibri" pitchFamily="34" charset="-120"/>
              </a:rPr>
              <a:t>9</a:t>
            </a:r>
            <a:endParaRPr lang="en-US" sz="700" dirty="0"/>
          </a:p>
        </p:txBody>
      </p:sp>
      <p:sp>
        <p:nvSpPr>
          <p:cNvPr id="34" name="Text 32"/>
          <p:cNvSpPr/>
          <p:nvPr/>
        </p:nvSpPr>
        <p:spPr>
          <a:xfrm>
            <a:off x="932688" y="4133088"/>
            <a:ext cx="2834640" cy="256032"/>
          </a:xfrm>
          <a:prstGeom prst="rect">
            <a:avLst/>
          </a:prstGeom>
          <a:noFill/>
          <a:ln/>
        </p:spPr>
        <p:txBody>
          <a:bodyPr wrap="square" lIns="0" tIns="0" rIns="0" bIns="0" rtlCol="0" anchor="ctr"/>
          <a:lstStyle/>
          <a:p>
            <a:pPr marL="0" indent="0">
              <a:buNone/>
            </a:pPr>
            <a:r>
              <a:rPr lang="en-US" sz="850" dirty="0">
                <a:solidFill>
                  <a:srgbClr val="22C55E"/>
                </a:solidFill>
                <a:latin typeface="Calibri" pitchFamily="34" charset="0"/>
                <a:ea typeface="Calibri" pitchFamily="34" charset="-122"/>
                <a:cs typeface="Calibri" pitchFamily="34" charset="-120"/>
              </a:rPr>
              <a:t>Customise for your dashboard</a:t>
            </a:r>
            <a:endParaRPr lang="en-US" sz="850" dirty="0"/>
          </a:p>
        </p:txBody>
      </p:sp>
      <p:sp>
        <p:nvSpPr>
          <p:cNvPr id="35" name="Shape 33"/>
          <p:cNvSpPr/>
          <p:nvPr/>
        </p:nvSpPr>
        <p:spPr>
          <a:xfrm>
            <a:off x="621792" y="4434840"/>
            <a:ext cx="237744" cy="237744"/>
          </a:xfrm>
          <a:prstGeom prst="ellipse">
            <a:avLst/>
          </a:prstGeom>
          <a:solidFill>
            <a:srgbClr val="00B4D8"/>
          </a:solidFill>
          <a:ln/>
        </p:spPr>
      </p:sp>
      <p:sp>
        <p:nvSpPr>
          <p:cNvPr id="36" name="Text 34"/>
          <p:cNvSpPr/>
          <p:nvPr/>
        </p:nvSpPr>
        <p:spPr>
          <a:xfrm>
            <a:off x="621792" y="4434840"/>
            <a:ext cx="237744" cy="237744"/>
          </a:xfrm>
          <a:prstGeom prst="rect">
            <a:avLst/>
          </a:prstGeom>
          <a:noFill/>
          <a:ln/>
        </p:spPr>
        <p:txBody>
          <a:bodyPr wrap="square" lIns="0" tIns="0" rIns="0" bIns="0" rtlCol="0" anchor="ctr"/>
          <a:lstStyle/>
          <a:p>
            <a:pPr marL="0" indent="0" algn="ctr">
              <a:buNone/>
            </a:pPr>
            <a:r>
              <a:rPr lang="en-US" sz="700" b="1" dirty="0">
                <a:solidFill>
                  <a:srgbClr val="FFFFFF"/>
                </a:solidFill>
                <a:latin typeface="Calibri" pitchFamily="34" charset="0"/>
                <a:ea typeface="Calibri" pitchFamily="34" charset="-122"/>
                <a:cs typeface="Calibri" pitchFamily="34" charset="-120"/>
              </a:rPr>
              <a:t>→</a:t>
            </a:r>
            <a:endParaRPr lang="en-US" sz="700" dirty="0"/>
          </a:p>
        </p:txBody>
      </p:sp>
      <p:sp>
        <p:nvSpPr>
          <p:cNvPr id="37" name="Text 35"/>
          <p:cNvSpPr/>
          <p:nvPr/>
        </p:nvSpPr>
        <p:spPr>
          <a:xfrm>
            <a:off x="932688" y="4434840"/>
            <a:ext cx="2834640" cy="256032"/>
          </a:xfrm>
          <a:prstGeom prst="rect">
            <a:avLst/>
          </a:prstGeom>
          <a:noFill/>
          <a:ln/>
        </p:spPr>
        <p:txBody>
          <a:bodyPr wrap="square" lIns="0" tIns="0" rIns="0" bIns="0" rtlCol="0" anchor="ctr"/>
          <a:lstStyle/>
          <a:p>
            <a:pPr marL="0" indent="0">
              <a:buNone/>
            </a:pPr>
            <a:r>
              <a:rPr lang="en-US" sz="850" dirty="0">
                <a:solidFill>
                  <a:srgbClr val="00B4D8"/>
                </a:solidFill>
                <a:latin typeface="Calibri" pitchFamily="34" charset="0"/>
                <a:ea typeface="Calibri" pitchFamily="34" charset="-122"/>
                <a:cs typeface="Calibri" pitchFamily="34" charset="-120"/>
              </a:rPr>
              <a:t>Repeat until complete</a:t>
            </a:r>
            <a:endParaRPr lang="en-US" sz="850" dirty="0"/>
          </a:p>
        </p:txBody>
      </p:sp>
      <p:sp>
        <p:nvSpPr>
          <p:cNvPr id="38" name="Shape 36"/>
          <p:cNvSpPr/>
          <p:nvPr/>
        </p:nvSpPr>
        <p:spPr>
          <a:xfrm>
            <a:off x="4114800" y="1234440"/>
            <a:ext cx="4572000" cy="676656"/>
          </a:xfrm>
          <a:prstGeom prst="roundRect">
            <a:avLst>
              <a:gd name="adj" fmla="val 9459"/>
            </a:avLst>
          </a:prstGeom>
          <a:solidFill>
            <a:srgbClr val="FFFFFF"/>
          </a:solidFill>
          <a:ln/>
          <a:effectLst>
            <a:outerShdw blurRad="50800" dist="12700" dir="2700000" algn="bl" rotWithShape="0">
              <a:srgbClr val="000000">
                <a:alpha val="8000"/>
              </a:srgbClr>
            </a:outerShdw>
          </a:effectLst>
        </p:spPr>
      </p:sp>
      <p:sp>
        <p:nvSpPr>
          <p:cNvPr id="39" name="Shape 37"/>
          <p:cNvSpPr/>
          <p:nvPr/>
        </p:nvSpPr>
        <p:spPr>
          <a:xfrm>
            <a:off x="4206240" y="1371600"/>
            <a:ext cx="347472" cy="347472"/>
          </a:xfrm>
          <a:prstGeom prst="roundRect">
            <a:avLst>
              <a:gd name="adj" fmla="val 13158"/>
            </a:avLst>
          </a:prstGeom>
          <a:solidFill>
            <a:srgbClr val="E0F2F1"/>
          </a:solidFill>
          <a:ln/>
        </p:spPr>
      </p:sp>
      <p:sp>
        <p:nvSpPr>
          <p:cNvPr id="40" name="Text 38"/>
          <p:cNvSpPr/>
          <p:nvPr/>
        </p:nvSpPr>
        <p:spPr>
          <a:xfrm>
            <a:off x="4206240" y="1371600"/>
            <a:ext cx="347472" cy="347472"/>
          </a:xfrm>
          <a:prstGeom prst="rect">
            <a:avLst/>
          </a:prstGeom>
          <a:noFill/>
          <a:ln/>
        </p:spPr>
        <p:txBody>
          <a:bodyPr wrap="square" lIns="0" tIns="0" rIns="0" bIns="0" rtlCol="0" anchor="ctr"/>
          <a:lstStyle/>
          <a:p>
            <a:pPr marL="0" indent="0" algn="ctr">
              <a:buNone/>
            </a:pPr>
            <a:r>
              <a:rPr lang="en-US" sz="1000" b="1" dirty="0">
                <a:solidFill>
                  <a:srgbClr val="028090"/>
                </a:solidFill>
                <a:latin typeface="Calibri" pitchFamily="34" charset="0"/>
                <a:ea typeface="Calibri" pitchFamily="34" charset="-122"/>
                <a:cs typeface="Calibri" pitchFamily="34" charset="-120"/>
              </a:rPr>
              <a:t>01</a:t>
            </a:r>
            <a:endParaRPr lang="en-US" sz="1000" dirty="0"/>
          </a:p>
        </p:txBody>
      </p:sp>
      <p:sp>
        <p:nvSpPr>
          <p:cNvPr id="41" name="Text 39"/>
          <p:cNvSpPr/>
          <p:nvPr/>
        </p:nvSpPr>
        <p:spPr>
          <a:xfrm>
            <a:off x="4617720" y="1325880"/>
            <a:ext cx="3977640" cy="237744"/>
          </a:xfrm>
          <a:prstGeom prst="rect">
            <a:avLst/>
          </a:prstGeom>
          <a:noFill/>
          <a:ln/>
        </p:spPr>
        <p:txBody>
          <a:bodyPr wrap="square" lIns="0" tIns="0" rIns="0" bIns="0" rtlCol="0" anchor="ctr"/>
          <a:lstStyle/>
          <a:p>
            <a:pPr marL="0" indent="0">
              <a:buNone/>
            </a:pPr>
            <a:r>
              <a:rPr lang="en-US" sz="950" b="1" dirty="0">
                <a:solidFill>
                  <a:srgbClr val="1A2A4A"/>
                </a:solidFill>
                <a:latin typeface="Calibri" pitchFamily="34" charset="0"/>
                <a:ea typeface="Calibri" pitchFamily="34" charset="-122"/>
                <a:cs typeface="Calibri" pitchFamily="34" charset="-120"/>
              </a:rPr>
              <a:t>GHCP accelerates — it does not replace</a:t>
            </a:r>
            <a:endParaRPr lang="en-US" sz="950" dirty="0"/>
          </a:p>
        </p:txBody>
      </p:sp>
      <p:sp>
        <p:nvSpPr>
          <p:cNvPr id="42" name="Text 40"/>
          <p:cNvSpPr/>
          <p:nvPr/>
        </p:nvSpPr>
        <p:spPr>
          <a:xfrm>
            <a:off x="4617720" y="1581912"/>
            <a:ext cx="3977640" cy="274320"/>
          </a:xfrm>
          <a:prstGeom prst="rect">
            <a:avLst/>
          </a:prstGeom>
          <a:noFill/>
          <a:ln/>
        </p:spPr>
        <p:txBody>
          <a:bodyPr wrap="square" lIns="0" tIns="0" rIns="0" bIns="0" rtlCol="0" anchor="ctr"/>
          <a:lstStyle/>
          <a:p>
            <a:pPr marL="0" indent="0">
              <a:buNone/>
            </a:pPr>
            <a:r>
              <a:rPr lang="en-US" sz="850" dirty="0">
                <a:solidFill>
                  <a:srgbClr val="5B7FA6"/>
                </a:solidFill>
                <a:latin typeface="Calibri" pitchFamily="34" charset="0"/>
                <a:ea typeface="Calibri" pitchFamily="34" charset="-122"/>
                <a:cs typeface="Calibri" pitchFamily="34" charset="-120"/>
              </a:rPr>
              <a:t>Use it to get to a starting point fast. The deep work is still yours.</a:t>
            </a:r>
            <a:endParaRPr lang="en-US" sz="850" dirty="0"/>
          </a:p>
        </p:txBody>
      </p:sp>
      <p:sp>
        <p:nvSpPr>
          <p:cNvPr id="43" name="Shape 41"/>
          <p:cNvSpPr/>
          <p:nvPr/>
        </p:nvSpPr>
        <p:spPr>
          <a:xfrm>
            <a:off x="4114800" y="1984248"/>
            <a:ext cx="4572000" cy="676656"/>
          </a:xfrm>
          <a:prstGeom prst="roundRect">
            <a:avLst>
              <a:gd name="adj" fmla="val 9459"/>
            </a:avLst>
          </a:prstGeom>
          <a:solidFill>
            <a:srgbClr val="FFFFFF"/>
          </a:solidFill>
          <a:ln/>
          <a:effectLst>
            <a:outerShdw blurRad="50800" dist="12700" dir="2700000" algn="bl" rotWithShape="0">
              <a:srgbClr val="000000">
                <a:alpha val="8000"/>
              </a:srgbClr>
            </a:outerShdw>
          </a:effectLst>
        </p:spPr>
      </p:sp>
      <p:sp>
        <p:nvSpPr>
          <p:cNvPr id="44" name="Shape 42"/>
          <p:cNvSpPr/>
          <p:nvPr/>
        </p:nvSpPr>
        <p:spPr>
          <a:xfrm>
            <a:off x="4206240" y="2121408"/>
            <a:ext cx="347472" cy="347472"/>
          </a:xfrm>
          <a:prstGeom prst="roundRect">
            <a:avLst>
              <a:gd name="adj" fmla="val 13158"/>
            </a:avLst>
          </a:prstGeom>
          <a:solidFill>
            <a:srgbClr val="F5F3FF"/>
          </a:solidFill>
          <a:ln/>
        </p:spPr>
      </p:sp>
      <p:sp>
        <p:nvSpPr>
          <p:cNvPr id="45" name="Text 43"/>
          <p:cNvSpPr/>
          <p:nvPr/>
        </p:nvSpPr>
        <p:spPr>
          <a:xfrm>
            <a:off x="4206240" y="2121408"/>
            <a:ext cx="347472" cy="347472"/>
          </a:xfrm>
          <a:prstGeom prst="rect">
            <a:avLst/>
          </a:prstGeom>
          <a:noFill/>
          <a:ln/>
        </p:spPr>
        <p:txBody>
          <a:bodyPr wrap="square" lIns="0" tIns="0" rIns="0" bIns="0" rtlCol="0" anchor="ctr"/>
          <a:lstStyle/>
          <a:p>
            <a:pPr marL="0" indent="0" algn="ctr">
              <a:buNone/>
            </a:pPr>
            <a:r>
              <a:rPr lang="en-US" sz="1000" b="1" dirty="0">
                <a:solidFill>
                  <a:srgbClr val="6D28D9"/>
                </a:solidFill>
                <a:latin typeface="Calibri" pitchFamily="34" charset="0"/>
                <a:ea typeface="Calibri" pitchFamily="34" charset="-122"/>
                <a:cs typeface="Calibri" pitchFamily="34" charset="-120"/>
              </a:rPr>
              <a:t>02</a:t>
            </a:r>
            <a:endParaRPr lang="en-US" sz="1000" dirty="0"/>
          </a:p>
        </p:txBody>
      </p:sp>
      <p:sp>
        <p:nvSpPr>
          <p:cNvPr id="46" name="Text 44"/>
          <p:cNvSpPr/>
          <p:nvPr/>
        </p:nvSpPr>
        <p:spPr>
          <a:xfrm>
            <a:off x="4617720" y="2075688"/>
            <a:ext cx="3977640" cy="237744"/>
          </a:xfrm>
          <a:prstGeom prst="rect">
            <a:avLst/>
          </a:prstGeom>
          <a:noFill/>
          <a:ln/>
        </p:spPr>
        <p:txBody>
          <a:bodyPr wrap="square" lIns="0" tIns="0" rIns="0" bIns="0" rtlCol="0" anchor="ctr"/>
          <a:lstStyle/>
          <a:p>
            <a:pPr marL="0" indent="0">
              <a:buNone/>
            </a:pPr>
            <a:r>
              <a:rPr lang="en-US" sz="950" b="1" dirty="0">
                <a:solidFill>
                  <a:srgbClr val="1A2A4A"/>
                </a:solidFill>
                <a:latin typeface="Calibri" pitchFamily="34" charset="0"/>
                <a:ea typeface="Calibri" pitchFamily="34" charset="-122"/>
                <a:cs typeface="Calibri" pitchFamily="34" charset="-120"/>
              </a:rPr>
              <a:t>Official docs explain the WHY</a:t>
            </a:r>
            <a:endParaRPr lang="en-US" sz="950" dirty="0"/>
          </a:p>
        </p:txBody>
      </p:sp>
      <p:sp>
        <p:nvSpPr>
          <p:cNvPr id="47" name="Text 45"/>
          <p:cNvSpPr/>
          <p:nvPr/>
        </p:nvSpPr>
        <p:spPr>
          <a:xfrm>
            <a:off x="4617720" y="2331720"/>
            <a:ext cx="3977640" cy="274320"/>
          </a:xfrm>
          <a:prstGeom prst="rect">
            <a:avLst/>
          </a:prstGeom>
          <a:noFill/>
          <a:ln/>
        </p:spPr>
        <p:txBody>
          <a:bodyPr wrap="square" lIns="0" tIns="0" rIns="0" bIns="0" rtlCol="0" anchor="ctr"/>
          <a:lstStyle/>
          <a:p>
            <a:pPr marL="0" indent="0">
              <a:buNone/>
            </a:pPr>
            <a:r>
              <a:rPr lang="en-US" sz="850" dirty="0">
                <a:solidFill>
                  <a:srgbClr val="5B7FA6"/>
                </a:solidFill>
                <a:latin typeface="Calibri" pitchFamily="34" charset="0"/>
                <a:ea typeface="Calibri" pitchFamily="34" charset="-122"/>
                <a:cs typeface="Calibri" pitchFamily="34" charset="-120"/>
              </a:rPr>
              <a:t>Copilot fixes symptoms. playwright.dev explains the root cause. Always check docs when errors do not make sense.</a:t>
            </a:r>
            <a:endParaRPr lang="en-US" sz="850" dirty="0"/>
          </a:p>
        </p:txBody>
      </p:sp>
      <p:sp>
        <p:nvSpPr>
          <p:cNvPr id="48" name="Shape 46"/>
          <p:cNvSpPr/>
          <p:nvPr/>
        </p:nvSpPr>
        <p:spPr>
          <a:xfrm>
            <a:off x="4114800" y="2734056"/>
            <a:ext cx="4572000" cy="676656"/>
          </a:xfrm>
          <a:prstGeom prst="roundRect">
            <a:avLst>
              <a:gd name="adj" fmla="val 9459"/>
            </a:avLst>
          </a:prstGeom>
          <a:solidFill>
            <a:srgbClr val="FFFFFF"/>
          </a:solidFill>
          <a:ln/>
          <a:effectLst>
            <a:outerShdw blurRad="50800" dist="12700" dir="2700000" algn="bl" rotWithShape="0">
              <a:srgbClr val="000000">
                <a:alpha val="8000"/>
              </a:srgbClr>
            </a:outerShdw>
          </a:effectLst>
        </p:spPr>
      </p:sp>
      <p:sp>
        <p:nvSpPr>
          <p:cNvPr id="49" name="Shape 47"/>
          <p:cNvSpPr/>
          <p:nvPr/>
        </p:nvSpPr>
        <p:spPr>
          <a:xfrm>
            <a:off x="4206240" y="2871216"/>
            <a:ext cx="347472" cy="347472"/>
          </a:xfrm>
          <a:prstGeom prst="roundRect">
            <a:avLst>
              <a:gd name="adj" fmla="val 13158"/>
            </a:avLst>
          </a:prstGeom>
          <a:solidFill>
            <a:srgbClr val="FFF7ED"/>
          </a:solidFill>
          <a:ln/>
        </p:spPr>
      </p:sp>
      <p:sp>
        <p:nvSpPr>
          <p:cNvPr id="50" name="Text 48"/>
          <p:cNvSpPr/>
          <p:nvPr/>
        </p:nvSpPr>
        <p:spPr>
          <a:xfrm>
            <a:off x="4206240" y="2871216"/>
            <a:ext cx="347472" cy="347472"/>
          </a:xfrm>
          <a:prstGeom prst="rect">
            <a:avLst/>
          </a:prstGeom>
          <a:noFill/>
          <a:ln/>
        </p:spPr>
        <p:txBody>
          <a:bodyPr wrap="square" lIns="0" tIns="0" rIns="0" bIns="0" rtlCol="0" anchor="ctr"/>
          <a:lstStyle/>
          <a:p>
            <a:pPr marL="0" indent="0" algn="ctr">
              <a:buNone/>
            </a:pPr>
            <a:r>
              <a:rPr lang="en-US" sz="1000" b="1" dirty="0">
                <a:solidFill>
                  <a:srgbClr val="B45309"/>
                </a:solidFill>
                <a:latin typeface="Calibri" pitchFamily="34" charset="0"/>
                <a:ea typeface="Calibri" pitchFamily="34" charset="-122"/>
                <a:cs typeface="Calibri" pitchFamily="34" charset="-120"/>
              </a:rPr>
              <a:t>03</a:t>
            </a:r>
            <a:endParaRPr lang="en-US" sz="1000" dirty="0"/>
          </a:p>
        </p:txBody>
      </p:sp>
      <p:sp>
        <p:nvSpPr>
          <p:cNvPr id="51" name="Text 49"/>
          <p:cNvSpPr/>
          <p:nvPr/>
        </p:nvSpPr>
        <p:spPr>
          <a:xfrm>
            <a:off x="4617720" y="2825496"/>
            <a:ext cx="3977640" cy="237744"/>
          </a:xfrm>
          <a:prstGeom prst="rect">
            <a:avLst/>
          </a:prstGeom>
          <a:noFill/>
          <a:ln/>
        </p:spPr>
        <p:txBody>
          <a:bodyPr wrap="square" lIns="0" tIns="0" rIns="0" bIns="0" rtlCol="0" anchor="ctr"/>
          <a:lstStyle/>
          <a:p>
            <a:pPr marL="0" indent="0">
              <a:buNone/>
            </a:pPr>
            <a:r>
              <a:rPr lang="en-US" sz="950" b="1" dirty="0">
                <a:solidFill>
                  <a:srgbClr val="1A2A4A"/>
                </a:solidFill>
                <a:latin typeface="Calibri" pitchFamily="34" charset="0"/>
                <a:ea typeface="Calibri" pitchFamily="34" charset="-122"/>
                <a:cs typeface="Calibri" pitchFamily="34" charset="-120"/>
              </a:rPr>
              <a:t>Your domain knowledge is irreplaceable</a:t>
            </a:r>
            <a:endParaRPr lang="en-US" sz="950" dirty="0"/>
          </a:p>
        </p:txBody>
      </p:sp>
      <p:sp>
        <p:nvSpPr>
          <p:cNvPr id="52" name="Text 50"/>
          <p:cNvSpPr/>
          <p:nvPr/>
        </p:nvSpPr>
        <p:spPr>
          <a:xfrm>
            <a:off x="4617720" y="3081528"/>
            <a:ext cx="3977640" cy="274320"/>
          </a:xfrm>
          <a:prstGeom prst="rect">
            <a:avLst/>
          </a:prstGeom>
          <a:noFill/>
          <a:ln/>
        </p:spPr>
        <p:txBody>
          <a:bodyPr wrap="square" lIns="0" tIns="0" rIns="0" bIns="0" rtlCol="0" anchor="ctr"/>
          <a:lstStyle/>
          <a:p>
            <a:pPr marL="0" indent="0">
              <a:buNone/>
            </a:pPr>
            <a:r>
              <a:rPr lang="en-US" sz="850" dirty="0">
                <a:solidFill>
                  <a:srgbClr val="5B7FA6"/>
                </a:solidFill>
                <a:latin typeface="Calibri" pitchFamily="34" charset="0"/>
                <a:ea typeface="Calibri" pitchFamily="34" charset="-122"/>
                <a:cs typeface="Calibri" pitchFamily="34" charset="-120"/>
              </a:rPr>
              <a:t>Nobody knows your HTML, your JavaScript, your use case except you. Copilot cannot inspect your browser.</a:t>
            </a:r>
            <a:endParaRPr lang="en-US" sz="850" dirty="0"/>
          </a:p>
        </p:txBody>
      </p:sp>
      <p:sp>
        <p:nvSpPr>
          <p:cNvPr id="53" name="Shape 51"/>
          <p:cNvSpPr/>
          <p:nvPr/>
        </p:nvSpPr>
        <p:spPr>
          <a:xfrm>
            <a:off x="4114800" y="3483864"/>
            <a:ext cx="4572000" cy="676656"/>
          </a:xfrm>
          <a:prstGeom prst="roundRect">
            <a:avLst>
              <a:gd name="adj" fmla="val 9459"/>
            </a:avLst>
          </a:prstGeom>
          <a:solidFill>
            <a:srgbClr val="FFFFFF"/>
          </a:solidFill>
          <a:ln/>
          <a:effectLst>
            <a:outerShdw blurRad="50800" dist="12700" dir="2700000" algn="bl" rotWithShape="0">
              <a:srgbClr val="000000">
                <a:alpha val="8000"/>
              </a:srgbClr>
            </a:outerShdw>
          </a:effectLst>
        </p:spPr>
      </p:sp>
      <p:sp>
        <p:nvSpPr>
          <p:cNvPr id="54" name="Shape 52"/>
          <p:cNvSpPr/>
          <p:nvPr/>
        </p:nvSpPr>
        <p:spPr>
          <a:xfrm>
            <a:off x="4206240" y="3621024"/>
            <a:ext cx="347472" cy="347472"/>
          </a:xfrm>
          <a:prstGeom prst="roundRect">
            <a:avLst>
              <a:gd name="adj" fmla="val 13158"/>
            </a:avLst>
          </a:prstGeom>
          <a:solidFill>
            <a:srgbClr val="F0FDF4"/>
          </a:solidFill>
          <a:ln/>
        </p:spPr>
      </p:sp>
      <p:sp>
        <p:nvSpPr>
          <p:cNvPr id="55" name="Text 53"/>
          <p:cNvSpPr/>
          <p:nvPr/>
        </p:nvSpPr>
        <p:spPr>
          <a:xfrm>
            <a:off x="4206240" y="3621024"/>
            <a:ext cx="347472" cy="347472"/>
          </a:xfrm>
          <a:prstGeom prst="rect">
            <a:avLst/>
          </a:prstGeom>
          <a:noFill/>
          <a:ln/>
        </p:spPr>
        <p:txBody>
          <a:bodyPr wrap="square" lIns="0" tIns="0" rIns="0" bIns="0" rtlCol="0" anchor="ctr"/>
          <a:lstStyle/>
          <a:p>
            <a:pPr marL="0" indent="0" algn="ctr">
              <a:buNone/>
            </a:pPr>
            <a:r>
              <a:rPr lang="en-US" sz="1000" b="1" dirty="0">
                <a:solidFill>
                  <a:srgbClr val="0D9488"/>
                </a:solidFill>
                <a:latin typeface="Calibri" pitchFamily="34" charset="0"/>
                <a:ea typeface="Calibri" pitchFamily="34" charset="-122"/>
                <a:cs typeface="Calibri" pitchFamily="34" charset="-120"/>
              </a:rPr>
              <a:t>04</a:t>
            </a:r>
            <a:endParaRPr lang="en-US" sz="1000" dirty="0"/>
          </a:p>
        </p:txBody>
      </p:sp>
      <p:sp>
        <p:nvSpPr>
          <p:cNvPr id="56" name="Text 54"/>
          <p:cNvSpPr/>
          <p:nvPr/>
        </p:nvSpPr>
        <p:spPr>
          <a:xfrm>
            <a:off x="4617720" y="3575304"/>
            <a:ext cx="3977640" cy="237744"/>
          </a:xfrm>
          <a:prstGeom prst="rect">
            <a:avLst/>
          </a:prstGeom>
          <a:noFill/>
          <a:ln/>
        </p:spPr>
        <p:txBody>
          <a:bodyPr wrap="square" lIns="0" tIns="0" rIns="0" bIns="0" rtlCol="0" anchor="ctr"/>
          <a:lstStyle/>
          <a:p>
            <a:pPr marL="0" indent="0">
              <a:buNone/>
            </a:pPr>
            <a:r>
              <a:rPr lang="en-US" sz="950" b="1" dirty="0">
                <a:solidFill>
                  <a:srgbClr val="1A2A4A"/>
                </a:solidFill>
                <a:latin typeface="Calibri" pitchFamily="34" charset="0"/>
                <a:ea typeface="Calibri" pitchFamily="34" charset="-122"/>
                <a:cs typeface="Calibri" pitchFamily="34" charset="-120"/>
              </a:rPr>
              <a:t>Every error is a learning</a:t>
            </a:r>
            <a:endParaRPr lang="en-US" sz="950" dirty="0"/>
          </a:p>
        </p:txBody>
      </p:sp>
      <p:sp>
        <p:nvSpPr>
          <p:cNvPr id="57" name="Text 55"/>
          <p:cNvSpPr/>
          <p:nvPr/>
        </p:nvSpPr>
        <p:spPr>
          <a:xfrm>
            <a:off x="4617720" y="3831336"/>
            <a:ext cx="3977640" cy="274320"/>
          </a:xfrm>
          <a:prstGeom prst="rect">
            <a:avLst/>
          </a:prstGeom>
          <a:noFill/>
          <a:ln/>
        </p:spPr>
        <p:txBody>
          <a:bodyPr wrap="square" lIns="0" tIns="0" rIns="0" bIns="0" rtlCol="0" anchor="ctr"/>
          <a:lstStyle/>
          <a:p>
            <a:pPr marL="0" indent="0">
              <a:buNone/>
            </a:pPr>
            <a:r>
              <a:rPr lang="en-US" sz="850" dirty="0">
                <a:solidFill>
                  <a:srgbClr val="5B7FA6"/>
                </a:solidFill>
                <a:latin typeface="Calibri" pitchFamily="34" charset="0"/>
                <a:ea typeface="Calibri" pitchFamily="34" charset="-122"/>
                <a:cs typeface="Calibri" pitchFamily="34" charset="-120"/>
              </a:rPr>
              <a:t>Each of the 10 errors taught me something real about Playwright and about my own dashboard.</a:t>
            </a:r>
            <a:endParaRPr lang="en-US" sz="850" dirty="0"/>
          </a:p>
        </p:txBody>
      </p:sp>
      <p:sp>
        <p:nvSpPr>
          <p:cNvPr id="58" name="Shape 56"/>
          <p:cNvSpPr/>
          <p:nvPr/>
        </p:nvSpPr>
        <p:spPr>
          <a:xfrm>
            <a:off x="4114800" y="4233672"/>
            <a:ext cx="4572000" cy="676656"/>
          </a:xfrm>
          <a:prstGeom prst="roundRect">
            <a:avLst>
              <a:gd name="adj" fmla="val 9459"/>
            </a:avLst>
          </a:prstGeom>
          <a:solidFill>
            <a:srgbClr val="FFFFFF"/>
          </a:solidFill>
          <a:ln/>
          <a:effectLst>
            <a:outerShdw blurRad="50800" dist="12700" dir="2700000" algn="bl" rotWithShape="0">
              <a:srgbClr val="000000">
                <a:alpha val="8000"/>
              </a:srgbClr>
            </a:outerShdw>
          </a:effectLst>
        </p:spPr>
      </p:sp>
      <p:sp>
        <p:nvSpPr>
          <p:cNvPr id="59" name="Shape 57"/>
          <p:cNvSpPr/>
          <p:nvPr/>
        </p:nvSpPr>
        <p:spPr>
          <a:xfrm>
            <a:off x="4206240" y="4370832"/>
            <a:ext cx="347472" cy="347472"/>
          </a:xfrm>
          <a:prstGeom prst="roundRect">
            <a:avLst>
              <a:gd name="adj" fmla="val 13158"/>
            </a:avLst>
          </a:prstGeom>
          <a:solidFill>
            <a:srgbClr val="FEF2F2"/>
          </a:solidFill>
          <a:ln/>
        </p:spPr>
      </p:sp>
      <p:sp>
        <p:nvSpPr>
          <p:cNvPr id="60" name="Text 58"/>
          <p:cNvSpPr/>
          <p:nvPr/>
        </p:nvSpPr>
        <p:spPr>
          <a:xfrm>
            <a:off x="4206240" y="4370832"/>
            <a:ext cx="347472" cy="347472"/>
          </a:xfrm>
          <a:prstGeom prst="rect">
            <a:avLst/>
          </a:prstGeom>
          <a:noFill/>
          <a:ln/>
        </p:spPr>
        <p:txBody>
          <a:bodyPr wrap="square" lIns="0" tIns="0" rIns="0" bIns="0" rtlCol="0" anchor="ctr"/>
          <a:lstStyle/>
          <a:p>
            <a:pPr marL="0" indent="0" algn="ctr">
              <a:buNone/>
            </a:pPr>
            <a:r>
              <a:rPr lang="en-US" sz="1000" b="1" dirty="0">
                <a:solidFill>
                  <a:srgbClr val="DC2626"/>
                </a:solidFill>
                <a:latin typeface="Calibri" pitchFamily="34" charset="0"/>
                <a:ea typeface="Calibri" pitchFamily="34" charset="-122"/>
                <a:cs typeface="Calibri" pitchFamily="34" charset="-120"/>
              </a:rPr>
              <a:t>05</a:t>
            </a:r>
            <a:endParaRPr lang="en-US" sz="1000" dirty="0"/>
          </a:p>
        </p:txBody>
      </p:sp>
      <p:sp>
        <p:nvSpPr>
          <p:cNvPr id="61" name="Text 59"/>
          <p:cNvSpPr/>
          <p:nvPr/>
        </p:nvSpPr>
        <p:spPr>
          <a:xfrm>
            <a:off x="4617720" y="4325112"/>
            <a:ext cx="3977640" cy="237744"/>
          </a:xfrm>
          <a:prstGeom prst="rect">
            <a:avLst/>
          </a:prstGeom>
          <a:noFill/>
          <a:ln/>
        </p:spPr>
        <p:txBody>
          <a:bodyPr wrap="square" lIns="0" tIns="0" rIns="0" bIns="0" rtlCol="0" anchor="ctr"/>
          <a:lstStyle/>
          <a:p>
            <a:pPr marL="0" indent="0">
              <a:buNone/>
            </a:pPr>
            <a:r>
              <a:rPr lang="en-US" sz="950" b="1" dirty="0">
                <a:solidFill>
                  <a:srgbClr val="1A2A4A"/>
                </a:solidFill>
                <a:latin typeface="Calibri" pitchFamily="34" charset="0"/>
                <a:ea typeface="Calibri" pitchFamily="34" charset="-122"/>
                <a:cs typeface="Calibri" pitchFamily="34" charset="-120"/>
              </a:rPr>
              <a:t>Run after every addition</a:t>
            </a:r>
            <a:endParaRPr lang="en-US" sz="950" dirty="0"/>
          </a:p>
        </p:txBody>
      </p:sp>
      <p:sp>
        <p:nvSpPr>
          <p:cNvPr id="62" name="Text 60"/>
          <p:cNvSpPr/>
          <p:nvPr/>
        </p:nvSpPr>
        <p:spPr>
          <a:xfrm>
            <a:off x="4617720" y="4581144"/>
            <a:ext cx="3977640" cy="274320"/>
          </a:xfrm>
          <a:prstGeom prst="rect">
            <a:avLst/>
          </a:prstGeom>
          <a:noFill/>
          <a:ln/>
        </p:spPr>
        <p:txBody>
          <a:bodyPr wrap="square" lIns="0" tIns="0" rIns="0" bIns="0" rtlCol="0" anchor="ctr"/>
          <a:lstStyle/>
          <a:p>
            <a:pPr marL="0" indent="0">
              <a:buNone/>
            </a:pPr>
            <a:r>
              <a:rPr lang="en-US" sz="850" dirty="0">
                <a:solidFill>
                  <a:srgbClr val="5B7FA6"/>
                </a:solidFill>
                <a:latin typeface="Calibri" pitchFamily="34" charset="0"/>
                <a:ea typeface="Calibri" pitchFamily="34" charset="-122"/>
                <a:cs typeface="Calibri" pitchFamily="34" charset="-120"/>
              </a:rPr>
              <a:t>Do not write 100 lines without running. Add one check, run, verify, then add the next.</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A2A4A"/>
        </a:solidFill>
        <a:effectLst/>
      </p:bgPr>
    </p:bg>
    <p:spTree>
      <p:nvGrpSpPr>
        <p:cNvPr id="1" name=""/>
        <p:cNvGrpSpPr/>
        <p:nvPr/>
      </p:nvGrpSpPr>
      <p:grpSpPr>
        <a:xfrm>
          <a:off x="0" y="0"/>
          <a:ext cx="0" cy="0"/>
          <a:chOff x="0" y="0"/>
          <a:chExt cx="0" cy="0"/>
        </a:xfrm>
      </p:grpSpPr>
      <p:sp>
        <p:nvSpPr>
          <p:cNvPr id="2" name="Shape 0"/>
          <p:cNvSpPr/>
          <p:nvPr/>
        </p:nvSpPr>
        <p:spPr>
          <a:xfrm>
            <a:off x="457200" y="137160"/>
            <a:ext cx="1828800" cy="320040"/>
          </a:xfrm>
          <a:prstGeom prst="roundRect">
            <a:avLst>
              <a:gd name="adj" fmla="val 14286"/>
            </a:avLst>
          </a:prstGeom>
          <a:solidFill>
            <a:srgbClr val="00B4D8"/>
          </a:solidFill>
          <a:ln/>
        </p:spPr>
      </p:sp>
      <p:sp>
        <p:nvSpPr>
          <p:cNvPr id="3" name="Text 1"/>
          <p:cNvSpPr/>
          <p:nvPr/>
        </p:nvSpPr>
        <p:spPr>
          <a:xfrm>
            <a:off x="457200" y="137160"/>
            <a:ext cx="1828800" cy="320040"/>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START FROM ZERO</a:t>
            </a:r>
            <a:endParaRPr lang="en-US" sz="800" dirty="0"/>
          </a:p>
        </p:txBody>
      </p:sp>
      <p:sp>
        <p:nvSpPr>
          <p:cNvPr id="4" name="Text 2"/>
          <p:cNvSpPr/>
          <p:nvPr/>
        </p:nvSpPr>
        <p:spPr>
          <a:xfrm>
            <a:off x="457200" y="566928"/>
            <a:ext cx="8229600" cy="475488"/>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If You Want To Try This — Start Here</a:t>
            </a:r>
            <a:endParaRPr lang="en-US" sz="2000" dirty="0"/>
          </a:p>
        </p:txBody>
      </p:sp>
      <p:sp>
        <p:nvSpPr>
          <p:cNvPr id="5" name="Shape 3"/>
          <p:cNvSpPr/>
          <p:nvPr/>
        </p:nvSpPr>
        <p:spPr>
          <a:xfrm>
            <a:off x="457200" y="1115568"/>
            <a:ext cx="8229600" cy="0"/>
          </a:xfrm>
          <a:prstGeom prst="line">
            <a:avLst/>
          </a:prstGeom>
          <a:noFill/>
          <a:ln w="19050">
            <a:solidFill>
              <a:srgbClr val="00B4D8"/>
            </a:solidFill>
            <a:prstDash val="solid"/>
          </a:ln>
        </p:spPr>
      </p:sp>
      <p:sp>
        <p:nvSpPr>
          <p:cNvPr id="6" name="Shape 4"/>
          <p:cNvSpPr/>
          <p:nvPr/>
        </p:nvSpPr>
        <p:spPr>
          <a:xfrm>
            <a:off x="457200" y="1234440"/>
            <a:ext cx="2011680" cy="3520440"/>
          </a:xfrm>
          <a:prstGeom prst="roundRect">
            <a:avLst>
              <a:gd name="adj" fmla="val 3636"/>
            </a:avLst>
          </a:prstGeom>
          <a:solidFill>
            <a:srgbClr val="0D1F35"/>
          </a:solidFill>
          <a:ln/>
        </p:spPr>
      </p:sp>
      <p:sp>
        <p:nvSpPr>
          <p:cNvPr id="7" name="Shape 5"/>
          <p:cNvSpPr/>
          <p:nvPr/>
        </p:nvSpPr>
        <p:spPr>
          <a:xfrm>
            <a:off x="594360" y="1325880"/>
            <a:ext cx="1737360" cy="320040"/>
          </a:xfrm>
          <a:prstGeom prst="roundRect">
            <a:avLst>
              <a:gd name="adj" fmla="val 14286"/>
            </a:avLst>
          </a:prstGeom>
          <a:solidFill>
            <a:srgbClr val="028090"/>
          </a:solidFill>
          <a:ln/>
        </p:spPr>
      </p:sp>
      <p:sp>
        <p:nvSpPr>
          <p:cNvPr id="8" name="Text 6"/>
          <p:cNvSpPr/>
          <p:nvPr/>
        </p:nvSpPr>
        <p:spPr>
          <a:xfrm>
            <a:off x="594360" y="1325880"/>
            <a:ext cx="1737360" cy="32004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DAY 1</a:t>
            </a:r>
            <a:endParaRPr lang="en-US" sz="1000" dirty="0"/>
          </a:p>
        </p:txBody>
      </p:sp>
      <p:sp>
        <p:nvSpPr>
          <p:cNvPr id="9" name="Text 7"/>
          <p:cNvSpPr/>
          <p:nvPr/>
        </p:nvSpPr>
        <p:spPr>
          <a:xfrm>
            <a:off x="594360" y="1737360"/>
            <a:ext cx="1737360" cy="475488"/>
          </a:xfrm>
          <a:prstGeom prst="rect">
            <a:avLst/>
          </a:prstGeom>
          <a:noFill/>
          <a:ln/>
        </p:spPr>
        <p:txBody>
          <a:bodyPr wrap="square" lIns="0" tIns="0" rIns="0" bIns="0" rtlCol="0" anchor="ctr"/>
          <a:lstStyle/>
          <a:p>
            <a:pPr marL="0" indent="0">
              <a:buNone/>
            </a:pPr>
            <a:r>
              <a:rPr lang="en-US" sz="850" dirty="0">
                <a:solidFill>
                  <a:srgbClr val="CBD5E1"/>
                </a:solidFill>
                <a:latin typeface="Calibri" pitchFamily="34" charset="0"/>
                <a:ea typeface="Calibri" pitchFamily="34" charset="-122"/>
                <a:cs typeface="Calibri" pitchFamily="34" charset="-120"/>
              </a:rPr>
              <a:t>▸  pip install playwright</a:t>
            </a:r>
            <a:endParaRPr lang="en-US" sz="850" dirty="0"/>
          </a:p>
        </p:txBody>
      </p:sp>
      <p:sp>
        <p:nvSpPr>
          <p:cNvPr id="10" name="Text 8"/>
          <p:cNvSpPr/>
          <p:nvPr/>
        </p:nvSpPr>
        <p:spPr>
          <a:xfrm>
            <a:off x="594360" y="2258568"/>
            <a:ext cx="1737360" cy="475488"/>
          </a:xfrm>
          <a:prstGeom prst="rect">
            <a:avLst/>
          </a:prstGeom>
          <a:noFill/>
          <a:ln/>
        </p:spPr>
        <p:txBody>
          <a:bodyPr wrap="square" lIns="0" tIns="0" rIns="0" bIns="0" rtlCol="0" anchor="ctr"/>
          <a:lstStyle/>
          <a:p>
            <a:pPr marL="0" indent="0">
              <a:buNone/>
            </a:pPr>
            <a:r>
              <a:rPr lang="en-US" sz="850" dirty="0">
                <a:solidFill>
                  <a:srgbClr val="CBD5E1"/>
                </a:solidFill>
                <a:latin typeface="Calibri" pitchFamily="34" charset="0"/>
                <a:ea typeface="Calibri" pitchFamily="34" charset="-122"/>
                <a:cs typeface="Calibri" pitchFamily="34" charset="-120"/>
              </a:rPr>
              <a:t>▸  playwright install chromium</a:t>
            </a:r>
            <a:endParaRPr lang="en-US" sz="850" dirty="0"/>
          </a:p>
        </p:txBody>
      </p:sp>
      <p:sp>
        <p:nvSpPr>
          <p:cNvPr id="11" name="Text 9"/>
          <p:cNvSpPr/>
          <p:nvPr/>
        </p:nvSpPr>
        <p:spPr>
          <a:xfrm>
            <a:off x="594360" y="2779776"/>
            <a:ext cx="1737360" cy="475488"/>
          </a:xfrm>
          <a:prstGeom prst="rect">
            <a:avLst/>
          </a:prstGeom>
          <a:noFill/>
          <a:ln/>
        </p:spPr>
        <p:txBody>
          <a:bodyPr wrap="square" lIns="0" tIns="0" rIns="0" bIns="0" rtlCol="0" anchor="ctr"/>
          <a:lstStyle/>
          <a:p>
            <a:pPr marL="0" indent="0">
              <a:buNone/>
            </a:pPr>
            <a:r>
              <a:rPr lang="en-US" sz="850" dirty="0">
                <a:solidFill>
                  <a:srgbClr val="CBD5E1"/>
                </a:solidFill>
                <a:latin typeface="Calibri" pitchFamily="34" charset="0"/>
                <a:ea typeface="Calibri" pitchFamily="34" charset="-122"/>
                <a:cs typeface="Calibri" pitchFamily="34" charset="-120"/>
              </a:rPr>
              <a:t>▸  Read playwright.dev/docs/intro</a:t>
            </a:r>
            <a:endParaRPr lang="en-US" sz="850" dirty="0"/>
          </a:p>
        </p:txBody>
      </p:sp>
      <p:sp>
        <p:nvSpPr>
          <p:cNvPr id="12" name="Text 10"/>
          <p:cNvSpPr/>
          <p:nvPr/>
        </p:nvSpPr>
        <p:spPr>
          <a:xfrm>
            <a:off x="594360" y="3300984"/>
            <a:ext cx="1737360" cy="475488"/>
          </a:xfrm>
          <a:prstGeom prst="rect">
            <a:avLst/>
          </a:prstGeom>
          <a:noFill/>
          <a:ln/>
        </p:spPr>
        <p:txBody>
          <a:bodyPr wrap="square" lIns="0" tIns="0" rIns="0" bIns="0" rtlCol="0" anchor="ctr"/>
          <a:lstStyle/>
          <a:p>
            <a:pPr marL="0" indent="0">
              <a:buNone/>
            </a:pPr>
            <a:r>
              <a:rPr lang="en-US" sz="850" dirty="0">
                <a:solidFill>
                  <a:srgbClr val="CBD5E1"/>
                </a:solidFill>
                <a:latin typeface="Calibri" pitchFamily="34" charset="0"/>
                <a:ea typeface="Calibri" pitchFamily="34" charset="-122"/>
                <a:cs typeface="Calibri" pitchFamily="34" charset="-120"/>
              </a:rPr>
              <a:t>▸  Run the first example from docs</a:t>
            </a:r>
            <a:endParaRPr lang="en-US" sz="850" dirty="0"/>
          </a:p>
        </p:txBody>
      </p:sp>
      <p:sp>
        <p:nvSpPr>
          <p:cNvPr id="13" name="Text 11"/>
          <p:cNvSpPr/>
          <p:nvPr/>
        </p:nvSpPr>
        <p:spPr>
          <a:xfrm>
            <a:off x="594360" y="3822192"/>
            <a:ext cx="1737360" cy="475488"/>
          </a:xfrm>
          <a:prstGeom prst="rect">
            <a:avLst/>
          </a:prstGeom>
          <a:noFill/>
          <a:ln/>
        </p:spPr>
        <p:txBody>
          <a:bodyPr wrap="square" lIns="0" tIns="0" rIns="0" bIns="0" rtlCol="0" anchor="ctr"/>
          <a:lstStyle/>
          <a:p>
            <a:pPr marL="0" indent="0">
              <a:buNone/>
            </a:pPr>
            <a:r>
              <a:rPr lang="en-US" sz="850" b="1" dirty="0">
                <a:solidFill>
                  <a:srgbClr val="00B4D8"/>
                </a:solidFill>
                <a:latin typeface="Calibri" pitchFamily="34" charset="0"/>
                <a:ea typeface="Calibri" pitchFamily="34" charset="-122"/>
                <a:cs typeface="Calibri" pitchFamily="34" charset="-120"/>
              </a:rPr>
              <a:t>▸  Do not use Copilot yet — understand first</a:t>
            </a:r>
            <a:endParaRPr lang="en-US" sz="850" dirty="0"/>
          </a:p>
        </p:txBody>
      </p:sp>
      <p:sp>
        <p:nvSpPr>
          <p:cNvPr id="14" name="Shape 12"/>
          <p:cNvSpPr/>
          <p:nvPr/>
        </p:nvSpPr>
        <p:spPr>
          <a:xfrm>
            <a:off x="2633472" y="1234440"/>
            <a:ext cx="2011680" cy="3520440"/>
          </a:xfrm>
          <a:prstGeom prst="roundRect">
            <a:avLst>
              <a:gd name="adj" fmla="val 3636"/>
            </a:avLst>
          </a:prstGeom>
          <a:solidFill>
            <a:srgbClr val="0D1F35"/>
          </a:solidFill>
          <a:ln/>
        </p:spPr>
      </p:sp>
      <p:sp>
        <p:nvSpPr>
          <p:cNvPr id="15" name="Shape 13"/>
          <p:cNvSpPr/>
          <p:nvPr/>
        </p:nvSpPr>
        <p:spPr>
          <a:xfrm>
            <a:off x="2770632" y="1325880"/>
            <a:ext cx="1737360" cy="320040"/>
          </a:xfrm>
          <a:prstGeom prst="roundRect">
            <a:avLst>
              <a:gd name="adj" fmla="val 14286"/>
            </a:avLst>
          </a:prstGeom>
          <a:solidFill>
            <a:srgbClr val="6D28D9"/>
          </a:solidFill>
          <a:ln/>
        </p:spPr>
      </p:sp>
      <p:sp>
        <p:nvSpPr>
          <p:cNvPr id="16" name="Text 14"/>
          <p:cNvSpPr/>
          <p:nvPr/>
        </p:nvSpPr>
        <p:spPr>
          <a:xfrm>
            <a:off x="2770632" y="1325880"/>
            <a:ext cx="1737360" cy="32004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DAY 2-3</a:t>
            </a:r>
            <a:endParaRPr lang="en-US" sz="1000" dirty="0"/>
          </a:p>
        </p:txBody>
      </p:sp>
      <p:sp>
        <p:nvSpPr>
          <p:cNvPr id="17" name="Text 15"/>
          <p:cNvSpPr/>
          <p:nvPr/>
        </p:nvSpPr>
        <p:spPr>
          <a:xfrm>
            <a:off x="2770632" y="1737360"/>
            <a:ext cx="1737360" cy="475488"/>
          </a:xfrm>
          <a:prstGeom prst="rect">
            <a:avLst/>
          </a:prstGeom>
          <a:noFill/>
          <a:ln/>
        </p:spPr>
        <p:txBody>
          <a:bodyPr wrap="square" lIns="0" tIns="0" rIns="0" bIns="0" rtlCol="0" anchor="ctr"/>
          <a:lstStyle/>
          <a:p>
            <a:pPr marL="0" indent="0">
              <a:buNone/>
            </a:pPr>
            <a:r>
              <a:rPr lang="en-US" sz="850" dirty="0">
                <a:solidFill>
                  <a:srgbClr val="CBD5E1"/>
                </a:solidFill>
                <a:latin typeface="Calibri" pitchFamily="34" charset="0"/>
                <a:ea typeface="Calibri" pitchFamily="34" charset="-122"/>
                <a:cs typeface="Calibri" pitchFamily="34" charset="-120"/>
              </a:rPr>
              <a:t>▸  playwright codegen your-html-file</a:t>
            </a:r>
            <a:endParaRPr lang="en-US" sz="850" dirty="0"/>
          </a:p>
        </p:txBody>
      </p:sp>
      <p:sp>
        <p:nvSpPr>
          <p:cNvPr id="18" name="Text 16"/>
          <p:cNvSpPr/>
          <p:nvPr/>
        </p:nvSpPr>
        <p:spPr>
          <a:xfrm>
            <a:off x="2770632" y="2258568"/>
            <a:ext cx="1737360" cy="475488"/>
          </a:xfrm>
          <a:prstGeom prst="rect">
            <a:avLst/>
          </a:prstGeom>
          <a:noFill/>
          <a:ln/>
        </p:spPr>
        <p:txBody>
          <a:bodyPr wrap="square" lIns="0" tIns="0" rIns="0" bIns="0" rtlCol="0" anchor="ctr"/>
          <a:lstStyle/>
          <a:p>
            <a:pPr marL="0" indent="0">
              <a:buNone/>
            </a:pPr>
            <a:r>
              <a:rPr lang="en-US" sz="850" dirty="0">
                <a:solidFill>
                  <a:srgbClr val="CBD5E1"/>
                </a:solidFill>
                <a:latin typeface="Calibri" pitchFamily="34" charset="0"/>
                <a:ea typeface="Calibri" pitchFamily="34" charset="-122"/>
                <a:cs typeface="Calibri" pitchFamily="34" charset="-120"/>
              </a:rPr>
              <a:t>▸  Click through your page</a:t>
            </a:r>
            <a:endParaRPr lang="en-US" sz="850" dirty="0"/>
          </a:p>
        </p:txBody>
      </p:sp>
      <p:sp>
        <p:nvSpPr>
          <p:cNvPr id="19" name="Text 17"/>
          <p:cNvSpPr/>
          <p:nvPr/>
        </p:nvSpPr>
        <p:spPr>
          <a:xfrm>
            <a:off x="2770632" y="2779776"/>
            <a:ext cx="1737360" cy="475488"/>
          </a:xfrm>
          <a:prstGeom prst="rect">
            <a:avLst/>
          </a:prstGeom>
          <a:noFill/>
          <a:ln/>
        </p:spPr>
        <p:txBody>
          <a:bodyPr wrap="square" lIns="0" tIns="0" rIns="0" bIns="0" rtlCol="0" anchor="ctr"/>
          <a:lstStyle/>
          <a:p>
            <a:pPr marL="0" indent="0">
              <a:buNone/>
            </a:pPr>
            <a:r>
              <a:rPr lang="en-US" sz="850" dirty="0">
                <a:solidFill>
                  <a:srgbClr val="CBD5E1"/>
                </a:solidFill>
                <a:latin typeface="Calibri" pitchFamily="34" charset="0"/>
                <a:ea typeface="Calibri" pitchFamily="34" charset="-122"/>
                <a:cs typeface="Calibri" pitchFamily="34" charset="-120"/>
              </a:rPr>
              <a:t>▸  Read every line Codegen wrote</a:t>
            </a:r>
            <a:endParaRPr lang="en-US" sz="850" dirty="0"/>
          </a:p>
        </p:txBody>
      </p:sp>
      <p:sp>
        <p:nvSpPr>
          <p:cNvPr id="20" name="Text 18"/>
          <p:cNvSpPr/>
          <p:nvPr/>
        </p:nvSpPr>
        <p:spPr>
          <a:xfrm>
            <a:off x="2770632" y="3300984"/>
            <a:ext cx="1737360" cy="475488"/>
          </a:xfrm>
          <a:prstGeom prst="rect">
            <a:avLst/>
          </a:prstGeom>
          <a:noFill/>
          <a:ln/>
        </p:spPr>
        <p:txBody>
          <a:bodyPr wrap="square" lIns="0" tIns="0" rIns="0" bIns="0" rtlCol="0" anchor="ctr"/>
          <a:lstStyle/>
          <a:p>
            <a:pPr marL="0" indent="0">
              <a:buNone/>
            </a:pPr>
            <a:r>
              <a:rPr lang="en-US" sz="850" dirty="0">
                <a:solidFill>
                  <a:srgbClr val="CBD5E1"/>
                </a:solidFill>
                <a:latin typeface="Calibri" pitchFamily="34" charset="0"/>
                <a:ea typeface="Calibri" pitchFamily="34" charset="-122"/>
                <a:cs typeface="Calibri" pitchFamily="34" charset="-120"/>
              </a:rPr>
              <a:t>▸  Understand each line before using</a:t>
            </a:r>
            <a:endParaRPr lang="en-US" sz="850" dirty="0"/>
          </a:p>
        </p:txBody>
      </p:sp>
      <p:sp>
        <p:nvSpPr>
          <p:cNvPr id="21" name="Text 19"/>
          <p:cNvSpPr/>
          <p:nvPr/>
        </p:nvSpPr>
        <p:spPr>
          <a:xfrm>
            <a:off x="2770632" y="3822192"/>
            <a:ext cx="1737360" cy="475488"/>
          </a:xfrm>
          <a:prstGeom prst="rect">
            <a:avLst/>
          </a:prstGeom>
          <a:noFill/>
          <a:ln/>
        </p:spPr>
        <p:txBody>
          <a:bodyPr wrap="square" lIns="0" tIns="0" rIns="0" bIns="0" rtlCol="0" anchor="ctr"/>
          <a:lstStyle/>
          <a:p>
            <a:pPr marL="0" indent="0">
              <a:buNone/>
            </a:pPr>
            <a:r>
              <a:rPr lang="en-US" sz="850" b="1" dirty="0">
                <a:solidFill>
                  <a:srgbClr val="00B4D8"/>
                </a:solidFill>
                <a:latin typeface="Calibri" pitchFamily="34" charset="0"/>
                <a:ea typeface="Calibri" pitchFamily="34" charset="-122"/>
                <a:cs typeface="Calibri" pitchFamily="34" charset="-120"/>
              </a:rPr>
              <a:t>▸  Now you have real selectors</a:t>
            </a:r>
            <a:endParaRPr lang="en-US" sz="850" dirty="0"/>
          </a:p>
        </p:txBody>
      </p:sp>
      <p:sp>
        <p:nvSpPr>
          <p:cNvPr id="22" name="Shape 20"/>
          <p:cNvSpPr/>
          <p:nvPr/>
        </p:nvSpPr>
        <p:spPr>
          <a:xfrm>
            <a:off x="4809744" y="1234440"/>
            <a:ext cx="2011680" cy="3520440"/>
          </a:xfrm>
          <a:prstGeom prst="roundRect">
            <a:avLst>
              <a:gd name="adj" fmla="val 3636"/>
            </a:avLst>
          </a:prstGeom>
          <a:solidFill>
            <a:srgbClr val="0D1F35"/>
          </a:solidFill>
          <a:ln/>
        </p:spPr>
      </p:sp>
      <p:sp>
        <p:nvSpPr>
          <p:cNvPr id="23" name="Shape 21"/>
          <p:cNvSpPr/>
          <p:nvPr/>
        </p:nvSpPr>
        <p:spPr>
          <a:xfrm>
            <a:off x="4946904" y="1325880"/>
            <a:ext cx="1737360" cy="320040"/>
          </a:xfrm>
          <a:prstGeom prst="roundRect">
            <a:avLst>
              <a:gd name="adj" fmla="val 14286"/>
            </a:avLst>
          </a:prstGeom>
          <a:solidFill>
            <a:srgbClr val="0D9488"/>
          </a:solidFill>
          <a:ln/>
        </p:spPr>
      </p:sp>
      <p:sp>
        <p:nvSpPr>
          <p:cNvPr id="24" name="Text 22"/>
          <p:cNvSpPr/>
          <p:nvPr/>
        </p:nvSpPr>
        <p:spPr>
          <a:xfrm>
            <a:off x="4946904" y="1325880"/>
            <a:ext cx="1737360" cy="32004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WEEK 1</a:t>
            </a:r>
            <a:endParaRPr lang="en-US" sz="1000" dirty="0"/>
          </a:p>
        </p:txBody>
      </p:sp>
      <p:sp>
        <p:nvSpPr>
          <p:cNvPr id="25" name="Text 23"/>
          <p:cNvSpPr/>
          <p:nvPr/>
        </p:nvSpPr>
        <p:spPr>
          <a:xfrm>
            <a:off x="4946904" y="1737360"/>
            <a:ext cx="1737360" cy="475488"/>
          </a:xfrm>
          <a:prstGeom prst="rect">
            <a:avLst/>
          </a:prstGeom>
          <a:noFill/>
          <a:ln/>
        </p:spPr>
        <p:txBody>
          <a:bodyPr wrap="square" lIns="0" tIns="0" rIns="0" bIns="0" rtlCol="0" anchor="ctr"/>
          <a:lstStyle/>
          <a:p>
            <a:pPr marL="0" indent="0">
              <a:buNone/>
            </a:pPr>
            <a:r>
              <a:rPr lang="en-US" sz="850" dirty="0">
                <a:solidFill>
                  <a:srgbClr val="CBD5E1"/>
                </a:solidFill>
                <a:latin typeface="Calibri" pitchFamily="34" charset="0"/>
                <a:ea typeface="Calibri" pitchFamily="34" charset="-122"/>
                <a:cs typeface="Calibri" pitchFamily="34" charset="-120"/>
              </a:rPr>
              <a:t>▸  Write your FIRST check — just one</a:t>
            </a:r>
            <a:endParaRPr lang="en-US" sz="850" dirty="0"/>
          </a:p>
        </p:txBody>
      </p:sp>
      <p:sp>
        <p:nvSpPr>
          <p:cNvPr id="26" name="Text 24"/>
          <p:cNvSpPr/>
          <p:nvPr/>
        </p:nvSpPr>
        <p:spPr>
          <a:xfrm>
            <a:off x="4946904" y="2258568"/>
            <a:ext cx="1737360" cy="475488"/>
          </a:xfrm>
          <a:prstGeom prst="rect">
            <a:avLst/>
          </a:prstGeom>
          <a:noFill/>
          <a:ln/>
        </p:spPr>
        <p:txBody>
          <a:bodyPr wrap="square" lIns="0" tIns="0" rIns="0" bIns="0" rtlCol="0" anchor="ctr"/>
          <a:lstStyle/>
          <a:p>
            <a:pPr marL="0" indent="0">
              <a:buNone/>
            </a:pPr>
            <a:r>
              <a:rPr lang="en-US" sz="850" dirty="0">
                <a:solidFill>
                  <a:srgbClr val="CBD5E1"/>
                </a:solidFill>
                <a:latin typeface="Calibri" pitchFamily="34" charset="0"/>
                <a:ea typeface="Calibri" pitchFamily="34" charset="-122"/>
                <a:cs typeface="Calibri" pitchFamily="34" charset="-120"/>
              </a:rPr>
              <a:t>▸  Open DevTools — find your selector</a:t>
            </a:r>
            <a:endParaRPr lang="en-US" sz="850" dirty="0"/>
          </a:p>
        </p:txBody>
      </p:sp>
      <p:sp>
        <p:nvSpPr>
          <p:cNvPr id="27" name="Text 25"/>
          <p:cNvSpPr/>
          <p:nvPr/>
        </p:nvSpPr>
        <p:spPr>
          <a:xfrm>
            <a:off x="4946904" y="2779776"/>
            <a:ext cx="1737360" cy="475488"/>
          </a:xfrm>
          <a:prstGeom prst="rect">
            <a:avLst/>
          </a:prstGeom>
          <a:noFill/>
          <a:ln/>
        </p:spPr>
        <p:txBody>
          <a:bodyPr wrap="square" lIns="0" tIns="0" rIns="0" bIns="0" rtlCol="0" anchor="ctr"/>
          <a:lstStyle/>
          <a:p>
            <a:pPr marL="0" indent="0">
              <a:buNone/>
            </a:pPr>
            <a:r>
              <a:rPr lang="en-US" sz="850" dirty="0">
                <a:solidFill>
                  <a:srgbClr val="CBD5E1"/>
                </a:solidFill>
                <a:latin typeface="Calibri" pitchFamily="34" charset="0"/>
                <a:ea typeface="Calibri" pitchFamily="34" charset="-122"/>
                <a:cs typeface="Calibri" pitchFamily="34" charset="-120"/>
              </a:rPr>
              <a:t>▸  Write one report.add_result()</a:t>
            </a:r>
            <a:endParaRPr lang="en-US" sz="850" dirty="0"/>
          </a:p>
        </p:txBody>
      </p:sp>
      <p:sp>
        <p:nvSpPr>
          <p:cNvPr id="28" name="Text 26"/>
          <p:cNvSpPr/>
          <p:nvPr/>
        </p:nvSpPr>
        <p:spPr>
          <a:xfrm>
            <a:off x="4946904" y="3300984"/>
            <a:ext cx="1737360" cy="475488"/>
          </a:xfrm>
          <a:prstGeom prst="rect">
            <a:avLst/>
          </a:prstGeom>
          <a:noFill/>
          <a:ln/>
        </p:spPr>
        <p:txBody>
          <a:bodyPr wrap="square" lIns="0" tIns="0" rIns="0" bIns="0" rtlCol="0" anchor="ctr"/>
          <a:lstStyle/>
          <a:p>
            <a:pPr marL="0" indent="0">
              <a:buNone/>
            </a:pPr>
            <a:r>
              <a:rPr lang="en-US" sz="850" dirty="0">
                <a:solidFill>
                  <a:srgbClr val="CBD5E1"/>
                </a:solidFill>
                <a:latin typeface="Calibri" pitchFamily="34" charset="0"/>
                <a:ea typeface="Calibri" pitchFamily="34" charset="-122"/>
                <a:cs typeface="Calibri" pitchFamily="34" charset="-120"/>
              </a:rPr>
              <a:t>▸  Run it — fix errors — understand each one</a:t>
            </a:r>
            <a:endParaRPr lang="en-US" sz="850" dirty="0"/>
          </a:p>
        </p:txBody>
      </p:sp>
      <p:sp>
        <p:nvSpPr>
          <p:cNvPr id="29" name="Text 27"/>
          <p:cNvSpPr/>
          <p:nvPr/>
        </p:nvSpPr>
        <p:spPr>
          <a:xfrm>
            <a:off x="4946904" y="3822192"/>
            <a:ext cx="1737360" cy="475488"/>
          </a:xfrm>
          <a:prstGeom prst="rect">
            <a:avLst/>
          </a:prstGeom>
          <a:noFill/>
          <a:ln/>
        </p:spPr>
        <p:txBody>
          <a:bodyPr wrap="square" lIns="0" tIns="0" rIns="0" bIns="0" rtlCol="0" anchor="ctr"/>
          <a:lstStyle/>
          <a:p>
            <a:pPr marL="0" indent="0">
              <a:buNone/>
            </a:pPr>
            <a:r>
              <a:rPr lang="en-US" sz="850" b="1" dirty="0">
                <a:solidFill>
                  <a:srgbClr val="00B4D8"/>
                </a:solidFill>
                <a:latin typeface="Calibri" pitchFamily="34" charset="0"/>
                <a:ea typeface="Calibri" pitchFamily="34" charset="-122"/>
                <a:cs typeface="Calibri" pitchFamily="34" charset="-120"/>
              </a:rPr>
              <a:t>▸  Ask GHCP only after you understand the error</a:t>
            </a:r>
            <a:endParaRPr lang="en-US" sz="850" dirty="0"/>
          </a:p>
        </p:txBody>
      </p:sp>
      <p:sp>
        <p:nvSpPr>
          <p:cNvPr id="30" name="Shape 28"/>
          <p:cNvSpPr/>
          <p:nvPr/>
        </p:nvSpPr>
        <p:spPr>
          <a:xfrm>
            <a:off x="6986016" y="1234440"/>
            <a:ext cx="2011680" cy="3520440"/>
          </a:xfrm>
          <a:prstGeom prst="roundRect">
            <a:avLst>
              <a:gd name="adj" fmla="val 3636"/>
            </a:avLst>
          </a:prstGeom>
          <a:solidFill>
            <a:srgbClr val="0D1F35"/>
          </a:solidFill>
          <a:ln/>
        </p:spPr>
      </p:sp>
      <p:sp>
        <p:nvSpPr>
          <p:cNvPr id="31" name="Shape 29"/>
          <p:cNvSpPr/>
          <p:nvPr/>
        </p:nvSpPr>
        <p:spPr>
          <a:xfrm>
            <a:off x="7123176" y="1325880"/>
            <a:ext cx="1737360" cy="320040"/>
          </a:xfrm>
          <a:prstGeom prst="roundRect">
            <a:avLst>
              <a:gd name="adj" fmla="val 14286"/>
            </a:avLst>
          </a:prstGeom>
          <a:solidFill>
            <a:srgbClr val="B45309"/>
          </a:solidFill>
          <a:ln/>
        </p:spPr>
      </p:sp>
      <p:sp>
        <p:nvSpPr>
          <p:cNvPr id="32" name="Text 30"/>
          <p:cNvSpPr/>
          <p:nvPr/>
        </p:nvSpPr>
        <p:spPr>
          <a:xfrm>
            <a:off x="7123176" y="1325880"/>
            <a:ext cx="1737360" cy="32004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WEEK 2</a:t>
            </a:r>
            <a:endParaRPr lang="en-US" sz="1000" dirty="0"/>
          </a:p>
        </p:txBody>
      </p:sp>
      <p:sp>
        <p:nvSpPr>
          <p:cNvPr id="33" name="Text 31"/>
          <p:cNvSpPr/>
          <p:nvPr/>
        </p:nvSpPr>
        <p:spPr>
          <a:xfrm>
            <a:off x="7123176" y="1737360"/>
            <a:ext cx="1737360" cy="475488"/>
          </a:xfrm>
          <a:prstGeom prst="rect">
            <a:avLst/>
          </a:prstGeom>
          <a:noFill/>
          <a:ln/>
        </p:spPr>
        <p:txBody>
          <a:bodyPr wrap="square" lIns="0" tIns="0" rIns="0" bIns="0" rtlCol="0" anchor="ctr"/>
          <a:lstStyle/>
          <a:p>
            <a:pPr marL="0" indent="0">
              <a:buNone/>
            </a:pPr>
            <a:r>
              <a:rPr lang="en-US" sz="850" dirty="0">
                <a:solidFill>
                  <a:srgbClr val="CBD5E1"/>
                </a:solidFill>
                <a:latin typeface="Calibri" pitchFamily="34" charset="0"/>
                <a:ea typeface="Calibri" pitchFamily="34" charset="-122"/>
                <a:cs typeface="Calibri" pitchFamily="34" charset="-120"/>
              </a:rPr>
              <a:t>▸  Expand one section at a time</a:t>
            </a:r>
            <a:endParaRPr lang="en-US" sz="850" dirty="0"/>
          </a:p>
        </p:txBody>
      </p:sp>
      <p:sp>
        <p:nvSpPr>
          <p:cNvPr id="34" name="Text 32"/>
          <p:cNvSpPr/>
          <p:nvPr/>
        </p:nvSpPr>
        <p:spPr>
          <a:xfrm>
            <a:off x="7123176" y="2258568"/>
            <a:ext cx="1737360" cy="475488"/>
          </a:xfrm>
          <a:prstGeom prst="rect">
            <a:avLst/>
          </a:prstGeom>
          <a:noFill/>
          <a:ln/>
        </p:spPr>
        <p:txBody>
          <a:bodyPr wrap="square" lIns="0" tIns="0" rIns="0" bIns="0" rtlCol="0" anchor="ctr"/>
          <a:lstStyle/>
          <a:p>
            <a:pPr marL="0" indent="0">
              <a:buNone/>
            </a:pPr>
            <a:r>
              <a:rPr lang="en-US" sz="850" dirty="0">
                <a:solidFill>
                  <a:srgbClr val="CBD5E1"/>
                </a:solidFill>
                <a:latin typeface="Calibri" pitchFamily="34" charset="0"/>
                <a:ea typeface="Calibri" pitchFamily="34" charset="-122"/>
                <a:cs typeface="Calibri" pitchFamily="34" charset="-120"/>
              </a:rPr>
              <a:t>▸  Read your own source code carefully</a:t>
            </a:r>
            <a:endParaRPr lang="en-US" sz="850" dirty="0"/>
          </a:p>
        </p:txBody>
      </p:sp>
      <p:sp>
        <p:nvSpPr>
          <p:cNvPr id="35" name="Text 33"/>
          <p:cNvSpPr/>
          <p:nvPr/>
        </p:nvSpPr>
        <p:spPr>
          <a:xfrm>
            <a:off x="7123176" y="2779776"/>
            <a:ext cx="1737360" cy="475488"/>
          </a:xfrm>
          <a:prstGeom prst="rect">
            <a:avLst/>
          </a:prstGeom>
          <a:noFill/>
          <a:ln/>
        </p:spPr>
        <p:txBody>
          <a:bodyPr wrap="square" lIns="0" tIns="0" rIns="0" bIns="0" rtlCol="0" anchor="ctr"/>
          <a:lstStyle/>
          <a:p>
            <a:pPr marL="0" indent="0">
              <a:buNone/>
            </a:pPr>
            <a:r>
              <a:rPr lang="en-US" sz="850" dirty="0">
                <a:solidFill>
                  <a:srgbClr val="CBD5E1"/>
                </a:solidFill>
                <a:latin typeface="Calibri" pitchFamily="34" charset="0"/>
                <a:ea typeface="Calibri" pitchFamily="34" charset="-122"/>
                <a:cs typeface="Calibri" pitchFamily="34" charset="-120"/>
              </a:rPr>
              <a:t>▸  Your HTML is different from every example</a:t>
            </a:r>
            <a:endParaRPr lang="en-US" sz="850" dirty="0"/>
          </a:p>
        </p:txBody>
      </p:sp>
      <p:sp>
        <p:nvSpPr>
          <p:cNvPr id="36" name="Text 34"/>
          <p:cNvSpPr/>
          <p:nvPr/>
        </p:nvSpPr>
        <p:spPr>
          <a:xfrm>
            <a:off x="7123176" y="3300984"/>
            <a:ext cx="1737360" cy="475488"/>
          </a:xfrm>
          <a:prstGeom prst="rect">
            <a:avLst/>
          </a:prstGeom>
          <a:noFill/>
          <a:ln/>
        </p:spPr>
        <p:txBody>
          <a:bodyPr wrap="square" lIns="0" tIns="0" rIns="0" bIns="0" rtlCol="0" anchor="ctr"/>
          <a:lstStyle/>
          <a:p>
            <a:pPr marL="0" indent="0">
              <a:buNone/>
            </a:pPr>
            <a:r>
              <a:rPr lang="en-US" sz="850" dirty="0">
                <a:solidFill>
                  <a:srgbClr val="CBD5E1"/>
                </a:solidFill>
                <a:latin typeface="Calibri" pitchFamily="34" charset="0"/>
                <a:ea typeface="Calibri" pitchFamily="34" charset="-122"/>
                <a:cs typeface="Calibri" pitchFamily="34" charset="-120"/>
              </a:rPr>
              <a:t>▸  Use Copilot for repetitive sections only</a:t>
            </a:r>
            <a:endParaRPr lang="en-US" sz="850" dirty="0"/>
          </a:p>
        </p:txBody>
      </p:sp>
      <p:sp>
        <p:nvSpPr>
          <p:cNvPr id="37" name="Text 35"/>
          <p:cNvSpPr/>
          <p:nvPr/>
        </p:nvSpPr>
        <p:spPr>
          <a:xfrm>
            <a:off x="7123176" y="3822192"/>
            <a:ext cx="1737360" cy="475488"/>
          </a:xfrm>
          <a:prstGeom prst="rect">
            <a:avLst/>
          </a:prstGeom>
          <a:noFill/>
          <a:ln/>
        </p:spPr>
        <p:txBody>
          <a:bodyPr wrap="square" lIns="0" tIns="0" rIns="0" bIns="0" rtlCol="0" anchor="ctr"/>
          <a:lstStyle/>
          <a:p>
            <a:pPr marL="0" indent="0">
              <a:buNone/>
            </a:pPr>
            <a:r>
              <a:rPr lang="en-US" sz="850" b="1" dirty="0">
                <a:solidFill>
                  <a:srgbClr val="00B4D8"/>
                </a:solidFill>
                <a:latin typeface="Calibri" pitchFamily="34" charset="0"/>
                <a:ea typeface="Calibri" pitchFamily="34" charset="-122"/>
                <a:cs typeface="Calibri" pitchFamily="34" charset="-120"/>
              </a:rPr>
              <a:t>▸  This is where your knowledge matters most</a:t>
            </a:r>
            <a:endParaRPr lang="en-US" sz="850" dirty="0"/>
          </a:p>
        </p:txBody>
      </p:sp>
      <p:sp>
        <p:nvSpPr>
          <p:cNvPr id="38" name="Shape 36"/>
          <p:cNvSpPr/>
          <p:nvPr/>
        </p:nvSpPr>
        <p:spPr>
          <a:xfrm>
            <a:off x="457200" y="4846320"/>
            <a:ext cx="8458200" cy="411480"/>
          </a:xfrm>
          <a:prstGeom prst="roundRect">
            <a:avLst>
              <a:gd name="adj" fmla="val 15556"/>
            </a:avLst>
          </a:prstGeom>
          <a:solidFill>
            <a:srgbClr val="0D1F35"/>
          </a:solidFill>
          <a:ln/>
        </p:spPr>
      </p:sp>
      <p:sp>
        <p:nvSpPr>
          <p:cNvPr id="39" name="Text 37"/>
          <p:cNvSpPr/>
          <p:nvPr/>
        </p:nvSpPr>
        <p:spPr>
          <a:xfrm>
            <a:off x="640080" y="4846320"/>
            <a:ext cx="8046720" cy="411480"/>
          </a:xfrm>
          <a:prstGeom prst="rect">
            <a:avLst/>
          </a:prstGeom>
          <a:noFill/>
          <a:ln/>
        </p:spPr>
        <p:txBody>
          <a:bodyPr wrap="square" lIns="0" tIns="0" rIns="0" bIns="0" rtlCol="0" anchor="ctr"/>
          <a:lstStyle/>
          <a:p>
            <a:pPr marL="0" indent="0">
              <a:buNone/>
            </a:pPr>
            <a:r>
              <a:rPr lang="en-US" sz="950" b="1" dirty="0">
                <a:solidFill>
                  <a:srgbClr val="00B4D8"/>
                </a:solidFill>
                <a:latin typeface="Calibri" pitchFamily="34" charset="0"/>
                <a:ea typeface="Calibri" pitchFamily="34" charset="-122"/>
                <a:cs typeface="Calibri" pitchFamily="34" charset="-120"/>
              </a:rPr>
              <a:t>Key resources:  </a:t>
            </a:r>
            <a:r>
              <a:rPr lang="en-US" sz="950" dirty="0">
                <a:solidFill>
                  <a:srgbClr val="CBD5E1"/>
                </a:solidFill>
                <a:latin typeface="Calibri" pitchFamily="34" charset="0"/>
                <a:ea typeface="Calibri" pitchFamily="34" charset="-122"/>
                <a:cs typeface="Calibri" pitchFamily="34" charset="-120"/>
              </a:rPr>
              <a:t>playwright.dev/docs/intro  ·  playwright.dev/docs/actionability  ·  playwright.dev/docs/locators</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TotalTime>
  <Words>2391</Words>
  <Application>Microsoft Office PowerPoint</Application>
  <PresentationFormat>On-screen Show (16:9)</PresentationFormat>
  <Paragraphs>170</Paragraphs>
  <Slides>5</Slides>
  <Notes>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vt:i4>
      </vt:variant>
    </vt:vector>
  </HeadingPairs>
  <TitlesOfParts>
    <vt:vector size="9" baseType="lpstr">
      <vt:lpstr>Arial</vt:lpstr>
      <vt:lpstr>Calibri</vt:lpstr>
      <vt:lpstr>Courier New</vt:lpstr>
      <vt:lpstr>Office Theme</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How I Actually Built This — Real Story</dc:title>
  <dc:subject>PptxGenJS Presentation</dc:subject>
  <dc:creator>PptxGenJS</dc:creator>
  <cp:lastModifiedBy>Mahantesh Pujar</cp:lastModifiedBy>
  <cp:revision>1</cp:revision>
  <dcterms:created xsi:type="dcterms:W3CDTF">2026-06-17T17:55:48Z</dcterms:created>
  <dcterms:modified xsi:type="dcterms:W3CDTF">2026-06-17T18:06:09Z</dcterms:modified>
</cp:coreProperties>
</file>