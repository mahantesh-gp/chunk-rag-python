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491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joining today's tech session. My name is Mahantesh, I am part of the EA GenAI team. Today I am going to talk about something very practical — a problem we faced with our internal dashboards and how we solved it using Playwright. This is not a deep expert session on Playwright. Think of it as — here is a problem we had, here is what we tried, and here is what worked. I hope by the end of it some of you find it useful for your own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will cover today. We will start with the problem — why we needed this in the first place. Then I will quickly explain what Playwright is for those who are new to it. A quick comparison with Selenium since many of you in the QA space will have that question. Then I will show you what we actually built, walk through some code, show you the report output, and finally talk about where we plan to take this next. We have about 30 minutes so let us get started.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talk about the problem, let me give you quick context about the dashboard we are working with. This is the GHCP Rollout Dashboard — it tracks how the GenAI SDLC initiative is being rolled out across teams. PMs and DRs update an Excel file every day. Our Python script reads that Excel and generates a single HTML file. That HTML is then deployed to our internal server where managers and leads can view it. Simple flow — Excel in, HTML out. But this simplicity brought its own challenges.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problem. Every single day after the dashboard is generated, someone on the team had to manually open the browser, go through each tab, click each filter, check each table, verify the drawer opens correctly — and this was taking anywhere from 30 to 45 minutes every day. Different developers check differently. There is no standard. There is no record of what was checked on which day. And if the person who usually does this is on leave — it either does not get done, or someone else does it inconsistently. This is not sustainable.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Playwright? Playwright is a browser automation tool built by Microsoft. It was released in 2020 and it is completely open source and free. The simplest way to think about it is — imagine a robot sitting at your computer. You give it instructions — open this page, click this button, check if this element exists. It does it automatically and tells you pass or fail. Some of you might be thinking — is this not what Selenium does? Yes, exactly the same concept. Playwright is just newer, simpler to set up, faster, and more stable.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quickly on Playwright versus Selenium — since many of you in the QA space will have this question. Both do the same job. The key difference is setup and stability. Selenium requires you to download a separate browser driver and keep it in sync with your Chrome version. Anyone who has hit the ChromeDriver version mismatch error knows how frustrating that is. Playwright handles all of that for you. The other big advantage is auto-wait. In Selenium you often have to manually add sleep statements. Playwright waits automatically until an element is ready. This makes tests much more stable.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what we built. One command — python run.py --dashboard rollout. That is all the developer runs. Behind the scenes, Playwright opens the dashboard in a real Chromium browser, runs 64 checks across 10 sections, takes 2 to 3 minutes, saves a report, and saves a screenshot. Same checks every single day. Same standard every time. No dependency on which developer is available.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what those 64 checks cover. We have 10 sections. Page load — does the dashboard open without JavaScript errors? Page structure — are all tab panels present? Overview tab — are all KPI cards visible? Then we check each of the 3 initiative tabs individually. Filters — we actually click each filter and verify the table responds. The drawer — we click the detail button and verify it opens with content. Collapsible section, timeline tab, security checks, and finally a screenshot saved as visual proof.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the actual code looks like. The pattern is very simple and consistent throughout the entire file. Every check follows the same three things — the section name, the actual check, and a description of what was checked. First example — check element exists. Second — we test interactions — click the timeline tab button, wait half a second, then check if the panel is visible. Third — how we test a filter — select Completed from the status dropdown, count the visible rows, record the result. Every single one of the 64 checks follows this exact same pattern. Anyone on this team who knows basic Python can read this, understand it, and add new checks.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report looks like after running the validation. Each section shows every check with a green tick for pass or red cross for fail. At the bottom — one clear line. All passed — safe to deploy. Or failed — fix before deploying. The report is also saved as a text file with the timestamp. So if someone asks — was the dashboard validated on Tuesday 29th April? You can open the report file and show exactly what was checked and what passed. This is something we never had before.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fits into our daily process. Before — Excel gets updated, Python generates the HTML, then someone spends 45 minutes checking manually, and if all is well the HTML gets deployed. After — same first two steps, then one command runs, 2-3 minutes later the report says all passed, and we deploy. That is it. 45 minutes reduced to 3 minutes. And we deploy with confidence every single time because we know exactly what was checked.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talk about where we plan to take this. Right now we are in Phase 1 — the developer manually runs the command after generating the dashboard. Phase 2 is extending this to all 5 dashboards we currently have. Phase 3 is where this becomes truly automated — running as part of the daily sync pipeline. No one has to remember to run it. It runs automatically, the report goes to our Teams channel, and if anything fails the deployment is blocked. Our manager's vision is to make this an organisation-wide standard.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the key takeaways. For the QA team — Playwright is worth exploring. Two commands to set up, gentle learning curve from Selenium. For developers — one file per dashboard, same pattern throughout, easy to add new checks. For managers — 45 minutes reduced to 3 minutes with a saved record every time. For everyone — this is not a QA specialist tool. Any developer can write and maintain these checks. Low effort, high value.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all from my side. Thank you for your time. I am happy to take questions. If you want to explore Playwright for your own work — the documentation at playwright.dev is excellent and very beginner friendly. If you want to look at our code or contribute — reach out to me directly. I am happy to do a separate walkthrough with anyone interested.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go deeper on what makes Playwright stand out from Selenium. Four key differences on this slide. Number one — auto-wait. This is the single biggest difference. In Selenium you write manual wait statements before every action. Miss one and your test fails randomly. Playwright waits automatically — before every click, every fill, every check — it waits until the element is visible, stable, enabled, and not covered by something else. You never write a wait statement. Number two — locators. Selenium finds by ID, XPath, class — all of which break when the UI changes. Playwright has get_by_role, get_by_label, get_by_text — you find elements the way a user sees them. These survive UI changes much better. Number three — test isolation. Selenium shares one browser session across tests — state leaks, cookies carry over, you need to manually clean up. Playwright gives each test a fresh browser context — like a new incognito window — zero shared state, no cleanup needed. Number four — setup. Selenium needs you to manually download ChromeDriver and keep it in sync with your Chrome version. It breaks every time Chrome updates. Playwright manages the browser itself. Two commands and you are done. Forever.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points. Number five — tooling. Selenium gives you a library and nothing else. You need TestNG or Allure for reports, third-party tools for recording, separate IDEs for debugging. Playwright bundles everything. The Test Generator records your browser actions and writes the test code for you. The Trace Viewer gives you a full timeline of every test run — DOM snapshots, network requests, console logs, screenshots at every step. The HTML Reporter is beautiful and built in — no setup. The VS Code extension lets you run, debug, and generate tests without ever opening a terminal. UI Mode gives you watch mode and time travel debugging. All of this — built in, no extra setup. Number six — parallel by default. Playwright runs tests in parallel out of the box across all three browsers. Selenium is sequential by default — parallel needs complex configuration with TestNG or JUnit parallel runners. Number seven — modern web. Shadow DOM, iFrames, network mocking, API testing, mobile emulation — all built in. Playwright was built in 2020 specifically for modern web applications. Selenium was built in 2004 and has been retrofitting these features ever since. 90,000 GitHub stars. Used by Microsoft, Adobe, Disney, ING, the VS Code team itself. This is the industry direction.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something exciting. Playwright is no longer just a testing library. It has evolved into three distinct products. First — Playwright Test. This is what we use. Core browser automation — Python, JavaScript, Java, dot NET. Works on Chromium, Firefox, and WebKit. Auto-wait, assertions, HTML reports, trace viewer, parallel execution. This is what you install with pip install playwright. Second — Playwright MCP. MCP stands for Model Context Protocol. This is a server that gives AI models — Claude, GitHub Copilot, Cursor, Windsurf — full control of a real browser. The AI reads an accessibility snapshot — structured text showing every element on the page — and decides what to click, what to fill, what to check. No screenshots needed, no vision model required. 40 plus browser tools available. This is why I mentioned MCP is disabled in our organisation — our validation does not use this. We use plain Playwright Test. Third — Playwright CLI. A newer product designed specifically for AI coding agents like Claude Code and GitHub Copilot. Token-efficient — each command outputs 200 to 400 tokens instead of thousands for a full DOM dump. Purpose-built for agents that need to balance browser automation with large codebases within limited context windows. This is where Playwright is heading — a platform for both humans and AI to automate browsers.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quickly show you the VS Code extension — because this is something many developers will find immediately useful. Install it from the VS Code marketplace — just search Playwright. Once installed you get six things directly in your editor. Run tests with a click — no terminal. Set breakpoints and debug line by line. Generate tests by clicking in a browser — Playwright writes the code. Hover any element and see its Playwright selector instantly. View full execution traces in the sidebar. And watch mode — tests re-run automatically as you save your file. On the right — a glimpse of what else Playwright can do that we have not even touched in our project. API testing — test REST APIs in the same framework as your UI tests. Network mocking — intercept any HTTP call and return a mock response. Mobile emulation — test on an iPhone or Android viewport without a real device. Accessibility testing — built in ARIA checks. Visual comparison — screenshot diff to catch unintended UI changes. Video recording — record every test run as a video for debugging. Authentication state reuse — log in once and reuse that state across all your tests. This is why I say Playwright is worth exploring. We are only using a fraction of what it can do. The starting point is playwright.dev — the documentation is excellent and the community on Discord and Stack Overflow is very active.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go through Playwright's core features one by one so you have the complete picture. First — Auto-Wait. Before every single action — click, fill, check — Playwright verifies five things automatically. Is the element Visible on screen? Is it Stable — not mid-animation? Is it Enabled — not disabled? Does it Receive Events — not covered by another element? Is it Attached to the DOM? Only when all five pass does the action execute. No sleep statements. No manual waits. This is why Playwright tests are reliable. Second — Smart Assertions. Playwright's expect() function does not just check once. It retries automatically until the condition is true — up to 5 seconds by default. So if you say expect element to be visible, and it is loading — Playwright keeps checking until it appears. This eliminates another huge category of flaky tests. Third — Resilient Locators. Instead of brittle CSS selectors or XPath — Playwright finds elements the way a human would. get_by_role finds buttons, links, checkboxes by their accessibility role. get_by_label finds form fields by their label. get_by_text finds anything by its visible text. These locators survive CSS class name changes and DOM restructuring. Fourth — Test Isolation. Each test gets a completely fresh browser context — cookies, cache, storage all cleared. No state leaks. And if you need to stay logged in — you save the authentication state once and reuse it across all tests without logging in again. Fifth — Network Control. You can intercept any HTTP request, return a mock response, simulate network errors, or test offline scenarios. This is hugely powerful for testing error states that are hard to reproduce in a real environment. Sixth — Emulation. Test on iPhone, Android, custom viewport sizes, with geolocation mocked, in different timezones, in dark mode, or offline. All without a real device.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has two parts. Top half — the five main tools Playwright gives you. The Test Generator lets you click through your website and Playwright writes the test code automatically. Zero coding to start — just click and record. The Trace Viewer is what I would call the debugging superpower. After any test run you get a full timeline — every action, every DOM snapshot, every network request, every console log, every screenshot at each step. When a test fails — you open the trace and see exactly what happened, exactly what the page looked like at the moment of failure. No re-running needed. The HTML Reporter gives you a beautiful dashboard after every run — filter by browser, by pass, fail, flaky, or skipped. Click any test to see full details. The VS Code extension puts all of this inside your editor — run, debug, generate, inspect locators — without ever opening a terminal. And UI Mode is my personal favourite for development — watch mode where tests re-run automatically as you save, plus time travel debugging where you can step backwards through any test execution. Bottom half — the three Playwright products in a comparison table. You can see clearly — Playwright Test is what we use, it requires no MCP, runs via Python or any other language. Playwright MCP gives AI models like Claude and Copilot full browser control via the Model Context Protocol — not applicable for us because MCP is disabled in our organisation. Playwright CLI is for AI coding agents and works without MCP — uses command line instead. All three use accessibility snapshots for efficient element interaction. The key thing to note — only Playwright Test is relevant for our project today. The other two are the future direction — where browser automation and AI are converging.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E3A5F"/>
          </a:solidFill>
          <a:ln/>
        </p:spPr>
      </p:sp>
      <p:sp>
        <p:nvSpPr>
          <p:cNvPr id="3" name="Shape 1"/>
          <p:cNvSpPr/>
          <p:nvPr/>
        </p:nvSpPr>
        <p:spPr>
          <a:xfrm>
            <a:off x="0" y="4389120"/>
            <a:ext cx="9144000" cy="754380"/>
          </a:xfrm>
          <a:prstGeom prst="rect">
            <a:avLst/>
          </a:prstGeom>
          <a:solidFill>
            <a:srgbClr val="0D1F35"/>
          </a:solidFill>
          <a:ln/>
        </p:spPr>
      </p:sp>
      <p:sp>
        <p:nvSpPr>
          <p:cNvPr id="4" name="Shape 2"/>
          <p:cNvSpPr/>
          <p:nvPr/>
        </p:nvSpPr>
        <p:spPr>
          <a:xfrm>
            <a:off x="6858000" y="914400"/>
            <a:ext cx="3200400" cy="3200400"/>
          </a:xfrm>
          <a:prstGeom prst="ellipse">
            <a:avLst/>
          </a:prstGeom>
          <a:solidFill>
            <a:srgbClr val="00B4D8">
              <a:alpha val="12000"/>
            </a:srgbClr>
          </a:solidFill>
          <a:ln w="6350">
            <a:solidFill>
              <a:srgbClr val="00B4D8">
                <a:alpha val="40000"/>
              </a:srgbClr>
            </a:solidFill>
            <a:prstDash val="solid"/>
          </a:ln>
        </p:spPr>
      </p:sp>
      <p:sp>
        <p:nvSpPr>
          <p:cNvPr id="5" name="Text 3"/>
          <p:cNvSpPr/>
          <p:nvPr/>
        </p:nvSpPr>
        <p:spPr>
          <a:xfrm>
            <a:off x="548640" y="274320"/>
            <a:ext cx="4572000" cy="457200"/>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Tech Session</a:t>
            </a:r>
            <a:endParaRPr lang="en-US" sz="1300" dirty="0"/>
          </a:p>
        </p:txBody>
      </p:sp>
      <p:sp>
        <p:nvSpPr>
          <p:cNvPr id="6" name="Text 4"/>
          <p:cNvSpPr/>
          <p:nvPr/>
        </p:nvSpPr>
        <p:spPr>
          <a:xfrm>
            <a:off x="548640" y="1280160"/>
            <a:ext cx="731520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Automated UI Validation</a:t>
            </a:r>
            <a:endParaRPr lang="en-US" sz="3400" dirty="0"/>
          </a:p>
        </p:txBody>
      </p:sp>
      <p:sp>
        <p:nvSpPr>
          <p:cNvPr id="7" name="Text 5"/>
          <p:cNvSpPr/>
          <p:nvPr/>
        </p:nvSpPr>
        <p:spPr>
          <a:xfrm>
            <a:off x="548640" y="2057400"/>
            <a:ext cx="7315200" cy="640080"/>
          </a:xfrm>
          <a:prstGeom prst="rect">
            <a:avLst/>
          </a:prstGeom>
          <a:noFill/>
          <a:ln/>
        </p:spPr>
        <p:txBody>
          <a:bodyPr wrap="square" lIns="0" tIns="0" rIns="0" bIns="0" rtlCol="0" anchor="ctr"/>
          <a:lstStyle/>
          <a:p>
            <a:pPr marL="0" indent="0">
              <a:buNone/>
            </a:pPr>
            <a:r>
              <a:rPr lang="en-US" sz="2800" dirty="0">
                <a:solidFill>
                  <a:srgbClr val="00B4D8"/>
                </a:solidFill>
                <a:latin typeface="Calibri" pitchFamily="34" charset="0"/>
                <a:ea typeface="Calibri" pitchFamily="34" charset="-122"/>
                <a:cs typeface="Calibri" pitchFamily="34" charset="-120"/>
              </a:rPr>
              <a:t>using Playwright</a:t>
            </a:r>
            <a:endParaRPr lang="en-US" sz="2800" dirty="0"/>
          </a:p>
        </p:txBody>
      </p:sp>
      <p:sp>
        <p:nvSpPr>
          <p:cNvPr id="8" name="Text 6"/>
          <p:cNvSpPr/>
          <p:nvPr/>
        </p:nvSpPr>
        <p:spPr>
          <a:xfrm>
            <a:off x="548640" y="2834640"/>
            <a:ext cx="68580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GHCP Rollout Dashboard — A Practical Approach</a:t>
            </a:r>
            <a:endParaRPr lang="en-US" sz="1300" dirty="0"/>
          </a:p>
        </p:txBody>
      </p:sp>
      <p:sp>
        <p:nvSpPr>
          <p:cNvPr id="9" name="Text 7"/>
          <p:cNvSpPr/>
          <p:nvPr/>
        </p:nvSpPr>
        <p:spPr>
          <a:xfrm>
            <a:off x="548640" y="4480560"/>
            <a:ext cx="73152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Mahantesh  |  EA GenAI Team  |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AGENDA</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We Will Cover Today</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7" name="Shape 5"/>
          <p:cNvSpPr/>
          <p:nvPr/>
        </p:nvSpPr>
        <p:spPr>
          <a:xfrm>
            <a:off x="530352" y="1014984"/>
            <a:ext cx="420624" cy="420624"/>
          </a:xfrm>
          <a:prstGeom prst="roundRect">
            <a:avLst>
              <a:gd name="adj" fmla="val 10870"/>
            </a:avLst>
          </a:prstGeom>
          <a:solidFill>
            <a:srgbClr val="00B4D8"/>
          </a:solidFill>
          <a:ln/>
        </p:spPr>
      </p:sp>
      <p:sp>
        <p:nvSpPr>
          <p:cNvPr id="8" name="Text 6"/>
          <p:cNvSpPr/>
          <p:nvPr/>
        </p:nvSpPr>
        <p:spPr>
          <a:xfrm>
            <a:off x="530352" y="101498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051560" y="96012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Problem Statement</a:t>
            </a:r>
            <a:endParaRPr lang="en-US" sz="1200" dirty="0"/>
          </a:p>
        </p:txBody>
      </p:sp>
      <p:sp>
        <p:nvSpPr>
          <p:cNvPr id="10" name="Text 8"/>
          <p:cNvSpPr/>
          <p:nvPr/>
        </p:nvSpPr>
        <p:spPr>
          <a:xfrm>
            <a:off x="1051560" y="127101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What problem we had with our dashboards</a:t>
            </a:r>
            <a:endParaRPr lang="en-US" sz="950" dirty="0"/>
          </a:p>
        </p:txBody>
      </p:sp>
      <p:sp>
        <p:nvSpPr>
          <p:cNvPr id="11" name="Shape 9"/>
          <p:cNvSpPr/>
          <p:nvPr/>
        </p:nvSpPr>
        <p:spPr>
          <a:xfrm>
            <a:off x="457200" y="182880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12" name="Shape 10"/>
          <p:cNvSpPr/>
          <p:nvPr/>
        </p:nvSpPr>
        <p:spPr>
          <a:xfrm>
            <a:off x="530352" y="1975104"/>
            <a:ext cx="420624" cy="420624"/>
          </a:xfrm>
          <a:prstGeom prst="roundRect">
            <a:avLst>
              <a:gd name="adj" fmla="val 10870"/>
            </a:avLst>
          </a:prstGeom>
          <a:solidFill>
            <a:srgbClr val="00B4D8"/>
          </a:solidFill>
          <a:ln/>
        </p:spPr>
      </p:sp>
      <p:sp>
        <p:nvSpPr>
          <p:cNvPr id="13" name="Text 11"/>
          <p:cNvSpPr/>
          <p:nvPr/>
        </p:nvSpPr>
        <p:spPr>
          <a:xfrm>
            <a:off x="530352" y="19751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1051560" y="192024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What is Playwright</a:t>
            </a:r>
            <a:endParaRPr lang="en-US" sz="1200" dirty="0"/>
          </a:p>
        </p:txBody>
      </p:sp>
      <p:sp>
        <p:nvSpPr>
          <p:cNvPr id="15" name="Text 13"/>
          <p:cNvSpPr/>
          <p:nvPr/>
        </p:nvSpPr>
        <p:spPr>
          <a:xfrm>
            <a:off x="1051560" y="223113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Simple explanation — no jargon</a:t>
            </a:r>
            <a:endParaRPr lang="en-US" sz="950" dirty="0"/>
          </a:p>
        </p:txBody>
      </p:sp>
      <p:sp>
        <p:nvSpPr>
          <p:cNvPr id="16" name="Shape 14"/>
          <p:cNvSpPr/>
          <p:nvPr/>
        </p:nvSpPr>
        <p:spPr>
          <a:xfrm>
            <a:off x="457200" y="278892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17" name="Shape 15"/>
          <p:cNvSpPr/>
          <p:nvPr/>
        </p:nvSpPr>
        <p:spPr>
          <a:xfrm>
            <a:off x="530352" y="2935224"/>
            <a:ext cx="420624" cy="420624"/>
          </a:xfrm>
          <a:prstGeom prst="roundRect">
            <a:avLst>
              <a:gd name="adj" fmla="val 10870"/>
            </a:avLst>
          </a:prstGeom>
          <a:solidFill>
            <a:srgbClr val="00B4D8"/>
          </a:solidFill>
          <a:ln/>
        </p:spPr>
      </p:sp>
      <p:sp>
        <p:nvSpPr>
          <p:cNvPr id="18" name="Text 16"/>
          <p:cNvSpPr/>
          <p:nvPr/>
        </p:nvSpPr>
        <p:spPr>
          <a:xfrm>
            <a:off x="530352" y="293522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051560" y="288036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Playwright vs Selenium</a:t>
            </a:r>
            <a:endParaRPr lang="en-US" sz="1200" dirty="0"/>
          </a:p>
        </p:txBody>
      </p:sp>
      <p:sp>
        <p:nvSpPr>
          <p:cNvPr id="20" name="Text 18"/>
          <p:cNvSpPr/>
          <p:nvPr/>
        </p:nvSpPr>
        <p:spPr>
          <a:xfrm>
            <a:off x="1051560" y="319125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Quick comparison for QA team</a:t>
            </a:r>
            <a:endParaRPr lang="en-US" sz="950" dirty="0"/>
          </a:p>
        </p:txBody>
      </p:sp>
      <p:sp>
        <p:nvSpPr>
          <p:cNvPr id="21" name="Shape 19"/>
          <p:cNvSpPr/>
          <p:nvPr/>
        </p:nvSpPr>
        <p:spPr>
          <a:xfrm>
            <a:off x="457200" y="374904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2" name="Shape 20"/>
          <p:cNvSpPr/>
          <p:nvPr/>
        </p:nvSpPr>
        <p:spPr>
          <a:xfrm>
            <a:off x="530352" y="3895344"/>
            <a:ext cx="420624" cy="420624"/>
          </a:xfrm>
          <a:prstGeom prst="roundRect">
            <a:avLst>
              <a:gd name="adj" fmla="val 10870"/>
            </a:avLst>
          </a:prstGeom>
          <a:solidFill>
            <a:srgbClr val="00B4D8"/>
          </a:solidFill>
          <a:ln/>
        </p:spPr>
      </p:sp>
      <p:sp>
        <p:nvSpPr>
          <p:cNvPr id="23" name="Text 21"/>
          <p:cNvSpPr/>
          <p:nvPr/>
        </p:nvSpPr>
        <p:spPr>
          <a:xfrm>
            <a:off x="530352" y="389534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1051560" y="384048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What We Built</a:t>
            </a:r>
            <a:endParaRPr lang="en-US" sz="1200" dirty="0"/>
          </a:p>
        </p:txBody>
      </p:sp>
      <p:sp>
        <p:nvSpPr>
          <p:cNvPr id="25" name="Text 23"/>
          <p:cNvSpPr/>
          <p:nvPr/>
        </p:nvSpPr>
        <p:spPr>
          <a:xfrm>
            <a:off x="1051560" y="415137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Our solution — one command, 64 checks</a:t>
            </a:r>
            <a:endParaRPr lang="en-US" sz="950" dirty="0"/>
          </a:p>
        </p:txBody>
      </p:sp>
      <p:sp>
        <p:nvSpPr>
          <p:cNvPr id="26" name="Shape 24"/>
          <p:cNvSpPr/>
          <p:nvPr/>
        </p:nvSpPr>
        <p:spPr>
          <a:xfrm>
            <a:off x="4846320" y="86868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7" name="Shape 25"/>
          <p:cNvSpPr/>
          <p:nvPr/>
        </p:nvSpPr>
        <p:spPr>
          <a:xfrm>
            <a:off x="4919472" y="1014984"/>
            <a:ext cx="420624" cy="420624"/>
          </a:xfrm>
          <a:prstGeom prst="roundRect">
            <a:avLst>
              <a:gd name="adj" fmla="val 10870"/>
            </a:avLst>
          </a:prstGeom>
          <a:solidFill>
            <a:srgbClr val="00B4D8"/>
          </a:solidFill>
          <a:ln/>
        </p:spPr>
      </p:sp>
      <p:sp>
        <p:nvSpPr>
          <p:cNvPr id="28" name="Text 26"/>
          <p:cNvSpPr/>
          <p:nvPr/>
        </p:nvSpPr>
        <p:spPr>
          <a:xfrm>
            <a:off x="4919472" y="101498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9" name="Text 27"/>
          <p:cNvSpPr/>
          <p:nvPr/>
        </p:nvSpPr>
        <p:spPr>
          <a:xfrm>
            <a:off x="5440680" y="96012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Code Walkthrough</a:t>
            </a:r>
            <a:endParaRPr lang="en-US" sz="1200" dirty="0"/>
          </a:p>
        </p:txBody>
      </p:sp>
      <p:sp>
        <p:nvSpPr>
          <p:cNvPr id="30" name="Text 28"/>
          <p:cNvSpPr/>
          <p:nvPr/>
        </p:nvSpPr>
        <p:spPr>
          <a:xfrm>
            <a:off x="5440680" y="127101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See how the checks are written</a:t>
            </a:r>
            <a:endParaRPr lang="en-US" sz="950" dirty="0"/>
          </a:p>
        </p:txBody>
      </p:sp>
      <p:sp>
        <p:nvSpPr>
          <p:cNvPr id="31" name="Shape 29"/>
          <p:cNvSpPr/>
          <p:nvPr/>
        </p:nvSpPr>
        <p:spPr>
          <a:xfrm>
            <a:off x="4846320" y="182880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2" name="Shape 30"/>
          <p:cNvSpPr/>
          <p:nvPr/>
        </p:nvSpPr>
        <p:spPr>
          <a:xfrm>
            <a:off x="4919472" y="1975104"/>
            <a:ext cx="420624" cy="420624"/>
          </a:xfrm>
          <a:prstGeom prst="roundRect">
            <a:avLst>
              <a:gd name="adj" fmla="val 10870"/>
            </a:avLst>
          </a:prstGeom>
          <a:solidFill>
            <a:srgbClr val="00B4D8"/>
          </a:solidFill>
          <a:ln/>
        </p:spPr>
      </p:sp>
      <p:sp>
        <p:nvSpPr>
          <p:cNvPr id="33" name="Text 31"/>
          <p:cNvSpPr/>
          <p:nvPr/>
        </p:nvSpPr>
        <p:spPr>
          <a:xfrm>
            <a:off x="4919472" y="19751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4" name="Text 32"/>
          <p:cNvSpPr/>
          <p:nvPr/>
        </p:nvSpPr>
        <p:spPr>
          <a:xfrm>
            <a:off x="5440680" y="192024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Report Output</a:t>
            </a:r>
            <a:endParaRPr lang="en-US" sz="1200" dirty="0"/>
          </a:p>
        </p:txBody>
      </p:sp>
      <p:sp>
        <p:nvSpPr>
          <p:cNvPr id="35" name="Text 33"/>
          <p:cNvSpPr/>
          <p:nvPr/>
        </p:nvSpPr>
        <p:spPr>
          <a:xfrm>
            <a:off x="5440680" y="223113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What pass and fail looks like</a:t>
            </a:r>
            <a:endParaRPr lang="en-US" sz="950" dirty="0"/>
          </a:p>
        </p:txBody>
      </p:sp>
      <p:sp>
        <p:nvSpPr>
          <p:cNvPr id="36" name="Shape 34"/>
          <p:cNvSpPr/>
          <p:nvPr/>
        </p:nvSpPr>
        <p:spPr>
          <a:xfrm>
            <a:off x="4846320" y="2788920"/>
            <a:ext cx="420624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7" name="Shape 35"/>
          <p:cNvSpPr/>
          <p:nvPr/>
        </p:nvSpPr>
        <p:spPr>
          <a:xfrm>
            <a:off x="4919472" y="2935224"/>
            <a:ext cx="420624" cy="420624"/>
          </a:xfrm>
          <a:prstGeom prst="roundRect">
            <a:avLst>
              <a:gd name="adj" fmla="val 10870"/>
            </a:avLst>
          </a:prstGeom>
          <a:solidFill>
            <a:srgbClr val="00B4D8"/>
          </a:solidFill>
          <a:ln/>
        </p:spPr>
      </p:sp>
      <p:sp>
        <p:nvSpPr>
          <p:cNvPr id="38" name="Text 36"/>
          <p:cNvSpPr/>
          <p:nvPr/>
        </p:nvSpPr>
        <p:spPr>
          <a:xfrm>
            <a:off x="4919472" y="293522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9" name="Text 37"/>
          <p:cNvSpPr/>
          <p:nvPr/>
        </p:nvSpPr>
        <p:spPr>
          <a:xfrm>
            <a:off x="5440680" y="2880360"/>
            <a:ext cx="3520440" cy="292608"/>
          </a:xfrm>
          <a:prstGeom prst="rect">
            <a:avLst/>
          </a:prstGeom>
          <a:noFill/>
          <a:ln/>
        </p:spPr>
        <p:txBody>
          <a:bodyPr wrap="square" lIns="0" tIns="0" rIns="0" bIns="0" rtlCol="0" anchor="ctr"/>
          <a:lstStyle/>
          <a:p>
            <a:pPr marL="0" indent="0">
              <a:buNone/>
            </a:pPr>
            <a:r>
              <a:rPr lang="en-US" sz="1200" b="1" dirty="0">
                <a:solidFill>
                  <a:srgbClr val="1A2A4A"/>
                </a:solidFill>
                <a:latin typeface="Calibri" pitchFamily="34" charset="0"/>
                <a:ea typeface="Calibri" pitchFamily="34" charset="-122"/>
                <a:cs typeface="Calibri" pitchFamily="34" charset="-120"/>
              </a:rPr>
              <a:t>Future Plan</a:t>
            </a:r>
            <a:endParaRPr lang="en-US" sz="1200" dirty="0"/>
          </a:p>
        </p:txBody>
      </p:sp>
      <p:sp>
        <p:nvSpPr>
          <p:cNvPr id="40" name="Text 38"/>
          <p:cNvSpPr/>
          <p:nvPr/>
        </p:nvSpPr>
        <p:spPr>
          <a:xfrm>
            <a:off x="5440680" y="3191256"/>
            <a:ext cx="352044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Where we are taking this next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CONTEXT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GHCP Rollout Dashboard — What Is It?</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1737360" cy="1234440"/>
          </a:xfrm>
          <a:prstGeom prst="roundRect">
            <a:avLst>
              <a:gd name="adj" fmla="val 7407"/>
            </a:avLst>
          </a:prstGeom>
          <a:solidFill>
            <a:srgbClr val="1A2A4A"/>
          </a:solidFill>
          <a:ln/>
        </p:spPr>
      </p:sp>
      <p:sp>
        <p:nvSpPr>
          <p:cNvPr id="7" name="Text 5"/>
          <p:cNvSpPr/>
          <p:nvPr/>
        </p:nvSpPr>
        <p:spPr>
          <a:xfrm>
            <a:off x="457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Excel File</a:t>
            </a:r>
            <a:endParaRPr lang="en-US" sz="1100" dirty="0"/>
          </a:p>
        </p:txBody>
      </p:sp>
      <p:sp>
        <p:nvSpPr>
          <p:cNvPr id="8" name="Text 6"/>
          <p:cNvSpPr/>
          <p:nvPr/>
        </p:nvSpPr>
        <p:spPr>
          <a:xfrm>
            <a:off x="457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Updated by</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PMs &amp; DRs daily</a:t>
            </a:r>
            <a:endParaRPr lang="en-US" sz="900" dirty="0"/>
          </a:p>
        </p:txBody>
      </p:sp>
      <p:sp>
        <p:nvSpPr>
          <p:cNvPr id="9" name="Shape 7"/>
          <p:cNvSpPr/>
          <p:nvPr/>
        </p:nvSpPr>
        <p:spPr>
          <a:xfrm>
            <a:off x="2743200" y="868680"/>
            <a:ext cx="1737360" cy="1234440"/>
          </a:xfrm>
          <a:prstGeom prst="roundRect">
            <a:avLst>
              <a:gd name="adj" fmla="val 7407"/>
            </a:avLst>
          </a:prstGeom>
          <a:solidFill>
            <a:srgbClr val="1A2A4A"/>
          </a:solidFill>
          <a:ln/>
        </p:spPr>
      </p:sp>
      <p:sp>
        <p:nvSpPr>
          <p:cNvPr id="10" name="Text 8"/>
          <p:cNvSpPr/>
          <p:nvPr/>
        </p:nvSpPr>
        <p:spPr>
          <a:xfrm>
            <a:off x="2743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Python Script</a:t>
            </a:r>
            <a:endParaRPr lang="en-US" sz="1100" dirty="0"/>
          </a:p>
        </p:txBody>
      </p:sp>
      <p:sp>
        <p:nvSpPr>
          <p:cNvPr id="11" name="Text 9"/>
          <p:cNvSpPr/>
          <p:nvPr/>
        </p:nvSpPr>
        <p:spPr>
          <a:xfrm>
            <a:off x="2743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Reads Excel,</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generates HTML</a:t>
            </a:r>
            <a:endParaRPr lang="en-US" sz="900" dirty="0"/>
          </a:p>
        </p:txBody>
      </p:sp>
      <p:sp>
        <p:nvSpPr>
          <p:cNvPr id="12" name="Shape 10"/>
          <p:cNvSpPr/>
          <p:nvPr/>
        </p:nvSpPr>
        <p:spPr>
          <a:xfrm>
            <a:off x="5029200" y="868680"/>
            <a:ext cx="1737360" cy="1234440"/>
          </a:xfrm>
          <a:prstGeom prst="roundRect">
            <a:avLst>
              <a:gd name="adj" fmla="val 7407"/>
            </a:avLst>
          </a:prstGeom>
          <a:solidFill>
            <a:srgbClr val="1A2A4A"/>
          </a:solidFill>
          <a:ln/>
        </p:spPr>
      </p:sp>
      <p:sp>
        <p:nvSpPr>
          <p:cNvPr id="13" name="Text 11"/>
          <p:cNvSpPr/>
          <p:nvPr/>
        </p:nvSpPr>
        <p:spPr>
          <a:xfrm>
            <a:off x="5029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HTML Dashboard</a:t>
            </a:r>
            <a:endParaRPr lang="en-US" sz="1100" dirty="0"/>
          </a:p>
        </p:txBody>
      </p:sp>
      <p:sp>
        <p:nvSpPr>
          <p:cNvPr id="14" name="Text 12"/>
          <p:cNvSpPr/>
          <p:nvPr/>
        </p:nvSpPr>
        <p:spPr>
          <a:xfrm>
            <a:off x="5029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Deployed to</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internal server</a:t>
            </a:r>
            <a:endParaRPr lang="en-US" sz="900" dirty="0"/>
          </a:p>
        </p:txBody>
      </p:sp>
      <p:sp>
        <p:nvSpPr>
          <p:cNvPr id="15" name="Shape 13"/>
          <p:cNvSpPr/>
          <p:nvPr/>
        </p:nvSpPr>
        <p:spPr>
          <a:xfrm>
            <a:off x="7315200" y="868680"/>
            <a:ext cx="1737360" cy="1234440"/>
          </a:xfrm>
          <a:prstGeom prst="roundRect">
            <a:avLst>
              <a:gd name="adj" fmla="val 7407"/>
            </a:avLst>
          </a:prstGeom>
          <a:solidFill>
            <a:srgbClr val="1A2A4A"/>
          </a:solidFill>
          <a:ln/>
        </p:spPr>
      </p:sp>
      <p:sp>
        <p:nvSpPr>
          <p:cNvPr id="16" name="Text 14"/>
          <p:cNvSpPr/>
          <p:nvPr/>
        </p:nvSpPr>
        <p:spPr>
          <a:xfrm>
            <a:off x="7315200" y="960120"/>
            <a:ext cx="1737360" cy="41148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Managers / DRs</a:t>
            </a:r>
            <a:endParaRPr lang="en-US" sz="1100" dirty="0"/>
          </a:p>
        </p:txBody>
      </p:sp>
      <p:sp>
        <p:nvSpPr>
          <p:cNvPr id="17" name="Text 15"/>
          <p:cNvSpPr/>
          <p:nvPr/>
        </p:nvSpPr>
        <p:spPr>
          <a:xfrm>
            <a:off x="7315200" y="1389888"/>
            <a:ext cx="1737360" cy="640080"/>
          </a:xfrm>
          <a:prstGeom prst="rect">
            <a:avLst/>
          </a:prstGeom>
          <a:noFill/>
          <a:ln/>
        </p:spPr>
        <p:txBody>
          <a:bodyPr wrap="square" lIns="0" tIns="0" rIns="0" bIns="0" rtlCol="0" anchor="ctr"/>
          <a:lstStyle/>
          <a:p>
            <a:pPr marL="0" indent="0" algn="ctr">
              <a:buNone/>
            </a:pPr>
            <a:r>
              <a:rPr lang="en-US" sz="900" dirty="0">
                <a:solidFill>
                  <a:srgbClr val="CBD5E1"/>
                </a:solidFill>
                <a:latin typeface="Calibri" pitchFamily="34" charset="0"/>
                <a:ea typeface="Calibri" pitchFamily="34" charset="-122"/>
                <a:cs typeface="Calibri" pitchFamily="34" charset="-120"/>
              </a:rPr>
              <a:t>View on browser</a:t>
            </a:r>
            <a:endParaRPr lang="en-US" sz="900" dirty="0"/>
          </a:p>
          <a:p>
            <a:pPr marL="0" indent="0" algn="ctr">
              <a:buNone/>
            </a:pPr>
            <a:r>
              <a:rPr lang="en-US" sz="900" dirty="0">
                <a:solidFill>
                  <a:srgbClr val="CBD5E1"/>
                </a:solidFill>
                <a:latin typeface="Calibri" pitchFamily="34" charset="0"/>
                <a:ea typeface="Calibri" pitchFamily="34" charset="-122"/>
                <a:cs typeface="Calibri" pitchFamily="34" charset="-120"/>
              </a:rPr>
              <a:t>daily</a:t>
            </a:r>
            <a:endParaRPr lang="en-US" sz="900" dirty="0"/>
          </a:p>
        </p:txBody>
      </p:sp>
      <p:sp>
        <p:nvSpPr>
          <p:cNvPr id="18" name="Shape 16"/>
          <p:cNvSpPr/>
          <p:nvPr/>
        </p:nvSpPr>
        <p:spPr>
          <a:xfrm>
            <a:off x="2057400" y="1485900"/>
            <a:ext cx="274320" cy="0"/>
          </a:xfrm>
          <a:prstGeom prst="line">
            <a:avLst/>
          </a:prstGeom>
          <a:noFill/>
          <a:ln w="25400">
            <a:solidFill>
              <a:srgbClr val="00B4D8"/>
            </a:solidFill>
            <a:prstDash val="solid"/>
          </a:ln>
        </p:spPr>
      </p:sp>
      <p:sp>
        <p:nvSpPr>
          <p:cNvPr id="19" name="Text 17"/>
          <p:cNvSpPr/>
          <p:nvPr/>
        </p:nvSpPr>
        <p:spPr>
          <a:xfrm>
            <a:off x="2075688" y="1389888"/>
            <a:ext cx="274320" cy="274320"/>
          </a:xfrm>
          <a:prstGeom prst="rect">
            <a:avLst/>
          </a:prstGeom>
          <a:noFill/>
          <a:ln/>
        </p:spPr>
        <p:txBody>
          <a:bodyPr wrap="square" lIns="0" tIns="0" rIns="0" bIns="0" rtlCol="0" anchor="ctr"/>
          <a:lstStyle/>
          <a:p>
            <a:pPr marL="0" indent="0">
              <a:buNone/>
            </a:pPr>
            <a:r>
              <a:rPr lang="en-US" sz="1400" dirty="0">
                <a:solidFill>
                  <a:srgbClr val="00B4D8"/>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4343400" y="1485900"/>
            <a:ext cx="274320" cy="0"/>
          </a:xfrm>
          <a:prstGeom prst="line">
            <a:avLst/>
          </a:prstGeom>
          <a:noFill/>
          <a:ln w="25400">
            <a:solidFill>
              <a:srgbClr val="00B4D8"/>
            </a:solidFill>
            <a:prstDash val="solid"/>
          </a:ln>
        </p:spPr>
      </p:sp>
      <p:sp>
        <p:nvSpPr>
          <p:cNvPr id="21" name="Text 19"/>
          <p:cNvSpPr/>
          <p:nvPr/>
        </p:nvSpPr>
        <p:spPr>
          <a:xfrm>
            <a:off x="4361688" y="1389888"/>
            <a:ext cx="274320" cy="274320"/>
          </a:xfrm>
          <a:prstGeom prst="rect">
            <a:avLst/>
          </a:prstGeom>
          <a:noFill/>
          <a:ln/>
        </p:spPr>
        <p:txBody>
          <a:bodyPr wrap="square" lIns="0" tIns="0" rIns="0" bIns="0" rtlCol="0" anchor="ctr"/>
          <a:lstStyle/>
          <a:p>
            <a:pPr marL="0" indent="0">
              <a:buNone/>
            </a:pPr>
            <a:r>
              <a:rPr lang="en-US" sz="1400" dirty="0">
                <a:solidFill>
                  <a:srgbClr val="00B4D8"/>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629400" y="1485900"/>
            <a:ext cx="274320" cy="0"/>
          </a:xfrm>
          <a:prstGeom prst="line">
            <a:avLst/>
          </a:prstGeom>
          <a:noFill/>
          <a:ln w="25400">
            <a:solidFill>
              <a:srgbClr val="00B4D8"/>
            </a:solidFill>
            <a:prstDash val="solid"/>
          </a:ln>
        </p:spPr>
      </p:sp>
      <p:sp>
        <p:nvSpPr>
          <p:cNvPr id="23" name="Text 21"/>
          <p:cNvSpPr/>
          <p:nvPr/>
        </p:nvSpPr>
        <p:spPr>
          <a:xfrm>
            <a:off x="6647688" y="1389888"/>
            <a:ext cx="274320" cy="274320"/>
          </a:xfrm>
          <a:prstGeom prst="rect">
            <a:avLst/>
          </a:prstGeom>
          <a:noFill/>
          <a:ln/>
        </p:spPr>
        <p:txBody>
          <a:bodyPr wrap="square" lIns="0" tIns="0" rIns="0" bIns="0" rtlCol="0" anchor="ctr"/>
          <a:lstStyle/>
          <a:p>
            <a:pPr marL="0" indent="0">
              <a:buNone/>
            </a:pPr>
            <a:r>
              <a:rPr lang="en-US" sz="1400" dirty="0">
                <a:solidFill>
                  <a:srgbClr val="00B4D8"/>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457200" y="242316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5" name="Text 23"/>
          <p:cNvSpPr/>
          <p:nvPr/>
        </p:nvSpPr>
        <p:spPr>
          <a:xfrm>
            <a:off x="640080" y="251460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Purpose</a:t>
            </a:r>
            <a:endParaRPr lang="en-US" sz="1000" dirty="0"/>
          </a:p>
        </p:txBody>
      </p:sp>
      <p:sp>
        <p:nvSpPr>
          <p:cNvPr id="26" name="Text 24"/>
          <p:cNvSpPr/>
          <p:nvPr/>
        </p:nvSpPr>
        <p:spPr>
          <a:xfrm>
            <a:off x="640080" y="280720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Track GenAI SDLC Phase 1 rollout across all teams</a:t>
            </a:r>
            <a:endParaRPr lang="en-US" sz="1000" dirty="0"/>
          </a:p>
        </p:txBody>
      </p:sp>
      <p:sp>
        <p:nvSpPr>
          <p:cNvPr id="27" name="Shape 25"/>
          <p:cNvSpPr/>
          <p:nvPr/>
        </p:nvSpPr>
        <p:spPr>
          <a:xfrm>
            <a:off x="457200" y="342900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28" name="Text 26"/>
          <p:cNvSpPr/>
          <p:nvPr/>
        </p:nvSpPr>
        <p:spPr>
          <a:xfrm>
            <a:off x="640080" y="352044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Data Source</a:t>
            </a:r>
            <a:endParaRPr lang="en-US" sz="1000" dirty="0"/>
          </a:p>
        </p:txBody>
      </p:sp>
      <p:sp>
        <p:nvSpPr>
          <p:cNvPr id="29" name="Text 27"/>
          <p:cNvSpPr/>
          <p:nvPr/>
        </p:nvSpPr>
        <p:spPr>
          <a:xfrm>
            <a:off x="640080" y="381304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Excel file — updated by PMs and DRs</a:t>
            </a:r>
            <a:endParaRPr lang="en-US" sz="1000" dirty="0"/>
          </a:p>
        </p:txBody>
      </p:sp>
      <p:sp>
        <p:nvSpPr>
          <p:cNvPr id="30" name="Shape 28"/>
          <p:cNvSpPr/>
          <p:nvPr/>
        </p:nvSpPr>
        <p:spPr>
          <a:xfrm>
            <a:off x="4754880" y="242316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1" name="Text 29"/>
          <p:cNvSpPr/>
          <p:nvPr/>
        </p:nvSpPr>
        <p:spPr>
          <a:xfrm>
            <a:off x="4937760" y="251460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Refresh</a:t>
            </a:r>
            <a:endParaRPr lang="en-US" sz="1000" dirty="0"/>
          </a:p>
        </p:txBody>
      </p:sp>
      <p:sp>
        <p:nvSpPr>
          <p:cNvPr id="32" name="Text 30"/>
          <p:cNvSpPr/>
          <p:nvPr/>
        </p:nvSpPr>
        <p:spPr>
          <a:xfrm>
            <a:off x="4937760" y="280720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Daily — Python reads Excel, generates HTML</a:t>
            </a:r>
            <a:endParaRPr lang="en-US" sz="1000" dirty="0"/>
          </a:p>
        </p:txBody>
      </p:sp>
      <p:sp>
        <p:nvSpPr>
          <p:cNvPr id="33" name="Shape 31"/>
          <p:cNvSpPr/>
          <p:nvPr/>
        </p:nvSpPr>
        <p:spPr>
          <a:xfrm>
            <a:off x="4754880" y="3429000"/>
            <a:ext cx="4023360" cy="804672"/>
          </a:xfrm>
          <a:prstGeom prst="roundRect">
            <a:avLst>
              <a:gd name="adj" fmla="val 9091"/>
            </a:avLst>
          </a:prstGeom>
          <a:solidFill>
            <a:srgbClr val="FFFFFF"/>
          </a:solidFill>
          <a:ln/>
          <a:effectLst>
            <a:outerShdw blurRad="101600" dist="25400" dir="2700000" algn="bl" rotWithShape="0">
              <a:srgbClr val="000000">
                <a:alpha val="12000"/>
              </a:srgbClr>
            </a:outerShdw>
          </a:effectLst>
        </p:spPr>
      </p:sp>
      <p:sp>
        <p:nvSpPr>
          <p:cNvPr id="34" name="Text 32"/>
          <p:cNvSpPr/>
          <p:nvPr/>
        </p:nvSpPr>
        <p:spPr>
          <a:xfrm>
            <a:off x="4937760" y="3520440"/>
            <a:ext cx="3657600" cy="274320"/>
          </a:xfrm>
          <a:prstGeom prst="rect">
            <a:avLst/>
          </a:prstGeom>
          <a:noFill/>
          <a:ln/>
        </p:spPr>
        <p:txBody>
          <a:bodyPr wrap="square" lIns="0" tIns="0" rIns="0" bIns="0" rtlCol="0" anchor="ctr"/>
          <a:lstStyle/>
          <a:p>
            <a:pPr marL="0" indent="0">
              <a:buNone/>
            </a:pPr>
            <a:r>
              <a:rPr lang="en-US" sz="1000" b="1" dirty="0">
                <a:solidFill>
                  <a:srgbClr val="00B4D8"/>
                </a:solidFill>
                <a:latin typeface="Calibri" pitchFamily="34" charset="0"/>
                <a:ea typeface="Calibri" pitchFamily="34" charset="-122"/>
                <a:cs typeface="Calibri" pitchFamily="34" charset="-120"/>
              </a:rPr>
              <a:t>Users</a:t>
            </a:r>
            <a:endParaRPr lang="en-US" sz="1000" dirty="0"/>
          </a:p>
        </p:txBody>
      </p:sp>
      <p:sp>
        <p:nvSpPr>
          <p:cNvPr id="35" name="Text 33"/>
          <p:cNvSpPr/>
          <p:nvPr/>
        </p:nvSpPr>
        <p:spPr>
          <a:xfrm>
            <a:off x="4937760" y="3813048"/>
            <a:ext cx="3657600" cy="329184"/>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Managers, DRs, PMs, EA Team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PROBLEM</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Problem With Manual Validation</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Text 4"/>
          <p:cNvSpPr/>
          <p:nvPr/>
        </p:nvSpPr>
        <p:spPr>
          <a:xfrm>
            <a:off x="457200" y="914400"/>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914400" y="914400"/>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open browser — check each tab opens</a:t>
            </a:r>
            <a:endParaRPr lang="en-US" sz="1200" dirty="0"/>
          </a:p>
        </p:txBody>
      </p:sp>
      <p:sp>
        <p:nvSpPr>
          <p:cNvPr id="8" name="Text 6"/>
          <p:cNvSpPr/>
          <p:nvPr/>
        </p:nvSpPr>
        <p:spPr>
          <a:xfrm>
            <a:off x="457200" y="1536192"/>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14400" y="1536192"/>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click every filter — verify it responds</a:t>
            </a:r>
            <a:endParaRPr lang="en-US" sz="1200" dirty="0"/>
          </a:p>
        </p:txBody>
      </p:sp>
      <p:sp>
        <p:nvSpPr>
          <p:cNvPr id="10" name="Text 8"/>
          <p:cNvSpPr/>
          <p:nvPr/>
        </p:nvSpPr>
        <p:spPr>
          <a:xfrm>
            <a:off x="457200" y="2157984"/>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914400" y="2157984"/>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click detail buttons — verify drawer opens</a:t>
            </a:r>
            <a:endParaRPr lang="en-US" sz="1200" dirty="0"/>
          </a:p>
        </p:txBody>
      </p:sp>
      <p:sp>
        <p:nvSpPr>
          <p:cNvPr id="12" name="Text 10"/>
          <p:cNvSpPr/>
          <p:nvPr/>
        </p:nvSpPr>
        <p:spPr>
          <a:xfrm>
            <a:off x="457200" y="2779776"/>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914400" y="2779776"/>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check all tables have data rows</a:t>
            </a:r>
            <a:endParaRPr lang="en-US" sz="1200" dirty="0"/>
          </a:p>
        </p:txBody>
      </p:sp>
      <p:sp>
        <p:nvSpPr>
          <p:cNvPr id="14" name="Text 12"/>
          <p:cNvSpPr/>
          <p:nvPr/>
        </p:nvSpPr>
        <p:spPr>
          <a:xfrm>
            <a:off x="457200" y="3401568"/>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14400" y="3401568"/>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verify no broken UI elements</a:t>
            </a:r>
            <a:endParaRPr lang="en-US" sz="1200" dirty="0"/>
          </a:p>
        </p:txBody>
      </p:sp>
      <p:sp>
        <p:nvSpPr>
          <p:cNvPr id="16" name="Text 14"/>
          <p:cNvSpPr/>
          <p:nvPr/>
        </p:nvSpPr>
        <p:spPr>
          <a:xfrm>
            <a:off x="457200" y="4023360"/>
            <a:ext cx="365760" cy="365760"/>
          </a:xfrm>
          <a:prstGeom prst="rect">
            <a:avLst/>
          </a:prstGeom>
          <a:noFill/>
          <a:ln/>
        </p:spPr>
        <p:txBody>
          <a:bodyPr wrap="square" lIns="0" tIns="0" rIns="0" bIns="0" rtlCol="0" anchor="ctr"/>
          <a:lstStyle/>
          <a:p>
            <a:pPr marL="0" indent="0">
              <a:buNone/>
            </a:pPr>
            <a:r>
              <a:rPr lang="en-US" sz="1600" b="1" dirty="0">
                <a:solidFill>
                  <a:srgbClr val="EF4444"/>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914400" y="4023360"/>
            <a:ext cx="5029200" cy="3657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Manually check security headers are present</a:t>
            </a:r>
            <a:endParaRPr lang="en-US" sz="1200" dirty="0"/>
          </a:p>
        </p:txBody>
      </p:sp>
      <p:sp>
        <p:nvSpPr>
          <p:cNvPr id="18" name="Shape 16"/>
          <p:cNvSpPr/>
          <p:nvPr/>
        </p:nvSpPr>
        <p:spPr>
          <a:xfrm>
            <a:off x="6217920" y="914400"/>
            <a:ext cx="2468880" cy="3749040"/>
          </a:xfrm>
          <a:prstGeom prst="roundRect">
            <a:avLst>
              <a:gd name="adj" fmla="val 3704"/>
            </a:avLst>
          </a:prstGeom>
          <a:solidFill>
            <a:srgbClr val="0D1F35"/>
          </a:solidFill>
          <a:ln/>
        </p:spPr>
      </p:sp>
      <p:sp>
        <p:nvSpPr>
          <p:cNvPr id="19" name="Text 17"/>
          <p:cNvSpPr/>
          <p:nvPr/>
        </p:nvSpPr>
        <p:spPr>
          <a:xfrm>
            <a:off x="6309360" y="10058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45 mins</a:t>
            </a:r>
            <a:endParaRPr lang="en-US" sz="2200" dirty="0"/>
          </a:p>
        </p:txBody>
      </p:sp>
      <p:sp>
        <p:nvSpPr>
          <p:cNvPr id="20" name="Text 18"/>
          <p:cNvSpPr/>
          <p:nvPr/>
        </p:nvSpPr>
        <p:spPr>
          <a:xfrm>
            <a:off x="6309360" y="14447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Every day</a:t>
            </a:r>
            <a:endParaRPr lang="en-US" sz="1000" dirty="0"/>
          </a:p>
        </p:txBody>
      </p:sp>
      <p:sp>
        <p:nvSpPr>
          <p:cNvPr id="21" name="Text 19"/>
          <p:cNvSpPr/>
          <p:nvPr/>
        </p:nvSpPr>
        <p:spPr>
          <a:xfrm>
            <a:off x="6309360" y="19202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No record</a:t>
            </a:r>
            <a:endParaRPr lang="en-US" sz="2200" dirty="0"/>
          </a:p>
        </p:txBody>
      </p:sp>
      <p:sp>
        <p:nvSpPr>
          <p:cNvPr id="22" name="Text 20"/>
          <p:cNvSpPr/>
          <p:nvPr/>
        </p:nvSpPr>
        <p:spPr>
          <a:xfrm>
            <a:off x="6309360" y="23591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What was checked</a:t>
            </a:r>
            <a:endParaRPr lang="en-US" sz="1000" dirty="0"/>
          </a:p>
        </p:txBody>
      </p:sp>
      <p:sp>
        <p:nvSpPr>
          <p:cNvPr id="23" name="Text 21"/>
          <p:cNvSpPr/>
          <p:nvPr/>
        </p:nvSpPr>
        <p:spPr>
          <a:xfrm>
            <a:off x="6309360" y="28346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Different</a:t>
            </a:r>
            <a:endParaRPr lang="en-US" sz="2200" dirty="0"/>
          </a:p>
        </p:txBody>
      </p:sp>
      <p:sp>
        <p:nvSpPr>
          <p:cNvPr id="24" name="Text 22"/>
          <p:cNvSpPr/>
          <p:nvPr/>
        </p:nvSpPr>
        <p:spPr>
          <a:xfrm>
            <a:off x="6309360" y="32735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Every developer</a:t>
            </a:r>
            <a:endParaRPr lang="en-US" sz="1000" dirty="0"/>
          </a:p>
        </p:txBody>
      </p:sp>
      <p:sp>
        <p:nvSpPr>
          <p:cNvPr id="25" name="Text 23"/>
          <p:cNvSpPr/>
          <p:nvPr/>
        </p:nvSpPr>
        <p:spPr>
          <a:xfrm>
            <a:off x="6309360" y="3749040"/>
            <a:ext cx="2286000" cy="438912"/>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1 person</a:t>
            </a:r>
            <a:endParaRPr lang="en-US" sz="2200" dirty="0"/>
          </a:p>
        </p:txBody>
      </p:sp>
      <p:sp>
        <p:nvSpPr>
          <p:cNvPr id="26" name="Text 24"/>
          <p:cNvSpPr/>
          <p:nvPr/>
        </p:nvSpPr>
        <p:spPr>
          <a:xfrm>
            <a:off x="6309360" y="4187952"/>
            <a:ext cx="2286000" cy="256032"/>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Dependency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PLAYWRIGHT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Is Playwright?</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8229600" cy="1005840"/>
          </a:xfrm>
          <a:prstGeom prst="roundRect">
            <a:avLst>
              <a:gd name="adj" fmla="val 9091"/>
            </a:avLst>
          </a:prstGeom>
          <a:solidFill>
            <a:srgbClr val="1A2A4A"/>
          </a:solidFill>
          <a:ln/>
        </p:spPr>
      </p:sp>
      <p:sp>
        <p:nvSpPr>
          <p:cNvPr id="7" name="Text 5"/>
          <p:cNvSpPr/>
          <p:nvPr/>
        </p:nvSpPr>
        <p:spPr>
          <a:xfrm>
            <a:off x="640080" y="868680"/>
            <a:ext cx="786384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browser automation tool by Microsoft that controls a real browser automatically.</a:t>
            </a:r>
            <a:endParaRPr lang="en-US" sz="1400" dirty="0"/>
          </a:p>
        </p:txBody>
      </p:sp>
      <p:sp>
        <p:nvSpPr>
          <p:cNvPr id="8" name="Text 6"/>
          <p:cNvSpPr/>
          <p:nvPr/>
        </p:nvSpPr>
        <p:spPr>
          <a:xfrm>
            <a:off x="640080" y="1371600"/>
            <a:ext cx="7863840" cy="365760"/>
          </a:xfrm>
          <a:prstGeom prst="rect">
            <a:avLst/>
          </a:prstGeom>
          <a:noFill/>
          <a:ln/>
        </p:spPr>
        <p:txBody>
          <a:bodyPr wrap="square" lIns="0" tIns="0" rIns="0" bIns="0"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Think of it as a robot that opens a browser, clicks things, checks if they work, and tells you pass or fail.</a:t>
            </a:r>
            <a:endParaRPr lang="en-US" sz="1100" dirty="0"/>
          </a:p>
        </p:txBody>
      </p:sp>
      <p:sp>
        <p:nvSpPr>
          <p:cNvPr id="9" name="Shape 7"/>
          <p:cNvSpPr/>
          <p:nvPr/>
        </p:nvSpPr>
        <p:spPr>
          <a:xfrm>
            <a:off x="457200" y="2011680"/>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10" name="Text 8"/>
          <p:cNvSpPr/>
          <p:nvPr/>
        </p:nvSpPr>
        <p:spPr>
          <a:xfrm>
            <a:off x="594360" y="2194560"/>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932688" y="2103120"/>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By Microsoft</a:t>
            </a:r>
            <a:endParaRPr lang="en-US" sz="1100" dirty="0"/>
          </a:p>
        </p:txBody>
      </p:sp>
      <p:sp>
        <p:nvSpPr>
          <p:cNvPr id="12" name="Text 10"/>
          <p:cNvSpPr/>
          <p:nvPr/>
        </p:nvSpPr>
        <p:spPr>
          <a:xfrm>
            <a:off x="932688" y="2395728"/>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Released 2020 — actively developed</a:t>
            </a:r>
            <a:endParaRPr lang="en-US" sz="950" dirty="0"/>
          </a:p>
        </p:txBody>
      </p:sp>
      <p:sp>
        <p:nvSpPr>
          <p:cNvPr id="13" name="Shape 11"/>
          <p:cNvSpPr/>
          <p:nvPr/>
        </p:nvSpPr>
        <p:spPr>
          <a:xfrm>
            <a:off x="457200" y="2907792"/>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14" name="Text 12"/>
          <p:cNvSpPr/>
          <p:nvPr/>
        </p:nvSpPr>
        <p:spPr>
          <a:xfrm>
            <a:off x="594360" y="3090672"/>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932688" y="2999232"/>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Free &amp; Open Source</a:t>
            </a:r>
            <a:endParaRPr lang="en-US" sz="1100" dirty="0"/>
          </a:p>
        </p:txBody>
      </p:sp>
      <p:sp>
        <p:nvSpPr>
          <p:cNvPr id="16" name="Text 14"/>
          <p:cNvSpPr/>
          <p:nvPr/>
        </p:nvSpPr>
        <p:spPr>
          <a:xfrm>
            <a:off x="932688" y="3291840"/>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No licence cost — works on any machine</a:t>
            </a:r>
            <a:endParaRPr lang="en-US" sz="950" dirty="0"/>
          </a:p>
        </p:txBody>
      </p:sp>
      <p:sp>
        <p:nvSpPr>
          <p:cNvPr id="17" name="Shape 15"/>
          <p:cNvSpPr/>
          <p:nvPr/>
        </p:nvSpPr>
        <p:spPr>
          <a:xfrm>
            <a:off x="457200" y="3803904"/>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18" name="Text 16"/>
          <p:cNvSpPr/>
          <p:nvPr/>
        </p:nvSpPr>
        <p:spPr>
          <a:xfrm>
            <a:off x="594360" y="3986784"/>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932688" y="3895344"/>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Python support</a:t>
            </a:r>
            <a:endParaRPr lang="en-US" sz="1100" dirty="0"/>
          </a:p>
        </p:txBody>
      </p:sp>
      <p:sp>
        <p:nvSpPr>
          <p:cNvPr id="20" name="Text 18"/>
          <p:cNvSpPr/>
          <p:nvPr/>
        </p:nvSpPr>
        <p:spPr>
          <a:xfrm>
            <a:off x="932688" y="4187952"/>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pip install playwright — two commands to set up</a:t>
            </a:r>
            <a:endParaRPr lang="en-US" sz="950" dirty="0"/>
          </a:p>
        </p:txBody>
      </p:sp>
      <p:sp>
        <p:nvSpPr>
          <p:cNvPr id="21" name="Shape 19"/>
          <p:cNvSpPr/>
          <p:nvPr/>
        </p:nvSpPr>
        <p:spPr>
          <a:xfrm>
            <a:off x="4709160" y="2011680"/>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22" name="Text 20"/>
          <p:cNvSpPr/>
          <p:nvPr/>
        </p:nvSpPr>
        <p:spPr>
          <a:xfrm>
            <a:off x="4846320" y="2194560"/>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5184648" y="2103120"/>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Real browser</a:t>
            </a:r>
            <a:endParaRPr lang="en-US" sz="1100" dirty="0"/>
          </a:p>
        </p:txBody>
      </p:sp>
      <p:sp>
        <p:nvSpPr>
          <p:cNvPr id="24" name="Text 22"/>
          <p:cNvSpPr/>
          <p:nvPr/>
        </p:nvSpPr>
        <p:spPr>
          <a:xfrm>
            <a:off x="5184648" y="2395728"/>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Uses actual Chromium — not a simulation</a:t>
            </a:r>
            <a:endParaRPr lang="en-US" sz="950" dirty="0"/>
          </a:p>
        </p:txBody>
      </p:sp>
      <p:sp>
        <p:nvSpPr>
          <p:cNvPr id="25" name="Shape 23"/>
          <p:cNvSpPr/>
          <p:nvPr/>
        </p:nvSpPr>
        <p:spPr>
          <a:xfrm>
            <a:off x="4709160" y="2907792"/>
            <a:ext cx="4023360" cy="749808"/>
          </a:xfrm>
          <a:prstGeom prst="roundRect">
            <a:avLst>
              <a:gd name="adj" fmla="val 9756"/>
            </a:avLst>
          </a:prstGeom>
          <a:solidFill>
            <a:srgbClr val="FFFFFF"/>
          </a:solidFill>
          <a:ln/>
          <a:effectLst>
            <a:outerShdw blurRad="101600" dist="25400" dir="2700000" algn="bl" rotWithShape="0">
              <a:srgbClr val="000000">
                <a:alpha val="12000"/>
              </a:srgbClr>
            </a:outerShdw>
          </a:effectLst>
        </p:spPr>
      </p:sp>
      <p:sp>
        <p:nvSpPr>
          <p:cNvPr id="26" name="Text 24"/>
          <p:cNvSpPr/>
          <p:nvPr/>
        </p:nvSpPr>
        <p:spPr>
          <a:xfrm>
            <a:off x="4846320" y="3090672"/>
            <a:ext cx="274320" cy="27432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5184648" y="2999232"/>
            <a:ext cx="342900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Auto-wait</a:t>
            </a:r>
            <a:endParaRPr lang="en-US" sz="1100" dirty="0"/>
          </a:p>
        </p:txBody>
      </p:sp>
      <p:sp>
        <p:nvSpPr>
          <p:cNvPr id="28" name="Text 26"/>
          <p:cNvSpPr/>
          <p:nvPr/>
        </p:nvSpPr>
        <p:spPr>
          <a:xfrm>
            <a:off x="5184648" y="3291840"/>
            <a:ext cx="3429000" cy="256032"/>
          </a:xfrm>
          <a:prstGeom prst="rect">
            <a:avLst/>
          </a:prstGeom>
          <a:noFill/>
          <a:ln/>
        </p:spPr>
        <p:txBody>
          <a:bodyPr wrap="square" lIns="0" tIns="0" rIns="0" bIns="0" rtlCol="0" anchor="ctr"/>
          <a:lstStyle/>
          <a:p>
            <a:pPr marL="0" indent="0">
              <a:buNone/>
            </a:pPr>
            <a:r>
              <a:rPr lang="en-US" sz="950" dirty="0">
                <a:solidFill>
                  <a:srgbClr val="5B7FA6"/>
                </a:solidFill>
                <a:latin typeface="Calibri" pitchFamily="34" charset="0"/>
                <a:ea typeface="Calibri" pitchFamily="34" charset="-122"/>
                <a:cs typeface="Calibri" pitchFamily="34" charset="-120"/>
              </a:rPr>
              <a:t>Waits for elements automatically — no manual sleep()</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COMPARISON</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Playwright vs Selenium</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22960"/>
            <a:ext cx="2560320" cy="457200"/>
          </a:xfrm>
          <a:prstGeom prst="roundRect">
            <a:avLst>
              <a:gd name="adj" fmla="val 10000"/>
            </a:avLst>
          </a:prstGeom>
          <a:solidFill>
            <a:srgbClr val="1A2A4A"/>
          </a:solidFill>
          <a:ln/>
        </p:spPr>
      </p:sp>
      <p:sp>
        <p:nvSpPr>
          <p:cNvPr id="7" name="Text 5"/>
          <p:cNvSpPr/>
          <p:nvPr/>
        </p:nvSpPr>
        <p:spPr>
          <a:xfrm>
            <a:off x="457200" y="822960"/>
            <a:ext cx="2560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8" name="Shape 6"/>
          <p:cNvSpPr/>
          <p:nvPr/>
        </p:nvSpPr>
        <p:spPr>
          <a:xfrm>
            <a:off x="3200400" y="822960"/>
            <a:ext cx="2743200" cy="457200"/>
          </a:xfrm>
          <a:prstGeom prst="roundRect">
            <a:avLst>
              <a:gd name="adj" fmla="val 10000"/>
            </a:avLst>
          </a:prstGeom>
          <a:solidFill>
            <a:srgbClr val="E53E3E"/>
          </a:solidFill>
          <a:ln/>
        </p:spPr>
      </p:sp>
      <p:sp>
        <p:nvSpPr>
          <p:cNvPr id="9" name="Text 7"/>
          <p:cNvSpPr/>
          <p:nvPr/>
        </p:nvSpPr>
        <p:spPr>
          <a:xfrm>
            <a:off x="3200400" y="822960"/>
            <a:ext cx="2743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Selenium</a:t>
            </a:r>
            <a:endParaRPr lang="en-US" sz="1200" dirty="0"/>
          </a:p>
        </p:txBody>
      </p:sp>
      <p:sp>
        <p:nvSpPr>
          <p:cNvPr id="10" name="Shape 8"/>
          <p:cNvSpPr/>
          <p:nvPr/>
        </p:nvSpPr>
        <p:spPr>
          <a:xfrm>
            <a:off x="6172200" y="822960"/>
            <a:ext cx="2743200" cy="457200"/>
          </a:xfrm>
          <a:prstGeom prst="roundRect">
            <a:avLst>
              <a:gd name="adj" fmla="val 10000"/>
            </a:avLst>
          </a:prstGeom>
          <a:solidFill>
            <a:srgbClr val="0D9488"/>
          </a:solidFill>
          <a:ln/>
        </p:spPr>
      </p:sp>
      <p:sp>
        <p:nvSpPr>
          <p:cNvPr id="11" name="Text 9"/>
          <p:cNvSpPr/>
          <p:nvPr/>
        </p:nvSpPr>
        <p:spPr>
          <a:xfrm>
            <a:off x="6172200" y="822960"/>
            <a:ext cx="2743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Playwright</a:t>
            </a:r>
            <a:endParaRPr lang="en-US" sz="1200" dirty="0"/>
          </a:p>
        </p:txBody>
      </p:sp>
      <p:sp>
        <p:nvSpPr>
          <p:cNvPr id="12" name="Shape 10"/>
          <p:cNvSpPr/>
          <p:nvPr/>
        </p:nvSpPr>
        <p:spPr>
          <a:xfrm>
            <a:off x="457200" y="1417320"/>
            <a:ext cx="8458200" cy="621792"/>
          </a:xfrm>
          <a:prstGeom prst="rect">
            <a:avLst/>
          </a:prstGeom>
          <a:solidFill>
            <a:srgbClr val="F8FAFC"/>
          </a:solidFill>
          <a:ln w="6350">
            <a:solidFill>
              <a:srgbClr val="E2E8F0"/>
            </a:solidFill>
            <a:prstDash val="solid"/>
          </a:ln>
        </p:spPr>
      </p:sp>
      <p:sp>
        <p:nvSpPr>
          <p:cNvPr id="13" name="Text 11"/>
          <p:cNvSpPr/>
          <p:nvPr/>
        </p:nvSpPr>
        <p:spPr>
          <a:xfrm>
            <a:off x="594360" y="1581912"/>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Setup</a:t>
            </a:r>
            <a:endParaRPr lang="en-US" sz="1100" dirty="0"/>
          </a:p>
        </p:txBody>
      </p:sp>
      <p:sp>
        <p:nvSpPr>
          <p:cNvPr id="14" name="Text 12"/>
          <p:cNvSpPr/>
          <p:nvPr/>
        </p:nvSpPr>
        <p:spPr>
          <a:xfrm>
            <a:off x="3246120" y="1581912"/>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Complex — manual driver per browser</a:t>
            </a:r>
            <a:endParaRPr lang="en-US" sz="1000" dirty="0"/>
          </a:p>
        </p:txBody>
      </p:sp>
      <p:sp>
        <p:nvSpPr>
          <p:cNvPr id="15" name="Text 13"/>
          <p:cNvSpPr/>
          <p:nvPr/>
        </p:nvSpPr>
        <p:spPr>
          <a:xfrm>
            <a:off x="6217920" y="1581912"/>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2 commands — done</a:t>
            </a:r>
            <a:endParaRPr lang="en-US" sz="1000" dirty="0"/>
          </a:p>
        </p:txBody>
      </p:sp>
      <p:sp>
        <p:nvSpPr>
          <p:cNvPr id="16" name="Shape 14"/>
          <p:cNvSpPr/>
          <p:nvPr/>
        </p:nvSpPr>
        <p:spPr>
          <a:xfrm>
            <a:off x="457200" y="2121408"/>
            <a:ext cx="8458200" cy="621792"/>
          </a:xfrm>
          <a:prstGeom prst="rect">
            <a:avLst/>
          </a:prstGeom>
          <a:solidFill>
            <a:srgbClr val="FFFFFF"/>
          </a:solidFill>
          <a:ln w="6350">
            <a:solidFill>
              <a:srgbClr val="E2E8F0"/>
            </a:solidFill>
            <a:prstDash val="solid"/>
          </a:ln>
        </p:spPr>
      </p:sp>
      <p:sp>
        <p:nvSpPr>
          <p:cNvPr id="17" name="Text 15"/>
          <p:cNvSpPr/>
          <p:nvPr/>
        </p:nvSpPr>
        <p:spPr>
          <a:xfrm>
            <a:off x="594360" y="2286000"/>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Auto-wait</a:t>
            </a:r>
            <a:endParaRPr lang="en-US" sz="1100" dirty="0"/>
          </a:p>
        </p:txBody>
      </p:sp>
      <p:sp>
        <p:nvSpPr>
          <p:cNvPr id="18" name="Text 16"/>
          <p:cNvSpPr/>
          <p:nvPr/>
        </p:nvSpPr>
        <p:spPr>
          <a:xfrm>
            <a:off x="3246120" y="2286000"/>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Manual sleep() everywhere</a:t>
            </a:r>
            <a:endParaRPr lang="en-US" sz="1000" dirty="0"/>
          </a:p>
        </p:txBody>
      </p:sp>
      <p:sp>
        <p:nvSpPr>
          <p:cNvPr id="19" name="Text 17"/>
          <p:cNvSpPr/>
          <p:nvPr/>
        </p:nvSpPr>
        <p:spPr>
          <a:xfrm>
            <a:off x="6217920" y="2286000"/>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Built in automatically</a:t>
            </a:r>
            <a:endParaRPr lang="en-US" sz="1000" dirty="0"/>
          </a:p>
        </p:txBody>
      </p:sp>
      <p:sp>
        <p:nvSpPr>
          <p:cNvPr id="20" name="Shape 18"/>
          <p:cNvSpPr/>
          <p:nvPr/>
        </p:nvSpPr>
        <p:spPr>
          <a:xfrm>
            <a:off x="457200" y="2825496"/>
            <a:ext cx="8458200" cy="621792"/>
          </a:xfrm>
          <a:prstGeom prst="rect">
            <a:avLst/>
          </a:prstGeom>
          <a:solidFill>
            <a:srgbClr val="F8FAFC"/>
          </a:solidFill>
          <a:ln w="6350">
            <a:solidFill>
              <a:srgbClr val="E2E8F0"/>
            </a:solidFill>
            <a:prstDash val="solid"/>
          </a:ln>
        </p:spPr>
      </p:sp>
      <p:sp>
        <p:nvSpPr>
          <p:cNvPr id="21" name="Text 19"/>
          <p:cNvSpPr/>
          <p:nvPr/>
        </p:nvSpPr>
        <p:spPr>
          <a:xfrm>
            <a:off x="594360" y="2990088"/>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Stability</a:t>
            </a:r>
            <a:endParaRPr lang="en-US" sz="1100" dirty="0"/>
          </a:p>
        </p:txBody>
      </p:sp>
      <p:sp>
        <p:nvSpPr>
          <p:cNvPr id="22" name="Text 20"/>
          <p:cNvSpPr/>
          <p:nvPr/>
        </p:nvSpPr>
        <p:spPr>
          <a:xfrm>
            <a:off x="3246120" y="2990088"/>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Flaky tests common</a:t>
            </a:r>
            <a:endParaRPr lang="en-US" sz="1000" dirty="0"/>
          </a:p>
        </p:txBody>
      </p:sp>
      <p:sp>
        <p:nvSpPr>
          <p:cNvPr id="23" name="Text 21"/>
          <p:cNvSpPr/>
          <p:nvPr/>
        </p:nvSpPr>
        <p:spPr>
          <a:xfrm>
            <a:off x="6217920" y="2990088"/>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More reliable</a:t>
            </a:r>
            <a:endParaRPr lang="en-US" sz="1000" dirty="0"/>
          </a:p>
        </p:txBody>
      </p:sp>
      <p:sp>
        <p:nvSpPr>
          <p:cNvPr id="24" name="Shape 22"/>
          <p:cNvSpPr/>
          <p:nvPr/>
        </p:nvSpPr>
        <p:spPr>
          <a:xfrm>
            <a:off x="457200" y="3529584"/>
            <a:ext cx="8458200" cy="621792"/>
          </a:xfrm>
          <a:prstGeom prst="rect">
            <a:avLst/>
          </a:prstGeom>
          <a:solidFill>
            <a:srgbClr val="FFFFFF"/>
          </a:solidFill>
          <a:ln w="6350">
            <a:solidFill>
              <a:srgbClr val="E2E8F0"/>
            </a:solidFill>
            <a:prstDash val="solid"/>
          </a:ln>
        </p:spPr>
      </p:sp>
      <p:sp>
        <p:nvSpPr>
          <p:cNvPr id="25" name="Text 23"/>
          <p:cNvSpPr/>
          <p:nvPr/>
        </p:nvSpPr>
        <p:spPr>
          <a:xfrm>
            <a:off x="594360" y="3694176"/>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Speed</a:t>
            </a:r>
            <a:endParaRPr lang="en-US" sz="1100" dirty="0"/>
          </a:p>
        </p:txBody>
      </p:sp>
      <p:sp>
        <p:nvSpPr>
          <p:cNvPr id="26" name="Text 24"/>
          <p:cNvSpPr/>
          <p:nvPr/>
        </p:nvSpPr>
        <p:spPr>
          <a:xfrm>
            <a:off x="3246120" y="3694176"/>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Slower</a:t>
            </a:r>
            <a:endParaRPr lang="en-US" sz="1000" dirty="0"/>
          </a:p>
        </p:txBody>
      </p:sp>
      <p:sp>
        <p:nvSpPr>
          <p:cNvPr id="27" name="Text 25"/>
          <p:cNvSpPr/>
          <p:nvPr/>
        </p:nvSpPr>
        <p:spPr>
          <a:xfrm>
            <a:off x="6217920" y="3694176"/>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Faster</a:t>
            </a:r>
            <a:endParaRPr lang="en-US" sz="1000" dirty="0"/>
          </a:p>
        </p:txBody>
      </p:sp>
      <p:sp>
        <p:nvSpPr>
          <p:cNvPr id="28" name="Shape 26"/>
          <p:cNvSpPr/>
          <p:nvPr/>
        </p:nvSpPr>
        <p:spPr>
          <a:xfrm>
            <a:off x="457200" y="4233672"/>
            <a:ext cx="8458200" cy="621792"/>
          </a:xfrm>
          <a:prstGeom prst="rect">
            <a:avLst/>
          </a:prstGeom>
          <a:solidFill>
            <a:srgbClr val="F8FAFC"/>
          </a:solidFill>
          <a:ln w="6350">
            <a:solidFill>
              <a:srgbClr val="E2E8F0"/>
            </a:solidFill>
            <a:prstDash val="solid"/>
          </a:ln>
        </p:spPr>
      </p:sp>
      <p:sp>
        <p:nvSpPr>
          <p:cNvPr id="29" name="Text 27"/>
          <p:cNvSpPr/>
          <p:nvPr/>
        </p:nvSpPr>
        <p:spPr>
          <a:xfrm>
            <a:off x="594360" y="4398264"/>
            <a:ext cx="2423160" cy="274320"/>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Age</a:t>
            </a:r>
            <a:endParaRPr lang="en-US" sz="1100" dirty="0"/>
          </a:p>
        </p:txBody>
      </p:sp>
      <p:sp>
        <p:nvSpPr>
          <p:cNvPr id="30" name="Text 28"/>
          <p:cNvSpPr/>
          <p:nvPr/>
        </p:nvSpPr>
        <p:spPr>
          <a:xfrm>
            <a:off x="3246120" y="4398264"/>
            <a:ext cx="2697480" cy="274320"/>
          </a:xfrm>
          <a:prstGeom prst="rect">
            <a:avLst/>
          </a:prstGeom>
          <a:noFill/>
          <a:ln/>
        </p:spPr>
        <p:txBody>
          <a:bodyPr wrap="square" lIns="0" tIns="0" rIns="0" bIns="0" rtlCol="0" anchor="ctr"/>
          <a:lstStyle/>
          <a:p>
            <a:pPr marL="0" indent="0">
              <a:buNone/>
            </a:pPr>
            <a:r>
              <a:rPr lang="en-US" sz="1000" dirty="0">
                <a:solidFill>
                  <a:srgbClr val="E53E3E"/>
                </a:solidFill>
                <a:latin typeface="Calibri" pitchFamily="34" charset="0"/>
                <a:ea typeface="Calibri" pitchFamily="34" charset="-122"/>
                <a:cs typeface="Calibri" pitchFamily="34" charset="-120"/>
              </a:rPr>
              <a:t>2004 — 20+ years</a:t>
            </a:r>
            <a:endParaRPr lang="en-US" sz="1000" dirty="0"/>
          </a:p>
        </p:txBody>
      </p:sp>
      <p:sp>
        <p:nvSpPr>
          <p:cNvPr id="31" name="Text 29"/>
          <p:cNvSpPr/>
          <p:nvPr/>
        </p:nvSpPr>
        <p:spPr>
          <a:xfrm>
            <a:off x="6217920" y="4398264"/>
            <a:ext cx="2514600" cy="274320"/>
          </a:xfrm>
          <a:prstGeom prst="rect">
            <a:avLst/>
          </a:prstGeom>
          <a:noFill/>
          <a:ln/>
        </p:spPr>
        <p:txBody>
          <a:bodyPr wrap="square" lIns="0" tIns="0" rIns="0" bIns="0" rtlCol="0" anchor="ctr"/>
          <a:lstStyle/>
          <a:p>
            <a:pPr marL="0" indent="0">
              <a:buNone/>
            </a:pPr>
            <a:r>
              <a:rPr lang="en-US" sz="1000" dirty="0">
                <a:solidFill>
                  <a:srgbClr val="0D9488"/>
                </a:solidFill>
                <a:latin typeface="Calibri" pitchFamily="34" charset="0"/>
                <a:ea typeface="Calibri" pitchFamily="34" charset="-122"/>
                <a:cs typeface="Calibri" pitchFamily="34" charset="-120"/>
              </a:rPr>
              <a:t>✓ 2020 — modern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SOLUTION</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We Built</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Shape 4"/>
          <p:cNvSpPr/>
          <p:nvPr/>
        </p:nvSpPr>
        <p:spPr>
          <a:xfrm>
            <a:off x="457200" y="868680"/>
            <a:ext cx="8229600" cy="777240"/>
          </a:xfrm>
          <a:prstGeom prst="roundRect">
            <a:avLst>
              <a:gd name="adj" fmla="val 11765"/>
            </a:avLst>
          </a:prstGeom>
          <a:solidFill>
            <a:srgbClr val="0D1F35"/>
          </a:solidFill>
          <a:ln/>
        </p:spPr>
      </p:sp>
      <p:sp>
        <p:nvSpPr>
          <p:cNvPr id="7" name="Text 5"/>
          <p:cNvSpPr/>
          <p:nvPr/>
        </p:nvSpPr>
        <p:spPr>
          <a:xfrm>
            <a:off x="640080" y="960120"/>
            <a:ext cx="7863840" cy="502920"/>
          </a:xfrm>
          <a:prstGeom prst="rect">
            <a:avLst/>
          </a:prstGeom>
          <a:noFill/>
          <a:ln/>
        </p:spPr>
        <p:txBody>
          <a:bodyPr wrap="square" lIns="0" tIns="0" rIns="0" bIns="0" rtlCol="0" anchor="ctr"/>
          <a:lstStyle/>
          <a:p>
            <a:pPr marL="0" indent="0" algn="ctr">
              <a:buNone/>
            </a:pPr>
            <a:r>
              <a:rPr lang="en-US" sz="1800" b="1" dirty="0">
                <a:solidFill>
                  <a:srgbClr val="22C55E"/>
                </a:solidFill>
                <a:latin typeface="Courier New" pitchFamily="34" charset="0"/>
                <a:ea typeface="Courier New" pitchFamily="34" charset="-122"/>
                <a:cs typeface="Courier New" pitchFamily="34" charset="-120"/>
              </a:rPr>
              <a:t>python run.py --dashboard rollout</a:t>
            </a:r>
            <a:endParaRPr lang="en-US" sz="1800" dirty="0"/>
          </a:p>
        </p:txBody>
      </p:sp>
      <p:sp>
        <p:nvSpPr>
          <p:cNvPr id="8" name="Text 6"/>
          <p:cNvSpPr/>
          <p:nvPr/>
        </p:nvSpPr>
        <p:spPr>
          <a:xfrm>
            <a:off x="457200" y="1755648"/>
            <a:ext cx="8229600" cy="320040"/>
          </a:xfrm>
          <a:prstGeom prst="rect">
            <a:avLst/>
          </a:prstGeom>
          <a:noFill/>
          <a:ln/>
        </p:spPr>
        <p:txBody>
          <a:bodyPr wrap="square" lIns="0" tIns="0" rIns="0" bIns="0" rtlCol="0" anchor="ctr"/>
          <a:lstStyle/>
          <a:p>
            <a:pPr marL="0" indent="0" algn="ctr">
              <a:buNone/>
            </a:pPr>
            <a:r>
              <a:rPr lang="en-US" sz="1200" i="1" dirty="0">
                <a:solidFill>
                  <a:srgbClr val="CBD5E1"/>
                </a:solidFill>
                <a:latin typeface="Calibri" pitchFamily="34" charset="0"/>
                <a:ea typeface="Calibri" pitchFamily="34" charset="-122"/>
                <a:cs typeface="Calibri" pitchFamily="34" charset="-120"/>
              </a:rPr>
              <a:t>One command replaces 45 minutes of manual work</a:t>
            </a:r>
            <a:endParaRPr lang="en-US" sz="1200" dirty="0"/>
          </a:p>
        </p:txBody>
      </p:sp>
      <p:sp>
        <p:nvSpPr>
          <p:cNvPr id="9" name="Shape 7"/>
          <p:cNvSpPr/>
          <p:nvPr/>
        </p:nvSpPr>
        <p:spPr>
          <a:xfrm>
            <a:off x="457200" y="2240280"/>
            <a:ext cx="2560320" cy="896112"/>
          </a:xfrm>
          <a:prstGeom prst="roundRect">
            <a:avLst>
              <a:gd name="adj" fmla="val 8163"/>
            </a:avLst>
          </a:prstGeom>
          <a:solidFill>
            <a:srgbClr val="0D1F35"/>
          </a:solidFill>
          <a:ln/>
        </p:spPr>
      </p:sp>
      <p:sp>
        <p:nvSpPr>
          <p:cNvPr id="10" name="Shape 8"/>
          <p:cNvSpPr/>
          <p:nvPr/>
        </p:nvSpPr>
        <p:spPr>
          <a:xfrm>
            <a:off x="594360" y="2423160"/>
            <a:ext cx="347472" cy="347472"/>
          </a:xfrm>
          <a:prstGeom prst="ellipse">
            <a:avLst/>
          </a:prstGeom>
          <a:solidFill>
            <a:srgbClr val="00B4D8"/>
          </a:solidFill>
          <a:ln/>
        </p:spPr>
      </p:sp>
      <p:sp>
        <p:nvSpPr>
          <p:cNvPr id="11" name="Text 9"/>
          <p:cNvSpPr/>
          <p:nvPr/>
        </p:nvSpPr>
        <p:spPr>
          <a:xfrm>
            <a:off x="594360" y="24231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p:nvPr/>
        </p:nvSpPr>
        <p:spPr>
          <a:xfrm>
            <a:off x="1024128" y="237744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Opens</a:t>
            </a:r>
            <a:endParaRPr lang="en-US" sz="1200" dirty="0"/>
          </a:p>
        </p:txBody>
      </p:sp>
      <p:sp>
        <p:nvSpPr>
          <p:cNvPr id="13" name="Text 11"/>
          <p:cNvSpPr/>
          <p:nvPr/>
        </p:nvSpPr>
        <p:spPr>
          <a:xfrm>
            <a:off x="1024128" y="269748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Real Chromium browser silently</a:t>
            </a:r>
            <a:endParaRPr lang="en-US" sz="950" dirty="0"/>
          </a:p>
        </p:txBody>
      </p:sp>
      <p:sp>
        <p:nvSpPr>
          <p:cNvPr id="14" name="Shape 12"/>
          <p:cNvSpPr/>
          <p:nvPr/>
        </p:nvSpPr>
        <p:spPr>
          <a:xfrm>
            <a:off x="3291840" y="2240280"/>
            <a:ext cx="2560320" cy="896112"/>
          </a:xfrm>
          <a:prstGeom prst="roundRect">
            <a:avLst>
              <a:gd name="adj" fmla="val 8163"/>
            </a:avLst>
          </a:prstGeom>
          <a:solidFill>
            <a:srgbClr val="0D1F35"/>
          </a:solidFill>
          <a:ln/>
        </p:spPr>
      </p:sp>
      <p:sp>
        <p:nvSpPr>
          <p:cNvPr id="15" name="Shape 13"/>
          <p:cNvSpPr/>
          <p:nvPr/>
        </p:nvSpPr>
        <p:spPr>
          <a:xfrm>
            <a:off x="3429000" y="2423160"/>
            <a:ext cx="347472" cy="347472"/>
          </a:xfrm>
          <a:prstGeom prst="ellipse">
            <a:avLst/>
          </a:prstGeom>
          <a:solidFill>
            <a:srgbClr val="00B4D8"/>
          </a:solidFill>
          <a:ln/>
        </p:spPr>
      </p:sp>
      <p:sp>
        <p:nvSpPr>
          <p:cNvPr id="16" name="Text 14"/>
          <p:cNvSpPr/>
          <p:nvPr/>
        </p:nvSpPr>
        <p:spPr>
          <a:xfrm>
            <a:off x="3429000" y="24231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3858768" y="237744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Runs</a:t>
            </a:r>
            <a:endParaRPr lang="en-US" sz="1200" dirty="0"/>
          </a:p>
        </p:txBody>
      </p:sp>
      <p:sp>
        <p:nvSpPr>
          <p:cNvPr id="18" name="Text 16"/>
          <p:cNvSpPr/>
          <p:nvPr/>
        </p:nvSpPr>
        <p:spPr>
          <a:xfrm>
            <a:off x="3858768" y="269748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64 checks across 10 sections</a:t>
            </a:r>
            <a:endParaRPr lang="en-US" sz="950" dirty="0"/>
          </a:p>
        </p:txBody>
      </p:sp>
      <p:sp>
        <p:nvSpPr>
          <p:cNvPr id="19" name="Shape 17"/>
          <p:cNvSpPr/>
          <p:nvPr/>
        </p:nvSpPr>
        <p:spPr>
          <a:xfrm>
            <a:off x="6126480" y="2240280"/>
            <a:ext cx="2560320" cy="896112"/>
          </a:xfrm>
          <a:prstGeom prst="roundRect">
            <a:avLst>
              <a:gd name="adj" fmla="val 8163"/>
            </a:avLst>
          </a:prstGeom>
          <a:solidFill>
            <a:srgbClr val="0D1F35"/>
          </a:solidFill>
          <a:ln/>
        </p:spPr>
      </p:sp>
      <p:sp>
        <p:nvSpPr>
          <p:cNvPr id="20" name="Shape 18"/>
          <p:cNvSpPr/>
          <p:nvPr/>
        </p:nvSpPr>
        <p:spPr>
          <a:xfrm>
            <a:off x="6263640" y="2423160"/>
            <a:ext cx="347472" cy="347472"/>
          </a:xfrm>
          <a:prstGeom prst="ellipse">
            <a:avLst/>
          </a:prstGeom>
          <a:solidFill>
            <a:srgbClr val="00B4D8"/>
          </a:solidFill>
          <a:ln/>
        </p:spPr>
      </p:sp>
      <p:sp>
        <p:nvSpPr>
          <p:cNvPr id="21" name="Text 19"/>
          <p:cNvSpPr/>
          <p:nvPr/>
        </p:nvSpPr>
        <p:spPr>
          <a:xfrm>
            <a:off x="6263640" y="24231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6693408" y="237744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Takes</a:t>
            </a:r>
            <a:endParaRPr lang="en-US" sz="1200" dirty="0"/>
          </a:p>
        </p:txBody>
      </p:sp>
      <p:sp>
        <p:nvSpPr>
          <p:cNvPr id="23" name="Text 21"/>
          <p:cNvSpPr/>
          <p:nvPr/>
        </p:nvSpPr>
        <p:spPr>
          <a:xfrm>
            <a:off x="6693408" y="269748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2-3 minutes total</a:t>
            </a:r>
            <a:endParaRPr lang="en-US" sz="950" dirty="0"/>
          </a:p>
        </p:txBody>
      </p:sp>
      <p:sp>
        <p:nvSpPr>
          <p:cNvPr id="24" name="Shape 22"/>
          <p:cNvSpPr/>
          <p:nvPr/>
        </p:nvSpPr>
        <p:spPr>
          <a:xfrm>
            <a:off x="1463040" y="3337560"/>
            <a:ext cx="2560320" cy="896112"/>
          </a:xfrm>
          <a:prstGeom prst="roundRect">
            <a:avLst>
              <a:gd name="adj" fmla="val 8163"/>
            </a:avLst>
          </a:prstGeom>
          <a:solidFill>
            <a:srgbClr val="0D1F35"/>
          </a:solidFill>
          <a:ln/>
        </p:spPr>
      </p:sp>
      <p:sp>
        <p:nvSpPr>
          <p:cNvPr id="25" name="Shape 23"/>
          <p:cNvSpPr/>
          <p:nvPr/>
        </p:nvSpPr>
        <p:spPr>
          <a:xfrm>
            <a:off x="1600200" y="3520440"/>
            <a:ext cx="347472" cy="347472"/>
          </a:xfrm>
          <a:prstGeom prst="ellipse">
            <a:avLst/>
          </a:prstGeom>
          <a:solidFill>
            <a:srgbClr val="00B4D8"/>
          </a:solidFill>
          <a:ln/>
        </p:spPr>
      </p:sp>
      <p:sp>
        <p:nvSpPr>
          <p:cNvPr id="26" name="Text 24"/>
          <p:cNvSpPr/>
          <p:nvPr/>
        </p:nvSpPr>
        <p:spPr>
          <a:xfrm>
            <a:off x="1600200" y="35204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2029968" y="347472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Saves</a:t>
            </a:r>
            <a:endParaRPr lang="en-US" sz="1200" dirty="0"/>
          </a:p>
        </p:txBody>
      </p:sp>
      <p:sp>
        <p:nvSpPr>
          <p:cNvPr id="28" name="Text 26"/>
          <p:cNvSpPr/>
          <p:nvPr/>
        </p:nvSpPr>
        <p:spPr>
          <a:xfrm>
            <a:off x="2029968" y="379476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Pass/fail report with timestamp</a:t>
            </a:r>
            <a:endParaRPr lang="en-US" sz="950" dirty="0"/>
          </a:p>
        </p:txBody>
      </p:sp>
      <p:sp>
        <p:nvSpPr>
          <p:cNvPr id="29" name="Shape 27"/>
          <p:cNvSpPr/>
          <p:nvPr/>
        </p:nvSpPr>
        <p:spPr>
          <a:xfrm>
            <a:off x="4297680" y="3337560"/>
            <a:ext cx="2560320" cy="896112"/>
          </a:xfrm>
          <a:prstGeom prst="roundRect">
            <a:avLst>
              <a:gd name="adj" fmla="val 8163"/>
            </a:avLst>
          </a:prstGeom>
          <a:solidFill>
            <a:srgbClr val="0D1F35"/>
          </a:solidFill>
          <a:ln/>
        </p:spPr>
      </p:sp>
      <p:sp>
        <p:nvSpPr>
          <p:cNvPr id="30" name="Shape 28"/>
          <p:cNvSpPr/>
          <p:nvPr/>
        </p:nvSpPr>
        <p:spPr>
          <a:xfrm>
            <a:off x="4434840" y="3520440"/>
            <a:ext cx="347472" cy="347472"/>
          </a:xfrm>
          <a:prstGeom prst="ellipse">
            <a:avLst/>
          </a:prstGeom>
          <a:solidFill>
            <a:srgbClr val="00B4D8"/>
          </a:solidFill>
          <a:ln/>
        </p:spPr>
      </p:sp>
      <p:sp>
        <p:nvSpPr>
          <p:cNvPr id="31" name="Text 29"/>
          <p:cNvSpPr/>
          <p:nvPr/>
        </p:nvSpPr>
        <p:spPr>
          <a:xfrm>
            <a:off x="4434840" y="35204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4864608" y="3474720"/>
            <a:ext cx="1874520" cy="274320"/>
          </a:xfrm>
          <a:prstGeom prst="rect">
            <a:avLst/>
          </a:prstGeom>
          <a:noFill/>
          <a:ln/>
        </p:spPr>
        <p:txBody>
          <a:bodyPr wrap="square" lIns="0" tIns="0" rIns="0" bIns="0" rtlCol="0" anchor="ctr"/>
          <a:lstStyle/>
          <a:p>
            <a:pPr marL="0" indent="0">
              <a:buNone/>
            </a:pPr>
            <a:r>
              <a:rPr lang="en-US" sz="1200" b="1" dirty="0">
                <a:solidFill>
                  <a:srgbClr val="00B4D8"/>
                </a:solidFill>
                <a:latin typeface="Calibri" pitchFamily="34" charset="0"/>
                <a:ea typeface="Calibri" pitchFamily="34" charset="-122"/>
                <a:cs typeface="Calibri" pitchFamily="34" charset="-120"/>
              </a:rPr>
              <a:t>Saves</a:t>
            </a:r>
            <a:endParaRPr lang="en-US" sz="1200" dirty="0"/>
          </a:p>
        </p:txBody>
      </p:sp>
      <p:sp>
        <p:nvSpPr>
          <p:cNvPr id="33" name="Text 31"/>
          <p:cNvSpPr/>
          <p:nvPr/>
        </p:nvSpPr>
        <p:spPr>
          <a:xfrm>
            <a:off x="4864608" y="3794760"/>
            <a:ext cx="1874520" cy="34747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Screenshot as visual proof</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64 CHECKS</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10 Sections — Everything That Gets Checked</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7" name="Shape 5"/>
          <p:cNvSpPr/>
          <p:nvPr/>
        </p:nvSpPr>
        <p:spPr>
          <a:xfrm>
            <a:off x="548640" y="1033272"/>
            <a:ext cx="402336" cy="402336"/>
          </a:xfrm>
          <a:prstGeom prst="roundRect">
            <a:avLst>
              <a:gd name="adj" fmla="val 11364"/>
            </a:avLst>
          </a:prstGeom>
          <a:solidFill>
            <a:srgbClr val="028090"/>
          </a:solidFill>
          <a:ln/>
        </p:spPr>
      </p:sp>
      <p:sp>
        <p:nvSpPr>
          <p:cNvPr id="8" name="Text 6"/>
          <p:cNvSpPr/>
          <p:nvPr/>
        </p:nvSpPr>
        <p:spPr>
          <a:xfrm>
            <a:off x="548640" y="10332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1051560" y="9601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Page Load</a:t>
            </a:r>
            <a:endParaRPr lang="en-US" sz="1100" dirty="0"/>
          </a:p>
        </p:txBody>
      </p:sp>
      <p:sp>
        <p:nvSpPr>
          <p:cNvPr id="10" name="Text 8"/>
          <p:cNvSpPr/>
          <p:nvPr/>
        </p:nvSpPr>
        <p:spPr>
          <a:xfrm>
            <a:off x="1051560" y="12344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No JS errors, page has content, title present</a:t>
            </a:r>
            <a:endParaRPr lang="en-US" sz="900" dirty="0"/>
          </a:p>
        </p:txBody>
      </p:sp>
      <p:sp>
        <p:nvSpPr>
          <p:cNvPr id="11" name="Shape 9"/>
          <p:cNvSpPr/>
          <p:nvPr/>
        </p:nvSpPr>
        <p:spPr>
          <a:xfrm>
            <a:off x="4754880" y="8686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12" name="Shape 10"/>
          <p:cNvSpPr/>
          <p:nvPr/>
        </p:nvSpPr>
        <p:spPr>
          <a:xfrm>
            <a:off x="4846320" y="1033272"/>
            <a:ext cx="402336" cy="402336"/>
          </a:xfrm>
          <a:prstGeom prst="roundRect">
            <a:avLst>
              <a:gd name="adj" fmla="val 11364"/>
            </a:avLst>
          </a:prstGeom>
          <a:solidFill>
            <a:srgbClr val="0D9488"/>
          </a:solidFill>
          <a:ln/>
        </p:spPr>
      </p:sp>
      <p:sp>
        <p:nvSpPr>
          <p:cNvPr id="13" name="Text 11"/>
          <p:cNvSpPr/>
          <p:nvPr/>
        </p:nvSpPr>
        <p:spPr>
          <a:xfrm>
            <a:off x="4846320" y="10332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5349240" y="9601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Page Structure</a:t>
            </a:r>
            <a:endParaRPr lang="en-US" sz="1100" dirty="0"/>
          </a:p>
        </p:txBody>
      </p:sp>
      <p:sp>
        <p:nvSpPr>
          <p:cNvPr id="15" name="Text 13"/>
          <p:cNvSpPr/>
          <p:nvPr/>
        </p:nvSpPr>
        <p:spPr>
          <a:xfrm>
            <a:off x="5349240" y="12344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All tab panels exist, CSP tag, overview active</a:t>
            </a:r>
            <a:endParaRPr lang="en-US" sz="900" dirty="0"/>
          </a:p>
        </p:txBody>
      </p:sp>
      <p:sp>
        <p:nvSpPr>
          <p:cNvPr id="16" name="Shape 14"/>
          <p:cNvSpPr/>
          <p:nvPr/>
        </p:nvSpPr>
        <p:spPr>
          <a:xfrm>
            <a:off x="457200" y="17830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17" name="Shape 15"/>
          <p:cNvSpPr/>
          <p:nvPr/>
        </p:nvSpPr>
        <p:spPr>
          <a:xfrm>
            <a:off x="548640" y="1947672"/>
            <a:ext cx="402336" cy="402336"/>
          </a:xfrm>
          <a:prstGeom prst="roundRect">
            <a:avLst>
              <a:gd name="adj" fmla="val 11364"/>
            </a:avLst>
          </a:prstGeom>
          <a:solidFill>
            <a:srgbClr val="22C55E"/>
          </a:solidFill>
          <a:ln/>
        </p:spPr>
      </p:sp>
      <p:sp>
        <p:nvSpPr>
          <p:cNvPr id="18" name="Text 16"/>
          <p:cNvSpPr/>
          <p:nvPr/>
        </p:nvSpPr>
        <p:spPr>
          <a:xfrm>
            <a:off x="548640" y="19476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7"/>
          <p:cNvSpPr/>
          <p:nvPr/>
        </p:nvSpPr>
        <p:spPr>
          <a:xfrm>
            <a:off x="1051560" y="18745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Overview Tab</a:t>
            </a:r>
            <a:endParaRPr lang="en-US" sz="1100" dirty="0"/>
          </a:p>
        </p:txBody>
      </p:sp>
      <p:sp>
        <p:nvSpPr>
          <p:cNvPr id="20" name="Text 18"/>
          <p:cNvSpPr/>
          <p:nvPr/>
        </p:nvSpPr>
        <p:spPr>
          <a:xfrm>
            <a:off x="1051560" y="21488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7 KPI cards, initiative cards, donut charts</a:t>
            </a:r>
            <a:endParaRPr lang="en-US" sz="900" dirty="0"/>
          </a:p>
        </p:txBody>
      </p:sp>
      <p:sp>
        <p:nvSpPr>
          <p:cNvPr id="21" name="Shape 19"/>
          <p:cNvSpPr/>
          <p:nvPr/>
        </p:nvSpPr>
        <p:spPr>
          <a:xfrm>
            <a:off x="4754880" y="17830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22" name="Shape 20"/>
          <p:cNvSpPr/>
          <p:nvPr/>
        </p:nvSpPr>
        <p:spPr>
          <a:xfrm>
            <a:off x="4846320" y="1947672"/>
            <a:ext cx="402336" cy="402336"/>
          </a:xfrm>
          <a:prstGeom prst="roundRect">
            <a:avLst>
              <a:gd name="adj" fmla="val 11364"/>
            </a:avLst>
          </a:prstGeom>
          <a:solidFill>
            <a:srgbClr val="16A34A"/>
          </a:solidFill>
          <a:ln/>
        </p:spPr>
      </p:sp>
      <p:sp>
        <p:nvSpPr>
          <p:cNvPr id="23" name="Text 21"/>
          <p:cNvSpPr/>
          <p:nvPr/>
        </p:nvSpPr>
        <p:spPr>
          <a:xfrm>
            <a:off x="4846320" y="19476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4" name="Text 22"/>
          <p:cNvSpPr/>
          <p:nvPr/>
        </p:nvSpPr>
        <p:spPr>
          <a:xfrm>
            <a:off x="5349240" y="18745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Initiative Tabs</a:t>
            </a:r>
            <a:endParaRPr lang="en-US" sz="1100" dirty="0"/>
          </a:p>
        </p:txBody>
      </p:sp>
      <p:sp>
        <p:nvSpPr>
          <p:cNvPr id="25" name="Text 23"/>
          <p:cNvSpPr/>
          <p:nvPr/>
        </p:nvSpPr>
        <p:spPr>
          <a:xfrm>
            <a:off x="5349240" y="21488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3 sheets — phase cards, tables, filters, buttons</a:t>
            </a:r>
            <a:endParaRPr lang="en-US" sz="900" dirty="0"/>
          </a:p>
        </p:txBody>
      </p:sp>
      <p:sp>
        <p:nvSpPr>
          <p:cNvPr id="26" name="Shape 24"/>
          <p:cNvSpPr/>
          <p:nvPr/>
        </p:nvSpPr>
        <p:spPr>
          <a:xfrm>
            <a:off x="457200" y="26974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27" name="Shape 25"/>
          <p:cNvSpPr/>
          <p:nvPr/>
        </p:nvSpPr>
        <p:spPr>
          <a:xfrm>
            <a:off x="548640" y="2862072"/>
            <a:ext cx="402336" cy="402336"/>
          </a:xfrm>
          <a:prstGeom prst="roundRect">
            <a:avLst>
              <a:gd name="adj" fmla="val 11364"/>
            </a:avLst>
          </a:prstGeom>
          <a:solidFill>
            <a:srgbClr val="065A82"/>
          </a:solidFill>
          <a:ln/>
        </p:spPr>
      </p:sp>
      <p:sp>
        <p:nvSpPr>
          <p:cNvPr id="28" name="Text 26"/>
          <p:cNvSpPr/>
          <p:nvPr/>
        </p:nvSpPr>
        <p:spPr>
          <a:xfrm>
            <a:off x="548640" y="28620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9" name="Text 27"/>
          <p:cNvSpPr/>
          <p:nvPr/>
        </p:nvSpPr>
        <p:spPr>
          <a:xfrm>
            <a:off x="1051560" y="27889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Filters</a:t>
            </a:r>
            <a:endParaRPr lang="en-US" sz="1100" dirty="0"/>
          </a:p>
        </p:txBody>
      </p:sp>
      <p:sp>
        <p:nvSpPr>
          <p:cNvPr id="30" name="Text 28"/>
          <p:cNvSpPr/>
          <p:nvPr/>
        </p:nvSpPr>
        <p:spPr>
          <a:xfrm>
            <a:off x="1051560" y="30632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Org, DR, PM, Status, Overdue, Search, Reset</a:t>
            </a:r>
            <a:endParaRPr lang="en-US" sz="900" dirty="0"/>
          </a:p>
        </p:txBody>
      </p:sp>
      <p:sp>
        <p:nvSpPr>
          <p:cNvPr id="31" name="Shape 29"/>
          <p:cNvSpPr/>
          <p:nvPr/>
        </p:nvSpPr>
        <p:spPr>
          <a:xfrm>
            <a:off x="4754880" y="26974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32" name="Shape 30"/>
          <p:cNvSpPr/>
          <p:nvPr/>
        </p:nvSpPr>
        <p:spPr>
          <a:xfrm>
            <a:off x="4846320" y="2862072"/>
            <a:ext cx="402336" cy="402336"/>
          </a:xfrm>
          <a:prstGeom prst="roundRect">
            <a:avLst>
              <a:gd name="adj" fmla="val 11364"/>
            </a:avLst>
          </a:prstGeom>
          <a:solidFill>
            <a:srgbClr val="1C7293"/>
          </a:solidFill>
          <a:ln/>
        </p:spPr>
      </p:sp>
      <p:sp>
        <p:nvSpPr>
          <p:cNvPr id="33" name="Text 31"/>
          <p:cNvSpPr/>
          <p:nvPr/>
        </p:nvSpPr>
        <p:spPr>
          <a:xfrm>
            <a:off x="4846320" y="28620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4" name="Text 32"/>
          <p:cNvSpPr/>
          <p:nvPr/>
        </p:nvSpPr>
        <p:spPr>
          <a:xfrm>
            <a:off x="5349240" y="27889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Drawer</a:t>
            </a:r>
            <a:endParaRPr lang="en-US" sz="1100" dirty="0"/>
          </a:p>
        </p:txBody>
      </p:sp>
      <p:sp>
        <p:nvSpPr>
          <p:cNvPr id="35" name="Text 33"/>
          <p:cNvSpPr/>
          <p:nvPr/>
        </p:nvSpPr>
        <p:spPr>
          <a:xfrm>
            <a:off x="5349240" y="30632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Detail button opens — PM, DR, Phase info visible</a:t>
            </a:r>
            <a:endParaRPr lang="en-US" sz="900" dirty="0"/>
          </a:p>
        </p:txBody>
      </p:sp>
      <p:sp>
        <p:nvSpPr>
          <p:cNvPr id="36" name="Shape 34"/>
          <p:cNvSpPr/>
          <p:nvPr/>
        </p:nvSpPr>
        <p:spPr>
          <a:xfrm>
            <a:off x="457200" y="36118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37" name="Shape 35"/>
          <p:cNvSpPr/>
          <p:nvPr/>
        </p:nvSpPr>
        <p:spPr>
          <a:xfrm>
            <a:off x="548640" y="3776472"/>
            <a:ext cx="402336" cy="402336"/>
          </a:xfrm>
          <a:prstGeom prst="roundRect">
            <a:avLst>
              <a:gd name="adj" fmla="val 11364"/>
            </a:avLst>
          </a:prstGeom>
          <a:solidFill>
            <a:srgbClr val="6D28D9"/>
          </a:solidFill>
          <a:ln/>
        </p:spPr>
      </p:sp>
      <p:sp>
        <p:nvSpPr>
          <p:cNvPr id="38" name="Text 36"/>
          <p:cNvSpPr/>
          <p:nvPr/>
        </p:nvSpPr>
        <p:spPr>
          <a:xfrm>
            <a:off x="548640" y="37764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9" name="Text 37"/>
          <p:cNvSpPr/>
          <p:nvPr/>
        </p:nvSpPr>
        <p:spPr>
          <a:xfrm>
            <a:off x="1051560" y="37033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Collapsible</a:t>
            </a:r>
            <a:endParaRPr lang="en-US" sz="1100" dirty="0"/>
          </a:p>
        </p:txBody>
      </p:sp>
      <p:sp>
        <p:nvSpPr>
          <p:cNvPr id="40" name="Text 38"/>
          <p:cNvSpPr/>
          <p:nvPr/>
        </p:nvSpPr>
        <p:spPr>
          <a:xfrm>
            <a:off x="1051560" y="39776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Org breakdown section toggles correctly</a:t>
            </a:r>
            <a:endParaRPr lang="en-US" sz="900" dirty="0"/>
          </a:p>
        </p:txBody>
      </p:sp>
      <p:sp>
        <p:nvSpPr>
          <p:cNvPr id="41" name="Shape 39"/>
          <p:cNvSpPr/>
          <p:nvPr/>
        </p:nvSpPr>
        <p:spPr>
          <a:xfrm>
            <a:off x="4754880" y="36118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42" name="Shape 40"/>
          <p:cNvSpPr/>
          <p:nvPr/>
        </p:nvSpPr>
        <p:spPr>
          <a:xfrm>
            <a:off x="4846320" y="3776472"/>
            <a:ext cx="402336" cy="402336"/>
          </a:xfrm>
          <a:prstGeom prst="roundRect">
            <a:avLst>
              <a:gd name="adj" fmla="val 11364"/>
            </a:avLst>
          </a:prstGeom>
          <a:solidFill>
            <a:srgbClr val="7C3AED"/>
          </a:solidFill>
          <a:ln/>
        </p:spPr>
      </p:sp>
      <p:sp>
        <p:nvSpPr>
          <p:cNvPr id="43" name="Text 41"/>
          <p:cNvSpPr/>
          <p:nvPr/>
        </p:nvSpPr>
        <p:spPr>
          <a:xfrm>
            <a:off x="4846320" y="37764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4" name="Text 42"/>
          <p:cNvSpPr/>
          <p:nvPr/>
        </p:nvSpPr>
        <p:spPr>
          <a:xfrm>
            <a:off x="5349240" y="37033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Timeline Tab</a:t>
            </a:r>
            <a:endParaRPr lang="en-US" sz="1100" dirty="0"/>
          </a:p>
        </p:txBody>
      </p:sp>
      <p:sp>
        <p:nvSpPr>
          <p:cNvPr id="45" name="Text 43"/>
          <p:cNvSpPr/>
          <p:nvPr/>
        </p:nvSpPr>
        <p:spPr>
          <a:xfrm>
            <a:off x="5349240" y="39776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Opens, all filters work, grid has content</a:t>
            </a:r>
            <a:endParaRPr lang="en-US" sz="900" dirty="0"/>
          </a:p>
        </p:txBody>
      </p:sp>
      <p:sp>
        <p:nvSpPr>
          <p:cNvPr id="46" name="Shape 44"/>
          <p:cNvSpPr/>
          <p:nvPr/>
        </p:nvSpPr>
        <p:spPr>
          <a:xfrm>
            <a:off x="457200" y="45262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47" name="Shape 45"/>
          <p:cNvSpPr/>
          <p:nvPr/>
        </p:nvSpPr>
        <p:spPr>
          <a:xfrm>
            <a:off x="548640" y="4690872"/>
            <a:ext cx="402336" cy="402336"/>
          </a:xfrm>
          <a:prstGeom prst="roundRect">
            <a:avLst>
              <a:gd name="adj" fmla="val 11364"/>
            </a:avLst>
          </a:prstGeom>
          <a:solidFill>
            <a:srgbClr val="DC2626"/>
          </a:solidFill>
          <a:ln/>
        </p:spPr>
      </p:sp>
      <p:sp>
        <p:nvSpPr>
          <p:cNvPr id="48" name="Text 46"/>
          <p:cNvSpPr/>
          <p:nvPr/>
        </p:nvSpPr>
        <p:spPr>
          <a:xfrm>
            <a:off x="548640" y="46908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49" name="Text 47"/>
          <p:cNvSpPr/>
          <p:nvPr/>
        </p:nvSpPr>
        <p:spPr>
          <a:xfrm>
            <a:off x="1051560" y="46177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Security</a:t>
            </a:r>
            <a:endParaRPr lang="en-US" sz="1100" dirty="0"/>
          </a:p>
        </p:txBody>
      </p:sp>
      <p:sp>
        <p:nvSpPr>
          <p:cNvPr id="50" name="Text 48"/>
          <p:cNvSpPr/>
          <p:nvPr/>
        </p:nvSpPr>
        <p:spPr>
          <a:xfrm>
            <a:off x="1051560" y="48920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CSP, XSS, no eval, script hash, frame-ancestors</a:t>
            </a:r>
            <a:endParaRPr lang="en-US" sz="900" dirty="0"/>
          </a:p>
        </p:txBody>
      </p:sp>
      <p:sp>
        <p:nvSpPr>
          <p:cNvPr id="51" name="Shape 49"/>
          <p:cNvSpPr/>
          <p:nvPr/>
        </p:nvSpPr>
        <p:spPr>
          <a:xfrm>
            <a:off x="4754880" y="4526280"/>
            <a:ext cx="4114800" cy="758952"/>
          </a:xfrm>
          <a:prstGeom prst="roundRect">
            <a:avLst>
              <a:gd name="adj" fmla="val 9639"/>
            </a:avLst>
          </a:prstGeom>
          <a:solidFill>
            <a:srgbClr val="FFFFFF"/>
          </a:solidFill>
          <a:ln/>
          <a:effectLst>
            <a:outerShdw blurRad="101600" dist="25400" dir="2700000" algn="bl" rotWithShape="0">
              <a:srgbClr val="000000">
                <a:alpha val="12000"/>
              </a:srgbClr>
            </a:outerShdw>
          </a:effectLst>
        </p:spPr>
      </p:sp>
      <p:sp>
        <p:nvSpPr>
          <p:cNvPr id="52" name="Shape 50"/>
          <p:cNvSpPr/>
          <p:nvPr/>
        </p:nvSpPr>
        <p:spPr>
          <a:xfrm>
            <a:off x="4846320" y="4690872"/>
            <a:ext cx="402336" cy="402336"/>
          </a:xfrm>
          <a:prstGeom prst="roundRect">
            <a:avLst>
              <a:gd name="adj" fmla="val 11364"/>
            </a:avLst>
          </a:prstGeom>
          <a:solidFill>
            <a:srgbClr val="D97706"/>
          </a:solidFill>
          <a:ln/>
        </p:spPr>
      </p:sp>
      <p:sp>
        <p:nvSpPr>
          <p:cNvPr id="53" name="Text 51"/>
          <p:cNvSpPr/>
          <p:nvPr/>
        </p:nvSpPr>
        <p:spPr>
          <a:xfrm>
            <a:off x="4846320" y="469087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4" name="Text 52"/>
          <p:cNvSpPr/>
          <p:nvPr/>
        </p:nvSpPr>
        <p:spPr>
          <a:xfrm>
            <a:off x="5349240" y="4617720"/>
            <a:ext cx="3429000" cy="256032"/>
          </a:xfrm>
          <a:prstGeom prst="rect">
            <a:avLst/>
          </a:prstGeom>
          <a:noFill/>
          <a:ln/>
        </p:spPr>
        <p:txBody>
          <a:bodyPr wrap="square" lIns="0" tIns="0" rIns="0" bIns="0" rtlCol="0" anchor="ctr"/>
          <a:lstStyle/>
          <a:p>
            <a:pPr marL="0" indent="0">
              <a:buNone/>
            </a:pPr>
            <a:r>
              <a:rPr lang="en-US" sz="1100" b="1" dirty="0">
                <a:solidFill>
                  <a:srgbClr val="1A2A4A"/>
                </a:solidFill>
                <a:latin typeface="Calibri" pitchFamily="34" charset="0"/>
                <a:ea typeface="Calibri" pitchFamily="34" charset="-122"/>
                <a:cs typeface="Calibri" pitchFamily="34" charset="-120"/>
              </a:rPr>
              <a:t>Screenshot</a:t>
            </a:r>
            <a:endParaRPr lang="en-US" sz="1100" dirty="0"/>
          </a:p>
        </p:txBody>
      </p:sp>
      <p:sp>
        <p:nvSpPr>
          <p:cNvPr id="55" name="Text 53"/>
          <p:cNvSpPr/>
          <p:nvPr/>
        </p:nvSpPr>
        <p:spPr>
          <a:xfrm>
            <a:off x="5349240" y="4892040"/>
            <a:ext cx="3429000" cy="301752"/>
          </a:xfrm>
          <a:prstGeom prst="rect">
            <a:avLst/>
          </a:prstGeom>
          <a:noFill/>
          <a:ln/>
        </p:spPr>
        <p:txBody>
          <a:bodyPr wrap="square" lIns="0" tIns="0" rIns="0" bIns="0" rtlCol="0" anchor="ctr"/>
          <a:lstStyle/>
          <a:p>
            <a:pPr marL="0" indent="0">
              <a:buNone/>
            </a:pPr>
            <a:r>
              <a:rPr lang="en-US" sz="900" dirty="0">
                <a:solidFill>
                  <a:srgbClr val="5B7FA6"/>
                </a:solidFill>
                <a:latin typeface="Calibri" pitchFamily="34" charset="0"/>
                <a:ea typeface="Calibri" pitchFamily="34" charset="-122"/>
                <a:cs typeface="Calibri" pitchFamily="34" charset="-120"/>
              </a:rPr>
              <a:t>Visual proof saved with timestamp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CODE</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Pattern Is Always The Same</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Shape 4"/>
          <p:cNvSpPr/>
          <p:nvPr/>
        </p:nvSpPr>
        <p:spPr>
          <a:xfrm>
            <a:off x="457200" y="868680"/>
            <a:ext cx="8229600" cy="1005840"/>
          </a:xfrm>
          <a:prstGeom prst="roundRect">
            <a:avLst>
              <a:gd name="adj" fmla="val 7273"/>
            </a:avLst>
          </a:prstGeom>
          <a:solidFill>
            <a:srgbClr val="0D1F35"/>
          </a:solidFill>
          <a:ln/>
        </p:spPr>
      </p:sp>
      <p:sp>
        <p:nvSpPr>
          <p:cNvPr id="7" name="Text 5"/>
          <p:cNvSpPr/>
          <p:nvPr/>
        </p:nvSpPr>
        <p:spPr>
          <a:xfrm>
            <a:off x="640080" y="960120"/>
            <a:ext cx="7863840" cy="256032"/>
          </a:xfrm>
          <a:prstGeom prst="rect">
            <a:avLst/>
          </a:prstGeom>
          <a:noFill/>
          <a:ln/>
        </p:spPr>
        <p:txBody>
          <a:bodyPr wrap="square" lIns="0" tIns="0" rIns="0" bIns="0" rtlCol="0" anchor="ctr"/>
          <a:lstStyle/>
          <a:p>
            <a:pPr marL="0" indent="0">
              <a:buNone/>
            </a:pPr>
            <a:r>
              <a:rPr lang="en-US" sz="900" dirty="0">
                <a:solidFill>
                  <a:srgbClr val="6B7280"/>
                </a:solidFill>
                <a:latin typeface="Courier New" pitchFamily="34" charset="0"/>
                <a:ea typeface="Courier New" pitchFamily="34" charset="-122"/>
                <a:cs typeface="Courier New" pitchFamily="34" charset="-120"/>
              </a:rPr>
              <a:t># Check element exists</a:t>
            </a:r>
            <a:endParaRPr lang="en-US" sz="900" dirty="0"/>
          </a:p>
        </p:txBody>
      </p:sp>
      <p:sp>
        <p:nvSpPr>
          <p:cNvPr id="8" name="Text 6"/>
          <p:cNvSpPr/>
          <p:nvPr/>
        </p:nvSpPr>
        <p:spPr>
          <a:xfrm>
            <a:off x="640080" y="1216152"/>
            <a:ext cx="7863840" cy="502920"/>
          </a:xfrm>
          <a:prstGeom prst="rect">
            <a:avLst/>
          </a:prstGeom>
          <a:noFill/>
          <a:ln/>
        </p:spPr>
        <p:txBody>
          <a:bodyPr wrap="square" lIns="0" tIns="0" rIns="0" bIns="0" rtlCol="0" anchor="ctr"/>
          <a:lstStyle/>
          <a:p>
            <a:pPr marL="0" indent="0">
              <a:buNone/>
            </a:pPr>
            <a:r>
              <a:rPr lang="en-US" sz="950" dirty="0">
                <a:solidFill>
                  <a:srgbClr val="22C55E"/>
                </a:solidFill>
                <a:latin typeface="Courier New" pitchFamily="34" charset="0"/>
                <a:ea typeface="Courier New" pitchFamily="34" charset="-122"/>
                <a:cs typeface="Courier New" pitchFamily="34" charset="-120"/>
              </a:rPr>
              <a:t>report.add_result(</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"3 — Overview Tab",</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page.locator(".kpi-box").count() &gt;= 7,</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"KPI cards: 7 found"</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a:t>
            </a:r>
            <a:endParaRPr lang="en-US" sz="950" dirty="0"/>
          </a:p>
        </p:txBody>
      </p:sp>
      <p:sp>
        <p:nvSpPr>
          <p:cNvPr id="9" name="Shape 7"/>
          <p:cNvSpPr/>
          <p:nvPr/>
        </p:nvSpPr>
        <p:spPr>
          <a:xfrm>
            <a:off x="457200" y="2057400"/>
            <a:ext cx="8229600" cy="1280160"/>
          </a:xfrm>
          <a:prstGeom prst="roundRect">
            <a:avLst>
              <a:gd name="adj" fmla="val 5714"/>
            </a:avLst>
          </a:prstGeom>
          <a:solidFill>
            <a:srgbClr val="0D1F35"/>
          </a:solidFill>
          <a:ln/>
        </p:spPr>
      </p:sp>
      <p:sp>
        <p:nvSpPr>
          <p:cNvPr id="10" name="Text 8"/>
          <p:cNvSpPr/>
          <p:nvPr/>
        </p:nvSpPr>
        <p:spPr>
          <a:xfrm>
            <a:off x="640080" y="2148840"/>
            <a:ext cx="7863840" cy="256032"/>
          </a:xfrm>
          <a:prstGeom prst="rect">
            <a:avLst/>
          </a:prstGeom>
          <a:noFill/>
          <a:ln/>
        </p:spPr>
        <p:txBody>
          <a:bodyPr wrap="square" lIns="0" tIns="0" rIns="0" bIns="0" rtlCol="0" anchor="ctr"/>
          <a:lstStyle/>
          <a:p>
            <a:pPr marL="0" indent="0">
              <a:buNone/>
            </a:pPr>
            <a:r>
              <a:rPr lang="en-US" sz="900" dirty="0">
                <a:solidFill>
                  <a:srgbClr val="6B7280"/>
                </a:solidFill>
                <a:latin typeface="Courier New" pitchFamily="34" charset="0"/>
                <a:ea typeface="Courier New" pitchFamily="34" charset="-122"/>
                <a:cs typeface="Courier New" pitchFamily="34" charset="-120"/>
              </a:rPr>
              <a:t># Click and verify</a:t>
            </a:r>
            <a:endParaRPr lang="en-US" sz="900" dirty="0"/>
          </a:p>
        </p:txBody>
      </p:sp>
      <p:sp>
        <p:nvSpPr>
          <p:cNvPr id="11" name="Text 9"/>
          <p:cNvSpPr/>
          <p:nvPr/>
        </p:nvSpPr>
        <p:spPr>
          <a:xfrm>
            <a:off x="640080" y="2404872"/>
            <a:ext cx="7863840" cy="777240"/>
          </a:xfrm>
          <a:prstGeom prst="rect">
            <a:avLst/>
          </a:prstGeom>
          <a:noFill/>
          <a:ln/>
        </p:spPr>
        <p:txBody>
          <a:bodyPr wrap="square" lIns="0" tIns="0" rIns="0" bIns="0" rtlCol="0" anchor="ctr"/>
          <a:lstStyle/>
          <a:p>
            <a:pPr marL="0" indent="0">
              <a:buNone/>
            </a:pPr>
            <a:r>
              <a:rPr lang="en-US" sz="950" dirty="0">
                <a:solidFill>
                  <a:srgbClr val="22C55E"/>
                </a:solidFill>
                <a:latin typeface="Courier New" pitchFamily="34" charset="0"/>
                <a:ea typeface="Courier New" pitchFamily="34" charset="-122"/>
                <a:cs typeface="Courier New" pitchFamily="34" charset="-120"/>
              </a:rPr>
              <a:t>page.locator(".tab-btn[data-tab='timeline']")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.click()</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page.wait_for_timeout(500)</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report.add_result("8 — Timeline",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page.locator("#tab-timeline").is_visible(),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"Timeline opens on click")</a:t>
            </a:r>
            <a:endParaRPr lang="en-US" sz="950" dirty="0"/>
          </a:p>
        </p:txBody>
      </p:sp>
      <p:sp>
        <p:nvSpPr>
          <p:cNvPr id="12" name="Shape 10"/>
          <p:cNvSpPr/>
          <p:nvPr/>
        </p:nvSpPr>
        <p:spPr>
          <a:xfrm>
            <a:off x="4572000" y="868680"/>
            <a:ext cx="4297680" cy="1463040"/>
          </a:xfrm>
          <a:prstGeom prst="roundRect">
            <a:avLst>
              <a:gd name="adj" fmla="val 5000"/>
            </a:avLst>
          </a:prstGeom>
          <a:solidFill>
            <a:srgbClr val="0D1F35"/>
          </a:solidFill>
          <a:ln/>
        </p:spPr>
      </p:sp>
      <p:sp>
        <p:nvSpPr>
          <p:cNvPr id="13" name="Text 11"/>
          <p:cNvSpPr/>
          <p:nvPr/>
        </p:nvSpPr>
        <p:spPr>
          <a:xfrm>
            <a:off x="4754880" y="960120"/>
            <a:ext cx="3931920" cy="256032"/>
          </a:xfrm>
          <a:prstGeom prst="rect">
            <a:avLst/>
          </a:prstGeom>
          <a:noFill/>
          <a:ln/>
        </p:spPr>
        <p:txBody>
          <a:bodyPr wrap="square" lIns="0" tIns="0" rIns="0" bIns="0" rtlCol="0" anchor="ctr"/>
          <a:lstStyle/>
          <a:p>
            <a:pPr marL="0" indent="0">
              <a:buNone/>
            </a:pPr>
            <a:r>
              <a:rPr lang="en-US" sz="900" dirty="0">
                <a:solidFill>
                  <a:srgbClr val="6B7280"/>
                </a:solidFill>
                <a:latin typeface="Courier New" pitchFamily="34" charset="0"/>
                <a:ea typeface="Courier New" pitchFamily="34" charset="-122"/>
                <a:cs typeface="Courier New" pitchFamily="34" charset="-120"/>
              </a:rPr>
              <a:t># Filter interaction</a:t>
            </a:r>
            <a:endParaRPr lang="en-US" sz="900" dirty="0"/>
          </a:p>
        </p:txBody>
      </p:sp>
      <p:sp>
        <p:nvSpPr>
          <p:cNvPr id="14" name="Text 12"/>
          <p:cNvSpPr/>
          <p:nvPr/>
        </p:nvSpPr>
        <p:spPr>
          <a:xfrm>
            <a:off x="4754880" y="1216152"/>
            <a:ext cx="3931920" cy="960120"/>
          </a:xfrm>
          <a:prstGeom prst="rect">
            <a:avLst/>
          </a:prstGeom>
          <a:noFill/>
          <a:ln/>
        </p:spPr>
        <p:txBody>
          <a:bodyPr wrap="square" lIns="0" tIns="0" rIns="0" bIns="0" rtlCol="0" anchor="ctr"/>
          <a:lstStyle/>
          <a:p>
            <a:pPr marL="0" indent="0">
              <a:buNone/>
            </a:pPr>
            <a:r>
              <a:rPr lang="en-US" sz="950" dirty="0">
                <a:solidFill>
                  <a:srgbClr val="22C55E"/>
                </a:solidFill>
                <a:latin typeface="Courier New" pitchFamily="34" charset="0"/>
                <a:ea typeface="Courier New" pitchFamily="34" charset="-122"/>
                <a:cs typeface="Courier New" pitchFamily="34" charset="-120"/>
              </a:rPr>
              <a:t>page.locator(".f-sel[data-attr='status']")</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.select_option(value="Completed")</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page.wait_for_timeout(400)</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rows = page.locator("tbody tr:visible").count()</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report.add_result("5 — Filters", True,</a:t>
            </a:r>
            <a:endParaRPr lang="en-US" sz="950" dirty="0"/>
          </a:p>
          <a:p>
            <a:pPr marL="0" indent="0">
              <a:buNone/>
            </a:pPr>
            <a:r>
              <a:rPr lang="en-US" sz="950" dirty="0">
                <a:solidFill>
                  <a:srgbClr val="22C55E"/>
                </a:solidFill>
                <a:latin typeface="Courier New" pitchFamily="34" charset="0"/>
                <a:ea typeface="Courier New" pitchFamily="34" charset="-122"/>
                <a:cs typeface="Courier New" pitchFamily="34" charset="-120"/>
              </a:rPr>
              <a:t>  f"Status filter: {rows} rows visible")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The Report Looks Like</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937760" cy="3931920"/>
          </a:xfrm>
          <a:prstGeom prst="roundRect">
            <a:avLst>
              <a:gd name="adj" fmla="val 2326"/>
            </a:avLst>
          </a:prstGeom>
          <a:solidFill>
            <a:srgbClr val="1A2A4A"/>
          </a:solidFill>
          <a:ln/>
        </p:spPr>
      </p:sp>
      <p:sp>
        <p:nvSpPr>
          <p:cNvPr id="7" name="Text 5"/>
          <p:cNvSpPr/>
          <p:nvPr/>
        </p:nvSpPr>
        <p:spPr>
          <a:xfrm>
            <a:off x="548640" y="88696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8" name="Text 6"/>
          <p:cNvSpPr/>
          <p:nvPr/>
        </p:nvSpPr>
        <p:spPr>
          <a:xfrm>
            <a:off x="548640" y="1069848"/>
            <a:ext cx="4754880" cy="201168"/>
          </a:xfrm>
          <a:prstGeom prst="rect">
            <a:avLst/>
          </a:prstGeom>
          <a:noFill/>
          <a:ln/>
        </p:spPr>
        <p:txBody>
          <a:bodyPr wrap="square" lIns="0" tIns="0" rIns="0" bIns="0" rtlCol="0" anchor="ctr"/>
          <a:lstStyle/>
          <a:p>
            <a:pPr marL="0" indent="0">
              <a:buNone/>
            </a:pPr>
            <a:r>
              <a:rPr lang="en-US" sz="800" b="1" dirty="0">
                <a:solidFill>
                  <a:srgbClr val="FFFFFF"/>
                </a:solidFill>
                <a:latin typeface="Courier New" pitchFamily="34" charset="0"/>
                <a:ea typeface="Courier New" pitchFamily="34" charset="-122"/>
                <a:cs typeface="Courier New" pitchFamily="34" charset="-120"/>
              </a:rPr>
              <a:t>  VALIDATION REPORT — GHCP ROLLOUT</a:t>
            </a:r>
            <a:endParaRPr lang="en-US" sz="800" dirty="0"/>
          </a:p>
        </p:txBody>
      </p:sp>
      <p:sp>
        <p:nvSpPr>
          <p:cNvPr id="9" name="Text 7"/>
          <p:cNvSpPr/>
          <p:nvPr/>
        </p:nvSpPr>
        <p:spPr>
          <a:xfrm>
            <a:off x="548640" y="1252728"/>
            <a:ext cx="4754880" cy="201168"/>
          </a:xfrm>
          <a:prstGeom prst="rect">
            <a:avLst/>
          </a:prstGeom>
          <a:noFill/>
          <a:ln/>
        </p:spPr>
        <p:txBody>
          <a:bodyPr wrap="square" lIns="0" tIns="0" rIns="0" bIns="0" rtlCol="0" anchor="ctr"/>
          <a:lstStyle/>
          <a:p>
            <a:pPr marL="0" indent="0">
              <a:buNone/>
            </a:pPr>
            <a:r>
              <a:rPr lang="en-US" sz="800" dirty="0">
                <a:solidFill>
                  <a:srgbClr val="6B7280"/>
                </a:solidFill>
                <a:latin typeface="Courier New" pitchFamily="34" charset="0"/>
                <a:ea typeface="Courier New" pitchFamily="34" charset="-122"/>
                <a:cs typeface="Courier New" pitchFamily="34" charset="-120"/>
              </a:rPr>
              <a:t>  2026-04-29  11:03</a:t>
            </a:r>
            <a:endParaRPr lang="en-US" sz="800" dirty="0"/>
          </a:p>
        </p:txBody>
      </p:sp>
      <p:sp>
        <p:nvSpPr>
          <p:cNvPr id="10" name="Text 8"/>
          <p:cNvSpPr/>
          <p:nvPr/>
        </p:nvSpPr>
        <p:spPr>
          <a:xfrm>
            <a:off x="548640" y="143560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11" name="Text 9"/>
          <p:cNvSpPr/>
          <p:nvPr/>
        </p:nvSpPr>
        <p:spPr>
          <a:xfrm>
            <a:off x="548640" y="1618488"/>
            <a:ext cx="4754880" cy="201168"/>
          </a:xfrm>
          <a:prstGeom prst="rect">
            <a:avLst/>
          </a:prstGeom>
          <a:noFill/>
          <a:ln/>
        </p:spPr>
        <p:txBody>
          <a:bodyPr wrap="square" lIns="0" tIns="0" rIns="0" bIns="0" rtlCol="0" anchor="ctr"/>
          <a:lstStyle/>
          <a:p>
            <a:pPr marL="0" indent="0">
              <a:buNone/>
            </a:pPr>
            <a:endParaRPr lang="en-US" sz="800" dirty="0"/>
          </a:p>
        </p:txBody>
      </p:sp>
      <p:sp>
        <p:nvSpPr>
          <p:cNvPr id="12" name="Text 10"/>
          <p:cNvSpPr/>
          <p:nvPr/>
        </p:nvSpPr>
        <p:spPr>
          <a:xfrm>
            <a:off x="548640" y="1801368"/>
            <a:ext cx="4754880" cy="201168"/>
          </a:xfrm>
          <a:prstGeom prst="rect">
            <a:avLst/>
          </a:prstGeom>
          <a:noFill/>
          <a:ln/>
        </p:spPr>
        <p:txBody>
          <a:bodyPr wrap="square" lIns="0" tIns="0" rIns="0" bIns="0" rtlCol="0" anchor="ctr"/>
          <a:lstStyle/>
          <a:p>
            <a:pPr marL="0" indent="0">
              <a:buNone/>
            </a:pPr>
            <a:r>
              <a:rPr lang="en-US" sz="800" b="1" dirty="0">
                <a:solidFill>
                  <a:srgbClr val="22C55E"/>
                </a:solidFill>
                <a:latin typeface="Courier New" pitchFamily="34" charset="0"/>
                <a:ea typeface="Courier New" pitchFamily="34" charset="-122"/>
                <a:cs typeface="Courier New" pitchFamily="34" charset="-120"/>
              </a:rPr>
              <a:t>  ✅  1 — Page Load</a:t>
            </a:r>
            <a:endParaRPr lang="en-US" sz="800" dirty="0"/>
          </a:p>
        </p:txBody>
      </p:sp>
      <p:sp>
        <p:nvSpPr>
          <p:cNvPr id="13" name="Text 11"/>
          <p:cNvSpPr/>
          <p:nvPr/>
        </p:nvSpPr>
        <p:spPr>
          <a:xfrm>
            <a:off x="548640" y="198424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No JS errors on load</a:t>
            </a:r>
            <a:endParaRPr lang="en-US" sz="800" dirty="0"/>
          </a:p>
        </p:txBody>
      </p:sp>
      <p:sp>
        <p:nvSpPr>
          <p:cNvPr id="14" name="Text 12"/>
          <p:cNvSpPr/>
          <p:nvPr/>
        </p:nvSpPr>
        <p:spPr>
          <a:xfrm>
            <a:off x="548640" y="216712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Page has content</a:t>
            </a:r>
            <a:endParaRPr lang="en-US" sz="800" dirty="0"/>
          </a:p>
        </p:txBody>
      </p:sp>
      <p:sp>
        <p:nvSpPr>
          <p:cNvPr id="15" name="Text 13"/>
          <p:cNvSpPr/>
          <p:nvPr/>
        </p:nvSpPr>
        <p:spPr>
          <a:xfrm>
            <a:off x="548640" y="2350008"/>
            <a:ext cx="4754880" cy="201168"/>
          </a:xfrm>
          <a:prstGeom prst="rect">
            <a:avLst/>
          </a:prstGeom>
          <a:noFill/>
          <a:ln/>
        </p:spPr>
        <p:txBody>
          <a:bodyPr wrap="square" lIns="0" tIns="0" rIns="0" bIns="0" rtlCol="0" anchor="ctr"/>
          <a:lstStyle/>
          <a:p>
            <a:pPr marL="0" indent="0">
              <a:buNone/>
            </a:pPr>
            <a:endParaRPr lang="en-US" sz="800" dirty="0"/>
          </a:p>
        </p:txBody>
      </p:sp>
      <p:sp>
        <p:nvSpPr>
          <p:cNvPr id="16" name="Text 14"/>
          <p:cNvSpPr/>
          <p:nvPr/>
        </p:nvSpPr>
        <p:spPr>
          <a:xfrm>
            <a:off x="548640" y="2532888"/>
            <a:ext cx="4754880" cy="201168"/>
          </a:xfrm>
          <a:prstGeom prst="rect">
            <a:avLst/>
          </a:prstGeom>
          <a:noFill/>
          <a:ln/>
        </p:spPr>
        <p:txBody>
          <a:bodyPr wrap="square" lIns="0" tIns="0" rIns="0" bIns="0" rtlCol="0" anchor="ctr"/>
          <a:lstStyle/>
          <a:p>
            <a:pPr marL="0" indent="0">
              <a:buNone/>
            </a:pPr>
            <a:r>
              <a:rPr lang="en-US" sz="800" b="1" dirty="0">
                <a:solidFill>
                  <a:srgbClr val="22C55E"/>
                </a:solidFill>
                <a:latin typeface="Courier New" pitchFamily="34" charset="0"/>
                <a:ea typeface="Courier New" pitchFamily="34" charset="-122"/>
                <a:cs typeface="Courier New" pitchFamily="34" charset="-120"/>
              </a:rPr>
              <a:t>  ✅  3 — Overview Tab</a:t>
            </a:r>
            <a:endParaRPr lang="en-US" sz="800" dirty="0"/>
          </a:p>
        </p:txBody>
      </p:sp>
      <p:sp>
        <p:nvSpPr>
          <p:cNvPr id="17" name="Text 15"/>
          <p:cNvSpPr/>
          <p:nvPr/>
        </p:nvSpPr>
        <p:spPr>
          <a:xfrm>
            <a:off x="548640" y="271576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KPI cards: 7</a:t>
            </a:r>
            <a:endParaRPr lang="en-US" sz="800" dirty="0"/>
          </a:p>
        </p:txBody>
      </p:sp>
      <p:sp>
        <p:nvSpPr>
          <p:cNvPr id="18" name="Text 16"/>
          <p:cNvSpPr/>
          <p:nvPr/>
        </p:nvSpPr>
        <p:spPr>
          <a:xfrm>
            <a:off x="548640" y="2898648"/>
            <a:ext cx="4754880" cy="201168"/>
          </a:xfrm>
          <a:prstGeom prst="rect">
            <a:avLst/>
          </a:prstGeom>
          <a:noFill/>
          <a:ln/>
        </p:spPr>
        <p:txBody>
          <a:bodyPr wrap="square" lIns="0" tIns="0" rIns="0" bIns="0" rtlCol="0" anchor="ctr"/>
          <a:lstStyle/>
          <a:p>
            <a:pPr marL="0" indent="0">
              <a:buNone/>
            </a:pPr>
            <a:r>
              <a:rPr lang="en-US" sz="800" dirty="0">
                <a:solidFill>
                  <a:srgbClr val="9CA3AF"/>
                </a:solidFill>
                <a:latin typeface="Courier New" pitchFamily="34" charset="0"/>
                <a:ea typeface="Courier New" pitchFamily="34" charset="-122"/>
                <a:cs typeface="Courier New" pitchFamily="34" charset="-120"/>
              </a:rPr>
              <a:t>     ✅  All KPI values populated</a:t>
            </a:r>
            <a:endParaRPr lang="en-US" sz="800" dirty="0"/>
          </a:p>
        </p:txBody>
      </p:sp>
      <p:sp>
        <p:nvSpPr>
          <p:cNvPr id="19" name="Text 17"/>
          <p:cNvSpPr/>
          <p:nvPr/>
        </p:nvSpPr>
        <p:spPr>
          <a:xfrm>
            <a:off x="548640" y="3081528"/>
            <a:ext cx="4754880" cy="201168"/>
          </a:xfrm>
          <a:prstGeom prst="rect">
            <a:avLst/>
          </a:prstGeom>
          <a:noFill/>
          <a:ln/>
        </p:spPr>
        <p:txBody>
          <a:bodyPr wrap="square" lIns="0" tIns="0" rIns="0" bIns="0" rtlCol="0" anchor="ctr"/>
          <a:lstStyle/>
          <a:p>
            <a:pPr marL="0" indent="0">
              <a:buNone/>
            </a:pPr>
            <a:endParaRPr lang="en-US" sz="800" dirty="0"/>
          </a:p>
        </p:txBody>
      </p:sp>
      <p:sp>
        <p:nvSpPr>
          <p:cNvPr id="20" name="Text 18"/>
          <p:cNvSpPr/>
          <p:nvPr/>
        </p:nvSpPr>
        <p:spPr>
          <a:xfrm>
            <a:off x="548640" y="3264408"/>
            <a:ext cx="4754880" cy="201168"/>
          </a:xfrm>
          <a:prstGeom prst="rect">
            <a:avLst/>
          </a:prstGeom>
          <a:noFill/>
          <a:ln/>
        </p:spPr>
        <p:txBody>
          <a:bodyPr wrap="square" lIns="0" tIns="0" rIns="0" bIns="0" rtlCol="0" anchor="ctr"/>
          <a:lstStyle/>
          <a:p>
            <a:pPr marL="0" indent="0">
              <a:buNone/>
            </a:pPr>
            <a:r>
              <a:rPr lang="en-US" sz="800" b="1" dirty="0">
                <a:solidFill>
                  <a:srgbClr val="EF4444"/>
                </a:solidFill>
                <a:latin typeface="Courier New" pitchFamily="34" charset="0"/>
                <a:ea typeface="Courier New" pitchFamily="34" charset="-122"/>
                <a:cs typeface="Courier New" pitchFamily="34" charset="-120"/>
              </a:rPr>
              <a:t>  ❌  5 — Filters</a:t>
            </a:r>
            <a:endParaRPr lang="en-US" sz="800" dirty="0"/>
          </a:p>
        </p:txBody>
      </p:sp>
      <p:sp>
        <p:nvSpPr>
          <p:cNvPr id="21" name="Text 19"/>
          <p:cNvSpPr/>
          <p:nvPr/>
        </p:nvSpPr>
        <p:spPr>
          <a:xfrm>
            <a:off x="548640" y="3447288"/>
            <a:ext cx="4754880" cy="201168"/>
          </a:xfrm>
          <a:prstGeom prst="rect">
            <a:avLst/>
          </a:prstGeom>
          <a:noFill/>
          <a:ln/>
        </p:spPr>
        <p:txBody>
          <a:bodyPr wrap="square" lIns="0" tIns="0" rIns="0" bIns="0" rtlCol="0" anchor="ctr"/>
          <a:lstStyle/>
          <a:p>
            <a:pPr marL="0" indent="0">
              <a:buNone/>
            </a:pPr>
            <a:r>
              <a:rPr lang="en-US" sz="800" dirty="0">
                <a:solidFill>
                  <a:srgbClr val="EF4444"/>
                </a:solidFill>
                <a:latin typeface="Courier New" pitchFamily="34" charset="0"/>
                <a:ea typeface="Courier New" pitchFamily="34" charset="-122"/>
                <a:cs typeface="Courier New" pitchFamily="34" charset="-120"/>
              </a:rPr>
              <a:t>     ❌  DR filter: 0 rows visible</a:t>
            </a:r>
            <a:endParaRPr lang="en-US" sz="800" dirty="0"/>
          </a:p>
        </p:txBody>
      </p:sp>
      <p:sp>
        <p:nvSpPr>
          <p:cNvPr id="22" name="Text 20"/>
          <p:cNvSpPr/>
          <p:nvPr/>
        </p:nvSpPr>
        <p:spPr>
          <a:xfrm>
            <a:off x="548640" y="3630168"/>
            <a:ext cx="4754880" cy="201168"/>
          </a:xfrm>
          <a:prstGeom prst="rect">
            <a:avLst/>
          </a:prstGeom>
          <a:noFill/>
          <a:ln/>
        </p:spPr>
        <p:txBody>
          <a:bodyPr wrap="square" lIns="0" tIns="0" rIns="0" bIns="0" rtlCol="0" anchor="ctr"/>
          <a:lstStyle/>
          <a:p>
            <a:pPr marL="0" indent="0">
              <a:buNone/>
            </a:pPr>
            <a:endParaRPr lang="en-US" sz="800" dirty="0"/>
          </a:p>
        </p:txBody>
      </p:sp>
      <p:sp>
        <p:nvSpPr>
          <p:cNvPr id="23" name="Text 21"/>
          <p:cNvSpPr/>
          <p:nvPr/>
        </p:nvSpPr>
        <p:spPr>
          <a:xfrm>
            <a:off x="548640" y="381304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24" name="Text 22"/>
          <p:cNvSpPr/>
          <p:nvPr/>
        </p:nvSpPr>
        <p:spPr>
          <a:xfrm>
            <a:off x="548640" y="3995928"/>
            <a:ext cx="4754880" cy="201168"/>
          </a:xfrm>
          <a:prstGeom prst="rect">
            <a:avLst/>
          </a:prstGeom>
          <a:noFill/>
          <a:ln/>
        </p:spPr>
        <p:txBody>
          <a:bodyPr wrap="square" lIns="0" tIns="0" rIns="0" bIns="0" rtlCol="0" anchor="ctr"/>
          <a:lstStyle/>
          <a:p>
            <a:pPr marL="0" indent="0">
              <a:buNone/>
            </a:pPr>
            <a:r>
              <a:rPr lang="en-US" sz="800" b="1" dirty="0">
                <a:solidFill>
                  <a:srgbClr val="EF4444"/>
                </a:solidFill>
                <a:latin typeface="Courier New" pitchFamily="34" charset="0"/>
                <a:ea typeface="Courier New" pitchFamily="34" charset="-122"/>
                <a:cs typeface="Courier New" pitchFamily="34" charset="-120"/>
              </a:rPr>
              <a:t>  ❌  FAILED — Fix before deploying</a:t>
            </a:r>
            <a:endParaRPr lang="en-US" sz="800" dirty="0"/>
          </a:p>
        </p:txBody>
      </p:sp>
      <p:sp>
        <p:nvSpPr>
          <p:cNvPr id="25" name="Text 23"/>
          <p:cNvSpPr/>
          <p:nvPr/>
        </p:nvSpPr>
        <p:spPr>
          <a:xfrm>
            <a:off x="548640" y="4178808"/>
            <a:ext cx="4754880" cy="201168"/>
          </a:xfrm>
          <a:prstGeom prst="rect">
            <a:avLst/>
          </a:prstGeom>
          <a:noFill/>
          <a:ln/>
        </p:spPr>
        <p:txBody>
          <a:bodyPr wrap="square" lIns="0" tIns="0" rIns="0" bIns="0" rtlCol="0" anchor="ctr"/>
          <a:lstStyle/>
          <a:p>
            <a:pPr marL="0" indent="0">
              <a:buNone/>
            </a:pPr>
            <a:r>
              <a:rPr lang="en-US" sz="800" dirty="0">
                <a:solidFill>
                  <a:srgbClr val="4B5563"/>
                </a:solidFill>
                <a:latin typeface="Courier New" pitchFamily="34" charset="0"/>
                <a:ea typeface="Courier New" pitchFamily="34" charset="-122"/>
                <a:cs typeface="Courier New" pitchFamily="34" charset="-120"/>
              </a:rPr>
              <a:t>──────────────────────────────────</a:t>
            </a:r>
            <a:endParaRPr lang="en-US" sz="800" dirty="0"/>
          </a:p>
        </p:txBody>
      </p:sp>
      <p:sp>
        <p:nvSpPr>
          <p:cNvPr id="26" name="Shape 24"/>
          <p:cNvSpPr/>
          <p:nvPr/>
        </p:nvSpPr>
        <p:spPr>
          <a:xfrm>
            <a:off x="5577840" y="1005840"/>
            <a:ext cx="256032" cy="256032"/>
          </a:xfrm>
          <a:prstGeom prst="ellipse">
            <a:avLst/>
          </a:prstGeom>
          <a:solidFill>
            <a:srgbClr val="22C55E"/>
          </a:solidFill>
          <a:ln/>
        </p:spPr>
      </p:sp>
      <p:sp>
        <p:nvSpPr>
          <p:cNvPr id="27" name="Text 25"/>
          <p:cNvSpPr/>
          <p:nvPr/>
        </p:nvSpPr>
        <p:spPr>
          <a:xfrm>
            <a:off x="5989320" y="969264"/>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Every check labelled clearly</a:t>
            </a:r>
            <a:endParaRPr lang="en-US" sz="1100" dirty="0"/>
          </a:p>
        </p:txBody>
      </p:sp>
      <p:sp>
        <p:nvSpPr>
          <p:cNvPr id="28" name="Shape 26"/>
          <p:cNvSpPr/>
          <p:nvPr/>
        </p:nvSpPr>
        <p:spPr>
          <a:xfrm>
            <a:off x="5577840" y="1627632"/>
            <a:ext cx="256032" cy="256032"/>
          </a:xfrm>
          <a:prstGeom prst="ellipse">
            <a:avLst/>
          </a:prstGeom>
          <a:solidFill>
            <a:srgbClr val="22C55E"/>
          </a:solidFill>
          <a:ln/>
        </p:spPr>
      </p:sp>
      <p:sp>
        <p:nvSpPr>
          <p:cNvPr id="29" name="Text 27"/>
          <p:cNvSpPr/>
          <p:nvPr/>
        </p:nvSpPr>
        <p:spPr>
          <a:xfrm>
            <a:off x="5989320" y="1591056"/>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Section by section result</a:t>
            </a:r>
            <a:endParaRPr lang="en-US" sz="1100" dirty="0"/>
          </a:p>
        </p:txBody>
      </p:sp>
      <p:sp>
        <p:nvSpPr>
          <p:cNvPr id="30" name="Shape 28"/>
          <p:cNvSpPr/>
          <p:nvPr/>
        </p:nvSpPr>
        <p:spPr>
          <a:xfrm>
            <a:off x="5577840" y="2249424"/>
            <a:ext cx="256032" cy="256032"/>
          </a:xfrm>
          <a:prstGeom prst="ellipse">
            <a:avLst/>
          </a:prstGeom>
          <a:solidFill>
            <a:srgbClr val="EF4444"/>
          </a:solidFill>
          <a:ln/>
        </p:spPr>
      </p:sp>
      <p:sp>
        <p:nvSpPr>
          <p:cNvPr id="31" name="Text 29"/>
          <p:cNvSpPr/>
          <p:nvPr/>
        </p:nvSpPr>
        <p:spPr>
          <a:xfrm>
            <a:off x="5989320" y="2212848"/>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Failed check — exact detail</a:t>
            </a:r>
            <a:endParaRPr lang="en-US" sz="1100" dirty="0"/>
          </a:p>
        </p:txBody>
      </p:sp>
      <p:sp>
        <p:nvSpPr>
          <p:cNvPr id="32" name="Shape 30"/>
          <p:cNvSpPr/>
          <p:nvPr/>
        </p:nvSpPr>
        <p:spPr>
          <a:xfrm>
            <a:off x="5577840" y="2871216"/>
            <a:ext cx="256032" cy="256032"/>
          </a:xfrm>
          <a:prstGeom prst="ellipse">
            <a:avLst/>
          </a:prstGeom>
          <a:solidFill>
            <a:srgbClr val="00B4D8"/>
          </a:solidFill>
          <a:ln/>
        </p:spPr>
      </p:sp>
      <p:sp>
        <p:nvSpPr>
          <p:cNvPr id="33" name="Text 31"/>
          <p:cNvSpPr/>
          <p:nvPr/>
        </p:nvSpPr>
        <p:spPr>
          <a:xfrm>
            <a:off x="5989320" y="2834640"/>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Saved with timestamp always</a:t>
            </a:r>
            <a:endParaRPr lang="en-US" sz="1100" dirty="0"/>
          </a:p>
        </p:txBody>
      </p:sp>
      <p:sp>
        <p:nvSpPr>
          <p:cNvPr id="34" name="Shape 32"/>
          <p:cNvSpPr/>
          <p:nvPr/>
        </p:nvSpPr>
        <p:spPr>
          <a:xfrm>
            <a:off x="5577840" y="3493008"/>
            <a:ext cx="256032" cy="256032"/>
          </a:xfrm>
          <a:prstGeom prst="ellipse">
            <a:avLst/>
          </a:prstGeom>
          <a:solidFill>
            <a:srgbClr val="00B4D8"/>
          </a:solidFill>
          <a:ln/>
        </p:spPr>
      </p:sp>
      <p:sp>
        <p:nvSpPr>
          <p:cNvPr id="35" name="Text 33"/>
          <p:cNvSpPr/>
          <p:nvPr/>
        </p:nvSpPr>
        <p:spPr>
          <a:xfrm>
            <a:off x="5989320" y="3456432"/>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Screenshot saved alongside</a:t>
            </a:r>
            <a:endParaRPr lang="en-US" sz="1100" dirty="0"/>
          </a:p>
        </p:txBody>
      </p:sp>
      <p:sp>
        <p:nvSpPr>
          <p:cNvPr id="36" name="Shape 34"/>
          <p:cNvSpPr/>
          <p:nvPr/>
        </p:nvSpPr>
        <p:spPr>
          <a:xfrm>
            <a:off x="5577840" y="4114800"/>
            <a:ext cx="256032" cy="256032"/>
          </a:xfrm>
          <a:prstGeom prst="ellipse">
            <a:avLst/>
          </a:prstGeom>
          <a:solidFill>
            <a:srgbClr val="22C55E"/>
          </a:solidFill>
          <a:ln/>
        </p:spPr>
      </p:sp>
      <p:sp>
        <p:nvSpPr>
          <p:cNvPr id="37" name="Text 35"/>
          <p:cNvSpPr/>
          <p:nvPr/>
        </p:nvSpPr>
        <p:spPr>
          <a:xfrm>
            <a:off x="5989320" y="4078224"/>
            <a:ext cx="2834640" cy="329184"/>
          </a:xfrm>
          <a:prstGeom prst="rect">
            <a:avLst/>
          </a:prstGeom>
          <a:noFill/>
          <a:ln/>
        </p:spPr>
        <p:txBody>
          <a:bodyPr wrap="square" lIns="0" tIns="0" rIns="0" bIns="0" rtlCol="0" anchor="ctr"/>
          <a:lstStyle/>
          <a:p>
            <a:pPr marL="0" indent="0">
              <a:buNone/>
            </a:pPr>
            <a:r>
              <a:rPr lang="en-US" sz="1100" dirty="0">
                <a:solidFill>
                  <a:srgbClr val="2D3748"/>
                </a:solidFill>
                <a:latin typeface="Calibri" pitchFamily="34" charset="0"/>
                <a:ea typeface="Calibri" pitchFamily="34" charset="-122"/>
                <a:cs typeface="Calibri" pitchFamily="34" charset="-120"/>
              </a:rPr>
              <a:t>One clear deploy decision</a:t>
            </a:r>
            <a:endParaRPr lang="en-US" sz="1100" dirty="0"/>
          </a:p>
        </p:txBody>
      </p:sp>
      <p:sp>
        <p:nvSpPr>
          <p:cNvPr id="38" name="Shape 36"/>
          <p:cNvSpPr/>
          <p:nvPr/>
        </p:nvSpPr>
        <p:spPr>
          <a:xfrm>
            <a:off x="5486400" y="4114800"/>
            <a:ext cx="3383280" cy="548640"/>
          </a:xfrm>
          <a:prstGeom prst="roundRect">
            <a:avLst>
              <a:gd name="adj" fmla="val 13333"/>
            </a:avLst>
          </a:prstGeom>
          <a:solidFill>
            <a:srgbClr val="14532D"/>
          </a:solidFill>
          <a:ln/>
        </p:spPr>
      </p:sp>
      <p:sp>
        <p:nvSpPr>
          <p:cNvPr id="39" name="Text 37"/>
          <p:cNvSpPr/>
          <p:nvPr/>
        </p:nvSpPr>
        <p:spPr>
          <a:xfrm>
            <a:off x="5486400" y="4114800"/>
            <a:ext cx="3383280" cy="548640"/>
          </a:xfrm>
          <a:prstGeom prst="rect">
            <a:avLst/>
          </a:prstGeom>
          <a:noFill/>
          <a:ln/>
        </p:spPr>
        <p:txBody>
          <a:bodyPr wrap="square" lIns="0" tIns="0" rIns="0" bIns="0" rtlCol="0" anchor="ctr"/>
          <a:lstStyle/>
          <a:p>
            <a:pPr marL="0" indent="0" algn="ctr">
              <a:buNone/>
            </a:pPr>
            <a:r>
              <a:rPr lang="en-US" sz="1100" b="1" dirty="0">
                <a:solidFill>
                  <a:srgbClr val="22C55E"/>
                </a:solidFill>
                <a:latin typeface="Calibri" pitchFamily="34" charset="0"/>
                <a:ea typeface="Calibri" pitchFamily="34" charset="-122"/>
                <a:cs typeface="Calibri" pitchFamily="34" charset="-120"/>
              </a:rPr>
              <a:t>✅  ALL PASSED — Safe to deploy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Before vs After</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3931920" cy="3931920"/>
          </a:xfrm>
          <a:prstGeom prst="roundRect">
            <a:avLst>
              <a:gd name="adj" fmla="val 2326"/>
            </a:avLst>
          </a:prstGeom>
          <a:solidFill>
            <a:srgbClr val="FFF5F5"/>
          </a:solidFill>
          <a:ln w="12700">
            <a:solidFill>
              <a:srgbClr val="FCA5A5"/>
            </a:solidFill>
            <a:prstDash val="solid"/>
          </a:ln>
        </p:spPr>
      </p:sp>
      <p:sp>
        <p:nvSpPr>
          <p:cNvPr id="7" name="Text 5"/>
          <p:cNvSpPr/>
          <p:nvPr/>
        </p:nvSpPr>
        <p:spPr>
          <a:xfrm>
            <a:off x="640080" y="960120"/>
            <a:ext cx="3566160" cy="365760"/>
          </a:xfrm>
          <a:prstGeom prst="rect">
            <a:avLst/>
          </a:prstGeom>
          <a:noFill/>
          <a:ln/>
        </p:spPr>
        <p:txBody>
          <a:bodyPr wrap="square" lIns="0" tIns="0" rIns="0" bIns="0" rtlCol="0" anchor="ctr"/>
          <a:lstStyle/>
          <a:p>
            <a:pPr marL="0" indent="0" algn="ctr">
              <a:buNone/>
            </a:pPr>
            <a:r>
              <a:rPr lang="en-US" sz="1400" b="1" dirty="0">
                <a:solidFill>
                  <a:srgbClr val="EF4444"/>
                </a:solidFill>
                <a:latin typeface="Calibri" pitchFamily="34" charset="0"/>
                <a:ea typeface="Calibri" pitchFamily="34" charset="-122"/>
                <a:cs typeface="Calibri" pitchFamily="34" charset="-120"/>
              </a:rPr>
              <a:t>BEFORE</a:t>
            </a:r>
            <a:endParaRPr lang="en-US" sz="1400" dirty="0"/>
          </a:p>
        </p:txBody>
      </p:sp>
      <p:sp>
        <p:nvSpPr>
          <p:cNvPr id="8" name="Text 6"/>
          <p:cNvSpPr/>
          <p:nvPr/>
        </p:nvSpPr>
        <p:spPr>
          <a:xfrm>
            <a:off x="640080" y="141732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11:00 am  Excel updated</a:t>
            </a:r>
            <a:endParaRPr lang="en-US" sz="1000" dirty="0"/>
          </a:p>
        </p:txBody>
      </p:sp>
      <p:sp>
        <p:nvSpPr>
          <p:cNvPr id="9" name="Text 7"/>
          <p:cNvSpPr/>
          <p:nvPr/>
        </p:nvSpPr>
        <p:spPr>
          <a:xfrm>
            <a:off x="640080" y="169164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Python generates HTML</a:t>
            </a:r>
            <a:endParaRPr lang="en-US" sz="1000" dirty="0"/>
          </a:p>
        </p:txBody>
      </p:sp>
      <p:sp>
        <p:nvSpPr>
          <p:cNvPr id="10" name="Text 8"/>
          <p:cNvSpPr/>
          <p:nvPr/>
        </p:nvSpPr>
        <p:spPr>
          <a:xfrm>
            <a:off x="640080" y="196596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Developer manually checks</a:t>
            </a:r>
            <a:endParaRPr lang="en-US" sz="1000" dirty="0"/>
          </a:p>
        </p:txBody>
      </p:sp>
      <p:sp>
        <p:nvSpPr>
          <p:cNvPr id="11" name="Text 9"/>
          <p:cNvSpPr/>
          <p:nvPr/>
        </p:nvSpPr>
        <p:spPr>
          <a:xfrm>
            <a:off x="640080" y="224028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            (45 minutes)</a:t>
            </a:r>
            <a:endParaRPr lang="en-US" sz="1000" dirty="0"/>
          </a:p>
        </p:txBody>
      </p:sp>
      <p:sp>
        <p:nvSpPr>
          <p:cNvPr id="12" name="Text 10"/>
          <p:cNvSpPr/>
          <p:nvPr/>
        </p:nvSpPr>
        <p:spPr>
          <a:xfrm>
            <a:off x="640080" y="251460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12:15 pm  Deploy — IF remembered</a:t>
            </a:r>
            <a:endParaRPr lang="en-US" sz="1000" dirty="0"/>
          </a:p>
        </p:txBody>
      </p:sp>
      <p:sp>
        <p:nvSpPr>
          <p:cNvPr id="13" name="Text 11"/>
          <p:cNvSpPr/>
          <p:nvPr/>
        </p:nvSpPr>
        <p:spPr>
          <a:xfrm>
            <a:off x="640080" y="2788920"/>
            <a:ext cx="3566160" cy="256032"/>
          </a:xfrm>
          <a:prstGeom prst="rect">
            <a:avLst/>
          </a:prstGeom>
          <a:noFill/>
          <a:ln/>
        </p:spPr>
        <p:txBody>
          <a:bodyPr wrap="square" lIns="0" tIns="0" rIns="0" bIns="0" rtlCol="0" anchor="ctr"/>
          <a:lstStyle/>
          <a:p>
            <a:pPr marL="0" indent="0">
              <a:buNone/>
            </a:pPr>
            <a:endParaRPr lang="en-US" sz="1000" dirty="0"/>
          </a:p>
        </p:txBody>
      </p:sp>
      <p:sp>
        <p:nvSpPr>
          <p:cNvPr id="14" name="Text 12"/>
          <p:cNvSpPr/>
          <p:nvPr/>
        </p:nvSpPr>
        <p:spPr>
          <a:xfrm>
            <a:off x="640080" y="3063240"/>
            <a:ext cx="3566160" cy="256032"/>
          </a:xfrm>
          <a:prstGeom prst="rect">
            <a:avLst/>
          </a:prstGeom>
          <a:noFill/>
          <a:ln/>
        </p:spPr>
        <p:txBody>
          <a:bodyPr wrap="square" lIns="0" tIns="0" rIns="0" bIns="0" rtlCol="0" anchor="ctr"/>
          <a:lstStyle/>
          <a:p>
            <a:pPr marL="0" indent="0">
              <a:buNone/>
            </a:pPr>
            <a:r>
              <a:rPr lang="en-US" sz="1000" b="1" dirty="0">
                <a:solidFill>
                  <a:srgbClr val="EF4444"/>
                </a:solidFill>
                <a:latin typeface="Courier New" pitchFamily="34" charset="0"/>
                <a:ea typeface="Courier New" pitchFamily="34" charset="-122"/>
                <a:cs typeface="Courier New" pitchFamily="34" charset="-120"/>
              </a:rPr>
              <a:t>✗  No record saved</a:t>
            </a:r>
            <a:endParaRPr lang="en-US" sz="1000" dirty="0"/>
          </a:p>
        </p:txBody>
      </p:sp>
      <p:sp>
        <p:nvSpPr>
          <p:cNvPr id="15" name="Text 13"/>
          <p:cNvSpPr/>
          <p:nvPr/>
        </p:nvSpPr>
        <p:spPr>
          <a:xfrm>
            <a:off x="640080" y="3337560"/>
            <a:ext cx="3566160" cy="256032"/>
          </a:xfrm>
          <a:prstGeom prst="rect">
            <a:avLst/>
          </a:prstGeom>
          <a:noFill/>
          <a:ln/>
        </p:spPr>
        <p:txBody>
          <a:bodyPr wrap="square" lIns="0" tIns="0" rIns="0" bIns="0" rtlCol="0" anchor="ctr"/>
          <a:lstStyle/>
          <a:p>
            <a:pPr marL="0" indent="0">
              <a:buNone/>
            </a:pPr>
            <a:r>
              <a:rPr lang="en-US" sz="1000" b="1" dirty="0">
                <a:solidFill>
                  <a:srgbClr val="EF4444"/>
                </a:solidFill>
                <a:latin typeface="Courier New" pitchFamily="34" charset="0"/>
                <a:ea typeface="Courier New" pitchFamily="34" charset="-122"/>
                <a:cs typeface="Courier New" pitchFamily="34" charset="-120"/>
              </a:rPr>
              <a:t>✗  Different each developer</a:t>
            </a:r>
            <a:endParaRPr lang="en-US" sz="1000" dirty="0"/>
          </a:p>
        </p:txBody>
      </p:sp>
      <p:sp>
        <p:nvSpPr>
          <p:cNvPr id="16" name="Text 14"/>
          <p:cNvSpPr/>
          <p:nvPr/>
        </p:nvSpPr>
        <p:spPr>
          <a:xfrm>
            <a:off x="640080" y="3611880"/>
            <a:ext cx="3566160" cy="256032"/>
          </a:xfrm>
          <a:prstGeom prst="rect">
            <a:avLst/>
          </a:prstGeom>
          <a:noFill/>
          <a:ln/>
        </p:spPr>
        <p:txBody>
          <a:bodyPr wrap="square" lIns="0" tIns="0" rIns="0" bIns="0" rtlCol="0" anchor="ctr"/>
          <a:lstStyle/>
          <a:p>
            <a:pPr marL="0" indent="0">
              <a:buNone/>
            </a:pPr>
            <a:r>
              <a:rPr lang="en-US" sz="1000" b="1" dirty="0">
                <a:solidFill>
                  <a:srgbClr val="EF4444"/>
                </a:solidFill>
                <a:latin typeface="Courier New" pitchFamily="34" charset="0"/>
                <a:ea typeface="Courier New" pitchFamily="34" charset="-122"/>
                <a:cs typeface="Courier New" pitchFamily="34" charset="-120"/>
              </a:rPr>
              <a:t>✗  Not sustainable</a:t>
            </a:r>
            <a:endParaRPr lang="en-US" sz="1000" dirty="0"/>
          </a:p>
        </p:txBody>
      </p:sp>
      <p:sp>
        <p:nvSpPr>
          <p:cNvPr id="17" name="Shape 15"/>
          <p:cNvSpPr/>
          <p:nvPr/>
        </p:nvSpPr>
        <p:spPr>
          <a:xfrm>
            <a:off x="4754880" y="868680"/>
            <a:ext cx="3931920" cy="3931920"/>
          </a:xfrm>
          <a:prstGeom prst="roundRect">
            <a:avLst>
              <a:gd name="adj" fmla="val 2326"/>
            </a:avLst>
          </a:prstGeom>
          <a:solidFill>
            <a:srgbClr val="F0FDF4"/>
          </a:solidFill>
          <a:ln w="12700">
            <a:solidFill>
              <a:srgbClr val="86EFAC"/>
            </a:solidFill>
            <a:prstDash val="solid"/>
          </a:ln>
        </p:spPr>
      </p:sp>
      <p:sp>
        <p:nvSpPr>
          <p:cNvPr id="18" name="Text 16"/>
          <p:cNvSpPr/>
          <p:nvPr/>
        </p:nvSpPr>
        <p:spPr>
          <a:xfrm>
            <a:off x="4937760" y="960120"/>
            <a:ext cx="3566160" cy="365760"/>
          </a:xfrm>
          <a:prstGeom prst="rect">
            <a:avLst/>
          </a:prstGeom>
          <a:noFill/>
          <a:ln/>
        </p:spPr>
        <p:txBody>
          <a:bodyPr wrap="square" lIns="0" tIns="0" rIns="0" bIns="0" rtlCol="0" anchor="ctr"/>
          <a:lstStyle/>
          <a:p>
            <a:pPr marL="0" indent="0" algn="ctr">
              <a:buNone/>
            </a:pPr>
            <a:r>
              <a:rPr lang="en-US" sz="1400" b="1" dirty="0">
                <a:solidFill>
                  <a:srgbClr val="22C55E"/>
                </a:solidFill>
                <a:latin typeface="Calibri" pitchFamily="34" charset="0"/>
                <a:ea typeface="Calibri" pitchFamily="34" charset="-122"/>
                <a:cs typeface="Calibri" pitchFamily="34" charset="-120"/>
              </a:rPr>
              <a:t>AFTER</a:t>
            </a:r>
            <a:endParaRPr lang="en-US" sz="1400" dirty="0"/>
          </a:p>
        </p:txBody>
      </p:sp>
      <p:sp>
        <p:nvSpPr>
          <p:cNvPr id="19" name="Text 17"/>
          <p:cNvSpPr/>
          <p:nvPr/>
        </p:nvSpPr>
        <p:spPr>
          <a:xfrm>
            <a:off x="4937760" y="141732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11:00 am  Excel updated</a:t>
            </a:r>
            <a:endParaRPr lang="en-US" sz="1000" dirty="0"/>
          </a:p>
        </p:txBody>
      </p:sp>
      <p:sp>
        <p:nvSpPr>
          <p:cNvPr id="20" name="Text 18"/>
          <p:cNvSpPr/>
          <p:nvPr/>
        </p:nvSpPr>
        <p:spPr>
          <a:xfrm>
            <a:off x="4937760" y="169164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Python generates HTML</a:t>
            </a:r>
            <a:endParaRPr lang="en-US" sz="1000" dirty="0"/>
          </a:p>
        </p:txBody>
      </p:sp>
      <p:sp>
        <p:nvSpPr>
          <p:cNvPr id="21" name="Text 19"/>
          <p:cNvSpPr/>
          <p:nvPr/>
        </p:nvSpPr>
        <p:spPr>
          <a:xfrm>
            <a:off x="4937760" y="196596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11:30 am  python run.py --dashboard</a:t>
            </a:r>
            <a:endParaRPr lang="en-US" sz="1000" dirty="0"/>
          </a:p>
        </p:txBody>
      </p:sp>
      <p:sp>
        <p:nvSpPr>
          <p:cNvPr id="22" name="Text 20"/>
          <p:cNvSpPr/>
          <p:nvPr/>
        </p:nvSpPr>
        <p:spPr>
          <a:xfrm>
            <a:off x="4937760" y="2240280"/>
            <a:ext cx="3566160" cy="256032"/>
          </a:xfrm>
          <a:prstGeom prst="rect">
            <a:avLst/>
          </a:prstGeom>
          <a:noFill/>
          <a:ln/>
        </p:spPr>
        <p:txBody>
          <a:bodyPr wrap="square" lIns="0" tIns="0" rIns="0" bIns="0" rtlCol="0" anchor="ctr"/>
          <a:lstStyle/>
          <a:p>
            <a:pPr marL="0" indent="0">
              <a:buNone/>
            </a:pPr>
            <a:r>
              <a:rPr lang="en-US" sz="1000" dirty="0">
                <a:solidFill>
                  <a:srgbClr val="2D3748"/>
                </a:solidFill>
                <a:latin typeface="Courier New" pitchFamily="34" charset="0"/>
                <a:ea typeface="Courier New" pitchFamily="34" charset="-122"/>
                <a:cs typeface="Courier New" pitchFamily="34" charset="-120"/>
              </a:rPr>
              <a:t>            rollout</a:t>
            </a:r>
            <a:endParaRPr lang="en-US" sz="1000" dirty="0"/>
          </a:p>
        </p:txBody>
      </p:sp>
      <p:sp>
        <p:nvSpPr>
          <p:cNvPr id="23" name="Text 21"/>
          <p:cNvSpPr/>
          <p:nvPr/>
        </p:nvSpPr>
        <p:spPr>
          <a:xfrm>
            <a:off x="4937760" y="2514600"/>
            <a:ext cx="3566160" cy="256032"/>
          </a:xfrm>
          <a:prstGeom prst="rect">
            <a:avLst/>
          </a:prstGeom>
          <a:noFill/>
          <a:ln/>
        </p:spPr>
        <p:txBody>
          <a:bodyPr wrap="square" lIns="0" tIns="0" rIns="0" bIns="0" rtlCol="0" anchor="ctr"/>
          <a:lstStyle/>
          <a:p>
            <a:pPr marL="0" indent="0">
              <a:buNone/>
            </a:pPr>
            <a:r>
              <a:rPr lang="en-US" sz="1000" dirty="0">
                <a:solidFill>
                  <a:srgbClr val="22C55E"/>
                </a:solidFill>
                <a:latin typeface="Courier New" pitchFamily="34" charset="0"/>
                <a:ea typeface="Courier New" pitchFamily="34" charset="-122"/>
                <a:cs typeface="Courier New" pitchFamily="34" charset="-120"/>
              </a:rPr>
              <a:t>11:33 am  ✅  All passed</a:t>
            </a:r>
            <a:endParaRPr lang="en-US" sz="1000" dirty="0"/>
          </a:p>
        </p:txBody>
      </p:sp>
      <p:sp>
        <p:nvSpPr>
          <p:cNvPr id="24" name="Text 22"/>
          <p:cNvSpPr/>
          <p:nvPr/>
        </p:nvSpPr>
        <p:spPr>
          <a:xfrm>
            <a:off x="4937760" y="2788920"/>
            <a:ext cx="3566160" cy="256032"/>
          </a:xfrm>
          <a:prstGeom prst="rect">
            <a:avLst/>
          </a:prstGeom>
          <a:noFill/>
          <a:ln/>
        </p:spPr>
        <p:txBody>
          <a:bodyPr wrap="square" lIns="0" tIns="0" rIns="0" bIns="0" rtlCol="0" anchor="ctr"/>
          <a:lstStyle/>
          <a:p>
            <a:pPr marL="0" indent="0">
              <a:buNone/>
            </a:pPr>
            <a:r>
              <a:rPr lang="en-US" sz="1000" dirty="0">
                <a:solidFill>
                  <a:srgbClr val="22C55E"/>
                </a:solidFill>
                <a:latin typeface="Courier New" pitchFamily="34" charset="0"/>
                <a:ea typeface="Courier New" pitchFamily="34" charset="-122"/>
                <a:cs typeface="Courier New" pitchFamily="34" charset="-120"/>
              </a:rPr>
              <a:t>11:33 am  Deploy — Confident</a:t>
            </a:r>
            <a:endParaRPr lang="en-US" sz="1000" dirty="0"/>
          </a:p>
        </p:txBody>
      </p:sp>
      <p:sp>
        <p:nvSpPr>
          <p:cNvPr id="25" name="Text 23"/>
          <p:cNvSpPr/>
          <p:nvPr/>
        </p:nvSpPr>
        <p:spPr>
          <a:xfrm>
            <a:off x="4937760" y="3063240"/>
            <a:ext cx="3566160" cy="256032"/>
          </a:xfrm>
          <a:prstGeom prst="rect">
            <a:avLst/>
          </a:prstGeom>
          <a:noFill/>
          <a:ln/>
        </p:spPr>
        <p:txBody>
          <a:bodyPr wrap="square" lIns="0" tIns="0" rIns="0" bIns="0" rtlCol="0" anchor="ctr"/>
          <a:lstStyle/>
          <a:p>
            <a:pPr marL="0" indent="0">
              <a:buNone/>
            </a:pPr>
            <a:endParaRPr lang="en-US" sz="1000" dirty="0"/>
          </a:p>
        </p:txBody>
      </p:sp>
      <p:sp>
        <p:nvSpPr>
          <p:cNvPr id="26" name="Text 24"/>
          <p:cNvSpPr/>
          <p:nvPr/>
        </p:nvSpPr>
        <p:spPr>
          <a:xfrm>
            <a:off x="4937760" y="3337560"/>
            <a:ext cx="3566160" cy="256032"/>
          </a:xfrm>
          <a:prstGeom prst="rect">
            <a:avLst/>
          </a:prstGeom>
          <a:noFill/>
          <a:ln/>
        </p:spPr>
        <p:txBody>
          <a:bodyPr wrap="square" lIns="0" tIns="0" rIns="0" bIns="0" rtlCol="0" anchor="ctr"/>
          <a:lstStyle/>
          <a:p>
            <a:pPr marL="0" indent="0">
              <a:buNone/>
            </a:pPr>
            <a:r>
              <a:rPr lang="en-US" sz="1000" b="1" dirty="0">
                <a:solidFill>
                  <a:srgbClr val="22C55E"/>
                </a:solidFill>
                <a:latin typeface="Courier New" pitchFamily="34" charset="0"/>
                <a:ea typeface="Courier New" pitchFamily="34" charset="-122"/>
                <a:cs typeface="Courier New" pitchFamily="34" charset="-120"/>
              </a:rPr>
              <a:t>✓  Report saved with timestamp</a:t>
            </a:r>
            <a:endParaRPr lang="en-US" sz="1000" dirty="0"/>
          </a:p>
        </p:txBody>
      </p:sp>
      <p:sp>
        <p:nvSpPr>
          <p:cNvPr id="27" name="Text 25"/>
          <p:cNvSpPr/>
          <p:nvPr/>
        </p:nvSpPr>
        <p:spPr>
          <a:xfrm>
            <a:off x="4937760" y="3611880"/>
            <a:ext cx="3566160" cy="256032"/>
          </a:xfrm>
          <a:prstGeom prst="rect">
            <a:avLst/>
          </a:prstGeom>
          <a:noFill/>
          <a:ln/>
        </p:spPr>
        <p:txBody>
          <a:bodyPr wrap="square" lIns="0" tIns="0" rIns="0" bIns="0" rtlCol="0" anchor="ctr"/>
          <a:lstStyle/>
          <a:p>
            <a:pPr marL="0" indent="0">
              <a:buNone/>
            </a:pPr>
            <a:r>
              <a:rPr lang="en-US" sz="1000" b="1" dirty="0">
                <a:solidFill>
                  <a:srgbClr val="22C55E"/>
                </a:solidFill>
                <a:latin typeface="Courier New" pitchFamily="34" charset="0"/>
                <a:ea typeface="Courier New" pitchFamily="34" charset="-122"/>
                <a:cs typeface="Courier New" pitchFamily="34" charset="-120"/>
              </a:rPr>
              <a:t>✓  Same standard every time</a:t>
            </a:r>
            <a:endParaRPr lang="en-US" sz="1000" dirty="0"/>
          </a:p>
        </p:txBody>
      </p:sp>
      <p:sp>
        <p:nvSpPr>
          <p:cNvPr id="28" name="Text 26"/>
          <p:cNvSpPr/>
          <p:nvPr/>
        </p:nvSpPr>
        <p:spPr>
          <a:xfrm>
            <a:off x="4937760" y="3886200"/>
            <a:ext cx="3566160" cy="256032"/>
          </a:xfrm>
          <a:prstGeom prst="rect">
            <a:avLst/>
          </a:prstGeom>
          <a:noFill/>
          <a:ln/>
        </p:spPr>
        <p:txBody>
          <a:bodyPr wrap="square" lIns="0" tIns="0" rIns="0" bIns="0" rtlCol="0" anchor="ctr"/>
          <a:lstStyle/>
          <a:p>
            <a:pPr marL="0" indent="0">
              <a:buNone/>
            </a:pPr>
            <a:r>
              <a:rPr lang="en-US" sz="1000" b="1" dirty="0">
                <a:solidFill>
                  <a:srgbClr val="22C55E"/>
                </a:solidFill>
                <a:latin typeface="Courier New" pitchFamily="34" charset="0"/>
                <a:ea typeface="Courier New" pitchFamily="34" charset="-122"/>
                <a:cs typeface="Courier New" pitchFamily="34" charset="-120"/>
              </a:rPr>
              <a:t>✓  2-3 minutes total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FUTURE PLAN</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Where We Are Taking This Next</a:t>
            </a:r>
            <a:endParaRPr lang="en-US" sz="2200" dirty="0"/>
          </a:p>
        </p:txBody>
      </p:sp>
      <p:sp>
        <p:nvSpPr>
          <p:cNvPr id="5" name="Shape 3"/>
          <p:cNvSpPr/>
          <p:nvPr/>
        </p:nvSpPr>
        <p:spPr>
          <a:xfrm>
            <a:off x="457200" y="749808"/>
            <a:ext cx="8229600" cy="0"/>
          </a:xfrm>
          <a:prstGeom prst="line">
            <a:avLst/>
          </a:prstGeom>
          <a:noFill/>
          <a:ln w="19050">
            <a:solidFill>
              <a:srgbClr val="00B4D8"/>
            </a:solidFill>
            <a:prstDash val="solid"/>
          </a:ln>
        </p:spPr>
      </p:sp>
      <p:sp>
        <p:nvSpPr>
          <p:cNvPr id="6" name="Shape 4"/>
          <p:cNvSpPr/>
          <p:nvPr/>
        </p:nvSpPr>
        <p:spPr>
          <a:xfrm>
            <a:off x="457200" y="868680"/>
            <a:ext cx="2651760" cy="3931920"/>
          </a:xfrm>
          <a:prstGeom prst="roundRect">
            <a:avLst>
              <a:gd name="adj" fmla="val 3448"/>
            </a:avLst>
          </a:prstGeom>
          <a:solidFill>
            <a:srgbClr val="0D1F35"/>
          </a:solidFill>
          <a:ln/>
        </p:spPr>
      </p:sp>
      <p:sp>
        <p:nvSpPr>
          <p:cNvPr id="7" name="Shape 5"/>
          <p:cNvSpPr/>
          <p:nvPr/>
        </p:nvSpPr>
        <p:spPr>
          <a:xfrm>
            <a:off x="1453896" y="960120"/>
            <a:ext cx="658368" cy="658368"/>
          </a:xfrm>
          <a:prstGeom prst="ellipse">
            <a:avLst/>
          </a:prstGeom>
          <a:solidFill>
            <a:srgbClr val="22C55E"/>
          </a:solidFill>
          <a:ln/>
        </p:spPr>
      </p:sp>
      <p:sp>
        <p:nvSpPr>
          <p:cNvPr id="8" name="Text 6"/>
          <p:cNvSpPr/>
          <p:nvPr/>
        </p:nvSpPr>
        <p:spPr>
          <a:xfrm>
            <a:off x="1453896" y="960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Shape 7"/>
          <p:cNvSpPr/>
          <p:nvPr/>
        </p:nvSpPr>
        <p:spPr>
          <a:xfrm>
            <a:off x="731520" y="1737360"/>
            <a:ext cx="2103120" cy="292608"/>
          </a:xfrm>
          <a:prstGeom prst="roundRect">
            <a:avLst>
              <a:gd name="adj" fmla="val 15625"/>
            </a:avLst>
          </a:prstGeom>
          <a:solidFill>
            <a:srgbClr val="22C55E"/>
          </a:solidFill>
          <a:ln/>
        </p:spPr>
      </p:sp>
      <p:sp>
        <p:nvSpPr>
          <p:cNvPr id="10" name="Text 8"/>
          <p:cNvSpPr/>
          <p:nvPr/>
        </p:nvSpPr>
        <p:spPr>
          <a:xfrm>
            <a:off x="731520" y="1737360"/>
            <a:ext cx="2103120" cy="292608"/>
          </a:xfrm>
          <a:prstGeom prst="rect">
            <a:avLst/>
          </a:prstGeom>
          <a:noFill/>
          <a:ln/>
        </p:spPr>
        <p:txBody>
          <a:bodyPr wrap="square" lIns="0" tIns="0" rIns="0" bIns="0" rtlCol="0" anchor="ctr"/>
          <a:lstStyle/>
          <a:p>
            <a:pPr marL="0" indent="0" algn="ctr">
              <a:buNone/>
            </a:pPr>
            <a:r>
              <a:rPr lang="en-US" sz="900" b="1" dirty="0">
                <a:solidFill>
                  <a:srgbClr val="1A2A4A"/>
                </a:solidFill>
                <a:latin typeface="Calibri" pitchFamily="34" charset="0"/>
                <a:ea typeface="Calibri" pitchFamily="34" charset="-122"/>
                <a:cs typeface="Calibri" pitchFamily="34" charset="-120"/>
              </a:rPr>
              <a:t>NOW ✅</a:t>
            </a:r>
            <a:endParaRPr lang="en-US" sz="900" dirty="0"/>
          </a:p>
        </p:txBody>
      </p:sp>
      <p:sp>
        <p:nvSpPr>
          <p:cNvPr id="11" name="Text 9"/>
          <p:cNvSpPr/>
          <p:nvPr/>
        </p:nvSpPr>
        <p:spPr>
          <a:xfrm>
            <a:off x="640080" y="2121408"/>
            <a:ext cx="2286000" cy="347472"/>
          </a:xfrm>
          <a:prstGeom prst="rect">
            <a:avLst/>
          </a:prstGeom>
          <a:noFill/>
          <a:ln/>
        </p:spPr>
        <p:txBody>
          <a:bodyPr wrap="square" lIns="0" tIns="0" rIns="0" bIns="0" rtlCol="0" anchor="ctr"/>
          <a:lstStyle/>
          <a:p>
            <a:pPr marL="0" indent="0" algn="ctr">
              <a:buNone/>
            </a:pPr>
            <a:r>
              <a:rPr lang="en-US" sz="1300" b="1" dirty="0">
                <a:solidFill>
                  <a:srgbClr val="22C55E"/>
                </a:solidFill>
                <a:latin typeface="Calibri" pitchFamily="34" charset="0"/>
                <a:ea typeface="Calibri" pitchFamily="34" charset="-122"/>
                <a:cs typeface="Calibri" pitchFamily="34" charset="-120"/>
              </a:rPr>
              <a:t>Manual Trigger</a:t>
            </a:r>
            <a:endParaRPr lang="en-US" sz="1300" dirty="0"/>
          </a:p>
        </p:txBody>
      </p:sp>
      <p:sp>
        <p:nvSpPr>
          <p:cNvPr id="12" name="Text 10"/>
          <p:cNvSpPr/>
          <p:nvPr/>
        </p:nvSpPr>
        <p:spPr>
          <a:xfrm>
            <a:off x="640080" y="2578608"/>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Developer runs python run.py after each generation</a:t>
            </a:r>
            <a:endParaRPr lang="en-US" sz="950" dirty="0"/>
          </a:p>
        </p:txBody>
      </p:sp>
      <p:sp>
        <p:nvSpPr>
          <p:cNvPr id="13" name="Text 11"/>
          <p:cNvSpPr/>
          <p:nvPr/>
        </p:nvSpPr>
        <p:spPr>
          <a:xfrm>
            <a:off x="640080" y="3145536"/>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Reviews report before deploying</a:t>
            </a:r>
            <a:endParaRPr lang="en-US" sz="950" dirty="0"/>
          </a:p>
        </p:txBody>
      </p:sp>
      <p:sp>
        <p:nvSpPr>
          <p:cNvPr id="14" name="Text 12"/>
          <p:cNvSpPr/>
          <p:nvPr/>
        </p:nvSpPr>
        <p:spPr>
          <a:xfrm>
            <a:off x="640080" y="3712464"/>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Already saving 40+ minutes daily</a:t>
            </a:r>
            <a:endParaRPr lang="en-US" sz="950" dirty="0"/>
          </a:p>
        </p:txBody>
      </p:sp>
      <p:sp>
        <p:nvSpPr>
          <p:cNvPr id="15" name="Shape 13"/>
          <p:cNvSpPr/>
          <p:nvPr/>
        </p:nvSpPr>
        <p:spPr>
          <a:xfrm>
            <a:off x="3337560" y="868680"/>
            <a:ext cx="2651760" cy="3931920"/>
          </a:xfrm>
          <a:prstGeom prst="roundRect">
            <a:avLst>
              <a:gd name="adj" fmla="val 3448"/>
            </a:avLst>
          </a:prstGeom>
          <a:solidFill>
            <a:srgbClr val="0D1F35"/>
          </a:solidFill>
          <a:ln/>
        </p:spPr>
      </p:sp>
      <p:sp>
        <p:nvSpPr>
          <p:cNvPr id="16" name="Shape 14"/>
          <p:cNvSpPr/>
          <p:nvPr/>
        </p:nvSpPr>
        <p:spPr>
          <a:xfrm>
            <a:off x="4334256" y="960120"/>
            <a:ext cx="658368" cy="658368"/>
          </a:xfrm>
          <a:prstGeom prst="ellipse">
            <a:avLst/>
          </a:prstGeom>
          <a:solidFill>
            <a:srgbClr val="00B4D8"/>
          </a:solidFill>
          <a:ln/>
        </p:spPr>
      </p:sp>
      <p:sp>
        <p:nvSpPr>
          <p:cNvPr id="17" name="Text 15"/>
          <p:cNvSpPr/>
          <p:nvPr/>
        </p:nvSpPr>
        <p:spPr>
          <a:xfrm>
            <a:off x="4334256" y="960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Shape 16"/>
          <p:cNvSpPr/>
          <p:nvPr/>
        </p:nvSpPr>
        <p:spPr>
          <a:xfrm>
            <a:off x="3611880" y="1737360"/>
            <a:ext cx="2103120" cy="292608"/>
          </a:xfrm>
          <a:prstGeom prst="roundRect">
            <a:avLst>
              <a:gd name="adj" fmla="val 15625"/>
            </a:avLst>
          </a:prstGeom>
          <a:solidFill>
            <a:srgbClr val="00B4D8"/>
          </a:solidFill>
          <a:ln/>
        </p:spPr>
      </p:sp>
      <p:sp>
        <p:nvSpPr>
          <p:cNvPr id="19" name="Text 17"/>
          <p:cNvSpPr/>
          <p:nvPr/>
        </p:nvSpPr>
        <p:spPr>
          <a:xfrm>
            <a:off x="3611880" y="1737360"/>
            <a:ext cx="2103120" cy="292608"/>
          </a:xfrm>
          <a:prstGeom prst="rect">
            <a:avLst/>
          </a:prstGeom>
          <a:noFill/>
          <a:ln/>
        </p:spPr>
        <p:txBody>
          <a:bodyPr wrap="square" lIns="0" tIns="0" rIns="0" bIns="0" rtlCol="0" anchor="ctr"/>
          <a:lstStyle/>
          <a:p>
            <a:pPr marL="0" indent="0" algn="ctr">
              <a:buNone/>
            </a:pPr>
            <a:r>
              <a:rPr lang="en-US" sz="900" b="1" dirty="0">
                <a:solidFill>
                  <a:srgbClr val="1A2A4A"/>
                </a:solidFill>
                <a:latin typeface="Calibri" pitchFamily="34" charset="0"/>
                <a:ea typeface="Calibri" pitchFamily="34" charset="-122"/>
                <a:cs typeface="Calibri" pitchFamily="34" charset="-120"/>
              </a:rPr>
              <a:t>2-4 WEEKS</a:t>
            </a:r>
            <a:endParaRPr lang="en-US" sz="900" dirty="0"/>
          </a:p>
        </p:txBody>
      </p:sp>
      <p:sp>
        <p:nvSpPr>
          <p:cNvPr id="20" name="Text 18"/>
          <p:cNvSpPr/>
          <p:nvPr/>
        </p:nvSpPr>
        <p:spPr>
          <a:xfrm>
            <a:off x="3520440" y="2121408"/>
            <a:ext cx="2286000" cy="347472"/>
          </a:xfrm>
          <a:prstGeom prst="rect">
            <a:avLst/>
          </a:prstGeom>
          <a:noFill/>
          <a:ln/>
        </p:spPr>
        <p:txBody>
          <a:bodyPr wrap="square" lIns="0" tIns="0" rIns="0" bIns="0" rtlCol="0" anchor="ctr"/>
          <a:lstStyle/>
          <a:p>
            <a:pPr marL="0" indent="0" algn="ctr">
              <a:buNone/>
            </a:pPr>
            <a:r>
              <a:rPr lang="en-US" sz="1300" b="1" dirty="0">
                <a:solidFill>
                  <a:srgbClr val="00B4D8"/>
                </a:solidFill>
                <a:latin typeface="Calibri" pitchFamily="34" charset="0"/>
                <a:ea typeface="Calibri" pitchFamily="34" charset="-122"/>
                <a:cs typeface="Calibri" pitchFamily="34" charset="-120"/>
              </a:rPr>
              <a:t>All Dashboards</a:t>
            </a:r>
            <a:endParaRPr lang="en-US" sz="1300" dirty="0"/>
          </a:p>
        </p:txBody>
      </p:sp>
      <p:sp>
        <p:nvSpPr>
          <p:cNvPr id="21" name="Text 19"/>
          <p:cNvSpPr/>
          <p:nvPr/>
        </p:nvSpPr>
        <p:spPr>
          <a:xfrm>
            <a:off x="3520440" y="2578608"/>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Extend to all 5 dashboards</a:t>
            </a:r>
            <a:endParaRPr lang="en-US" sz="950" dirty="0"/>
          </a:p>
        </p:txBody>
      </p:sp>
      <p:sp>
        <p:nvSpPr>
          <p:cNvPr id="22" name="Text 20"/>
          <p:cNvSpPr/>
          <p:nvPr/>
        </p:nvSpPr>
        <p:spPr>
          <a:xfrm>
            <a:off x="3520440" y="3145536"/>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Each dashboard gets its own validation file</a:t>
            </a:r>
            <a:endParaRPr lang="en-US" sz="950" dirty="0"/>
          </a:p>
        </p:txBody>
      </p:sp>
      <p:sp>
        <p:nvSpPr>
          <p:cNvPr id="23" name="Text 21"/>
          <p:cNvSpPr/>
          <p:nvPr/>
        </p:nvSpPr>
        <p:spPr>
          <a:xfrm>
            <a:off x="3520440" y="3712464"/>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Same pattern — different selectors</a:t>
            </a:r>
            <a:endParaRPr lang="en-US" sz="950" dirty="0"/>
          </a:p>
        </p:txBody>
      </p:sp>
      <p:sp>
        <p:nvSpPr>
          <p:cNvPr id="24" name="Shape 22"/>
          <p:cNvSpPr/>
          <p:nvPr/>
        </p:nvSpPr>
        <p:spPr>
          <a:xfrm>
            <a:off x="6217920" y="868680"/>
            <a:ext cx="2651760" cy="3931920"/>
          </a:xfrm>
          <a:prstGeom prst="roundRect">
            <a:avLst>
              <a:gd name="adj" fmla="val 3448"/>
            </a:avLst>
          </a:prstGeom>
          <a:solidFill>
            <a:srgbClr val="0D1F35"/>
          </a:solidFill>
          <a:ln/>
        </p:spPr>
      </p:sp>
      <p:sp>
        <p:nvSpPr>
          <p:cNvPr id="25" name="Shape 23"/>
          <p:cNvSpPr/>
          <p:nvPr/>
        </p:nvSpPr>
        <p:spPr>
          <a:xfrm>
            <a:off x="7214616" y="960120"/>
            <a:ext cx="658368" cy="658368"/>
          </a:xfrm>
          <a:prstGeom prst="ellipse">
            <a:avLst/>
          </a:prstGeom>
          <a:solidFill>
            <a:srgbClr val="F59E0B"/>
          </a:solidFill>
          <a:ln/>
        </p:spPr>
      </p:sp>
      <p:sp>
        <p:nvSpPr>
          <p:cNvPr id="26" name="Text 24"/>
          <p:cNvSpPr/>
          <p:nvPr/>
        </p:nvSpPr>
        <p:spPr>
          <a:xfrm>
            <a:off x="7214616" y="960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7" name="Shape 25"/>
          <p:cNvSpPr/>
          <p:nvPr/>
        </p:nvSpPr>
        <p:spPr>
          <a:xfrm>
            <a:off x="6492240" y="1737360"/>
            <a:ext cx="2103120" cy="292608"/>
          </a:xfrm>
          <a:prstGeom prst="roundRect">
            <a:avLst>
              <a:gd name="adj" fmla="val 15625"/>
            </a:avLst>
          </a:prstGeom>
          <a:solidFill>
            <a:srgbClr val="F59E0B"/>
          </a:solidFill>
          <a:ln/>
        </p:spPr>
      </p:sp>
      <p:sp>
        <p:nvSpPr>
          <p:cNvPr id="28" name="Text 26"/>
          <p:cNvSpPr/>
          <p:nvPr/>
        </p:nvSpPr>
        <p:spPr>
          <a:xfrm>
            <a:off x="6492240" y="1737360"/>
            <a:ext cx="2103120" cy="292608"/>
          </a:xfrm>
          <a:prstGeom prst="rect">
            <a:avLst/>
          </a:prstGeom>
          <a:noFill/>
          <a:ln/>
        </p:spPr>
        <p:txBody>
          <a:bodyPr wrap="square" lIns="0" tIns="0" rIns="0" bIns="0" rtlCol="0" anchor="ctr"/>
          <a:lstStyle/>
          <a:p>
            <a:pPr marL="0" indent="0" algn="ctr">
              <a:buNone/>
            </a:pPr>
            <a:r>
              <a:rPr lang="en-US" sz="900" b="1" dirty="0">
                <a:solidFill>
                  <a:srgbClr val="1A2A4A"/>
                </a:solidFill>
                <a:latin typeface="Calibri" pitchFamily="34" charset="0"/>
                <a:ea typeface="Calibri" pitchFamily="34" charset="-122"/>
                <a:cs typeface="Calibri" pitchFamily="34" charset="-120"/>
              </a:rPr>
              <a:t>2-3 MONTHS</a:t>
            </a:r>
            <a:endParaRPr lang="en-US" sz="900" dirty="0"/>
          </a:p>
        </p:txBody>
      </p:sp>
      <p:sp>
        <p:nvSpPr>
          <p:cNvPr id="29" name="Text 27"/>
          <p:cNvSpPr/>
          <p:nvPr/>
        </p:nvSpPr>
        <p:spPr>
          <a:xfrm>
            <a:off x="6400800" y="2121408"/>
            <a:ext cx="2286000" cy="347472"/>
          </a:xfrm>
          <a:prstGeom prst="rect">
            <a:avLst/>
          </a:prstGeom>
          <a:noFill/>
          <a:ln/>
        </p:spPr>
        <p:txBody>
          <a:bodyPr wrap="square" lIns="0" tIns="0" rIns="0" bIns="0" rtlCol="0" anchor="ctr"/>
          <a:lstStyle/>
          <a:p>
            <a:pPr marL="0" indent="0" algn="ctr">
              <a:buNone/>
            </a:pPr>
            <a:r>
              <a:rPr lang="en-US" sz="1300" b="1" dirty="0">
                <a:solidFill>
                  <a:srgbClr val="F59E0B"/>
                </a:solidFill>
                <a:latin typeface="Calibri" pitchFamily="34" charset="0"/>
                <a:ea typeface="Calibri" pitchFamily="34" charset="-122"/>
                <a:cs typeface="Calibri" pitchFamily="34" charset="-120"/>
              </a:rPr>
              <a:t>Automated Pipeline</a:t>
            </a:r>
            <a:endParaRPr lang="en-US" sz="1300" dirty="0"/>
          </a:p>
        </p:txBody>
      </p:sp>
      <p:sp>
        <p:nvSpPr>
          <p:cNvPr id="30" name="Text 28"/>
          <p:cNvSpPr/>
          <p:nvPr/>
        </p:nvSpPr>
        <p:spPr>
          <a:xfrm>
            <a:off x="6400800" y="2578608"/>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Runs automatically in daily sync</a:t>
            </a:r>
            <a:endParaRPr lang="en-US" sz="950" dirty="0"/>
          </a:p>
        </p:txBody>
      </p:sp>
      <p:sp>
        <p:nvSpPr>
          <p:cNvPr id="31" name="Text 29"/>
          <p:cNvSpPr/>
          <p:nvPr/>
        </p:nvSpPr>
        <p:spPr>
          <a:xfrm>
            <a:off x="6400800" y="3145536"/>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Report sent to Teams channel</a:t>
            </a:r>
            <a:endParaRPr lang="en-US" sz="950" dirty="0"/>
          </a:p>
        </p:txBody>
      </p:sp>
      <p:sp>
        <p:nvSpPr>
          <p:cNvPr id="32" name="Text 30"/>
          <p:cNvSpPr/>
          <p:nvPr/>
        </p:nvSpPr>
        <p:spPr>
          <a:xfrm>
            <a:off x="6400800" y="3712464"/>
            <a:ext cx="2286000" cy="45720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 Failed → deployment blocked automatically</a:t>
            </a:r>
            <a:endParaRPr lang="en-US" sz="950" dirty="0"/>
          </a:p>
        </p:txBody>
      </p:sp>
      <p:sp>
        <p:nvSpPr>
          <p:cNvPr id="33" name="Text 31"/>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00" i="1" dirty="0">
                <a:solidFill>
                  <a:srgbClr val="00B4D8"/>
                </a:solidFill>
                <a:latin typeface="Calibri" pitchFamily="34" charset="0"/>
                <a:ea typeface="Calibri" pitchFamily="34" charset="-122"/>
                <a:cs typeface="Calibri" pitchFamily="34" charset="-120"/>
              </a:rPr>
              <a:t>Manager's vision: Organisation-wide standard for all internal dashboards and applications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TAKEAWAYS</a:t>
            </a:r>
            <a:endParaRPr lang="en-US" sz="10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Key Takeaways</a:t>
            </a:r>
            <a:endParaRPr lang="en-US" sz="2200" dirty="0"/>
          </a:p>
        </p:txBody>
      </p:sp>
      <p:sp>
        <p:nvSpPr>
          <p:cNvPr id="5" name="Shape 3"/>
          <p:cNvSpPr/>
          <p:nvPr/>
        </p:nvSpPr>
        <p:spPr>
          <a:xfrm>
            <a:off x="457200" y="713232"/>
            <a:ext cx="8229600" cy="0"/>
          </a:xfrm>
          <a:prstGeom prst="line">
            <a:avLst/>
          </a:prstGeom>
          <a:noFill/>
          <a:ln w="19050">
            <a:solidFill>
              <a:srgbClr val="00B4D8"/>
            </a:solidFill>
            <a:prstDash val="solid"/>
          </a:ln>
        </p:spPr>
      </p:sp>
      <p:sp>
        <p:nvSpPr>
          <p:cNvPr id="6" name="Shape 4"/>
          <p:cNvSpPr/>
          <p:nvPr/>
        </p:nvSpPr>
        <p:spPr>
          <a:xfrm>
            <a:off x="457200" y="86868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7" name="Shape 5"/>
          <p:cNvSpPr/>
          <p:nvPr/>
        </p:nvSpPr>
        <p:spPr>
          <a:xfrm>
            <a:off x="548640" y="978408"/>
            <a:ext cx="3840480" cy="384048"/>
          </a:xfrm>
          <a:prstGeom prst="roundRect">
            <a:avLst>
              <a:gd name="adj" fmla="val 14286"/>
            </a:avLst>
          </a:prstGeom>
          <a:solidFill>
            <a:srgbClr val="7C3AED"/>
          </a:solidFill>
          <a:ln/>
        </p:spPr>
      </p:sp>
      <p:sp>
        <p:nvSpPr>
          <p:cNvPr id="8" name="Text 6"/>
          <p:cNvSpPr/>
          <p:nvPr/>
        </p:nvSpPr>
        <p:spPr>
          <a:xfrm>
            <a:off x="548640" y="97840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QA Team</a:t>
            </a:r>
            <a:endParaRPr lang="en-US" sz="1200" dirty="0"/>
          </a:p>
        </p:txBody>
      </p:sp>
      <p:sp>
        <p:nvSpPr>
          <p:cNvPr id="9" name="Text 7"/>
          <p:cNvSpPr/>
          <p:nvPr/>
        </p:nvSpPr>
        <p:spPr>
          <a:xfrm>
            <a:off x="640080" y="147218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Playwright is worth exploring</a:t>
            </a:r>
            <a:endParaRPr lang="en-US" sz="1000" dirty="0"/>
          </a:p>
        </p:txBody>
      </p:sp>
      <p:sp>
        <p:nvSpPr>
          <p:cNvPr id="10" name="Text 8"/>
          <p:cNvSpPr/>
          <p:nvPr/>
        </p:nvSpPr>
        <p:spPr>
          <a:xfrm>
            <a:off x="640080" y="181051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2 commands to set up</a:t>
            </a:r>
            <a:endParaRPr lang="en-US" sz="1000" dirty="0"/>
          </a:p>
        </p:txBody>
      </p:sp>
      <p:sp>
        <p:nvSpPr>
          <p:cNvPr id="11" name="Text 9"/>
          <p:cNvSpPr/>
          <p:nvPr/>
        </p:nvSpPr>
        <p:spPr>
          <a:xfrm>
            <a:off x="640080" y="214884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Gentler learning curve from Selenium</a:t>
            </a:r>
            <a:endParaRPr lang="en-US" sz="1000" dirty="0"/>
          </a:p>
        </p:txBody>
      </p:sp>
      <p:sp>
        <p:nvSpPr>
          <p:cNvPr id="12" name="Shape 10"/>
          <p:cNvSpPr/>
          <p:nvPr/>
        </p:nvSpPr>
        <p:spPr>
          <a:xfrm>
            <a:off x="4754880" y="86868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13" name="Shape 11"/>
          <p:cNvSpPr/>
          <p:nvPr/>
        </p:nvSpPr>
        <p:spPr>
          <a:xfrm>
            <a:off x="4846320" y="978408"/>
            <a:ext cx="3840480" cy="384048"/>
          </a:xfrm>
          <a:prstGeom prst="roundRect">
            <a:avLst>
              <a:gd name="adj" fmla="val 14286"/>
            </a:avLst>
          </a:prstGeom>
          <a:solidFill>
            <a:srgbClr val="065A82"/>
          </a:solidFill>
          <a:ln/>
        </p:spPr>
      </p:sp>
      <p:sp>
        <p:nvSpPr>
          <p:cNvPr id="14" name="Text 12"/>
          <p:cNvSpPr/>
          <p:nvPr/>
        </p:nvSpPr>
        <p:spPr>
          <a:xfrm>
            <a:off x="4846320" y="97840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Developers</a:t>
            </a:r>
            <a:endParaRPr lang="en-US" sz="1200" dirty="0"/>
          </a:p>
        </p:txBody>
      </p:sp>
      <p:sp>
        <p:nvSpPr>
          <p:cNvPr id="15" name="Text 13"/>
          <p:cNvSpPr/>
          <p:nvPr/>
        </p:nvSpPr>
        <p:spPr>
          <a:xfrm>
            <a:off x="4937760" y="147218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One file per dashboard</a:t>
            </a:r>
            <a:endParaRPr lang="en-US" sz="1000" dirty="0"/>
          </a:p>
        </p:txBody>
      </p:sp>
      <p:sp>
        <p:nvSpPr>
          <p:cNvPr id="16" name="Text 14"/>
          <p:cNvSpPr/>
          <p:nvPr/>
        </p:nvSpPr>
        <p:spPr>
          <a:xfrm>
            <a:off x="4937760" y="181051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Same pattern throughout</a:t>
            </a:r>
            <a:endParaRPr lang="en-US" sz="1000" dirty="0"/>
          </a:p>
        </p:txBody>
      </p:sp>
      <p:sp>
        <p:nvSpPr>
          <p:cNvPr id="17" name="Text 15"/>
          <p:cNvSpPr/>
          <p:nvPr/>
        </p:nvSpPr>
        <p:spPr>
          <a:xfrm>
            <a:off x="4937760" y="214884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Easy to add new checks</a:t>
            </a:r>
            <a:endParaRPr lang="en-US" sz="1000" dirty="0"/>
          </a:p>
        </p:txBody>
      </p:sp>
      <p:sp>
        <p:nvSpPr>
          <p:cNvPr id="18" name="Shape 16"/>
          <p:cNvSpPr/>
          <p:nvPr/>
        </p:nvSpPr>
        <p:spPr>
          <a:xfrm>
            <a:off x="457200" y="278892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19" name="Shape 17"/>
          <p:cNvSpPr/>
          <p:nvPr/>
        </p:nvSpPr>
        <p:spPr>
          <a:xfrm>
            <a:off x="548640" y="2898648"/>
            <a:ext cx="3840480" cy="384048"/>
          </a:xfrm>
          <a:prstGeom prst="roundRect">
            <a:avLst>
              <a:gd name="adj" fmla="val 14286"/>
            </a:avLst>
          </a:prstGeom>
          <a:solidFill>
            <a:srgbClr val="065A60"/>
          </a:solidFill>
          <a:ln/>
        </p:spPr>
      </p:sp>
      <p:sp>
        <p:nvSpPr>
          <p:cNvPr id="20" name="Text 18"/>
          <p:cNvSpPr/>
          <p:nvPr/>
        </p:nvSpPr>
        <p:spPr>
          <a:xfrm>
            <a:off x="548640" y="289864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Managers</a:t>
            </a:r>
            <a:endParaRPr lang="en-US" sz="1200" dirty="0"/>
          </a:p>
        </p:txBody>
      </p:sp>
      <p:sp>
        <p:nvSpPr>
          <p:cNvPr id="21" name="Text 19"/>
          <p:cNvSpPr/>
          <p:nvPr/>
        </p:nvSpPr>
        <p:spPr>
          <a:xfrm>
            <a:off x="640080" y="339242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45 mins → 3 mins daily</a:t>
            </a:r>
            <a:endParaRPr lang="en-US" sz="1000" dirty="0"/>
          </a:p>
        </p:txBody>
      </p:sp>
      <p:sp>
        <p:nvSpPr>
          <p:cNvPr id="22" name="Text 20"/>
          <p:cNvSpPr/>
          <p:nvPr/>
        </p:nvSpPr>
        <p:spPr>
          <a:xfrm>
            <a:off x="640080" y="373075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Proof of validation saved every time</a:t>
            </a:r>
            <a:endParaRPr lang="en-US" sz="1000" dirty="0"/>
          </a:p>
        </p:txBody>
      </p:sp>
      <p:sp>
        <p:nvSpPr>
          <p:cNvPr id="23" name="Text 21"/>
          <p:cNvSpPr/>
          <p:nvPr/>
        </p:nvSpPr>
        <p:spPr>
          <a:xfrm>
            <a:off x="640080" y="406908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Scales to any number of dashboards</a:t>
            </a:r>
            <a:endParaRPr lang="en-US" sz="1000" dirty="0"/>
          </a:p>
        </p:txBody>
      </p:sp>
      <p:sp>
        <p:nvSpPr>
          <p:cNvPr id="24" name="Shape 22"/>
          <p:cNvSpPr/>
          <p:nvPr/>
        </p:nvSpPr>
        <p:spPr>
          <a:xfrm>
            <a:off x="4754880" y="2788920"/>
            <a:ext cx="4023360" cy="1719072"/>
          </a:xfrm>
          <a:prstGeom prst="roundRect">
            <a:avLst>
              <a:gd name="adj" fmla="val 5319"/>
            </a:avLst>
          </a:prstGeom>
          <a:solidFill>
            <a:srgbClr val="FFFFFF"/>
          </a:solidFill>
          <a:ln/>
          <a:effectLst>
            <a:outerShdw blurRad="101600" dist="25400" dir="2700000" algn="bl" rotWithShape="0">
              <a:srgbClr val="000000">
                <a:alpha val="12000"/>
              </a:srgbClr>
            </a:outerShdw>
          </a:effectLst>
        </p:spPr>
      </p:sp>
      <p:sp>
        <p:nvSpPr>
          <p:cNvPr id="25" name="Shape 23"/>
          <p:cNvSpPr/>
          <p:nvPr/>
        </p:nvSpPr>
        <p:spPr>
          <a:xfrm>
            <a:off x="4846320" y="2898648"/>
            <a:ext cx="3840480" cy="384048"/>
          </a:xfrm>
          <a:prstGeom prst="roundRect">
            <a:avLst>
              <a:gd name="adj" fmla="val 14286"/>
            </a:avLst>
          </a:prstGeom>
          <a:solidFill>
            <a:srgbClr val="92400E"/>
          </a:solidFill>
          <a:ln/>
        </p:spPr>
      </p:sp>
      <p:sp>
        <p:nvSpPr>
          <p:cNvPr id="26" name="Text 24"/>
          <p:cNvSpPr/>
          <p:nvPr/>
        </p:nvSpPr>
        <p:spPr>
          <a:xfrm>
            <a:off x="4846320" y="2898648"/>
            <a:ext cx="3840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 Everyone</a:t>
            </a:r>
            <a:endParaRPr lang="en-US" sz="1200" dirty="0"/>
          </a:p>
        </p:txBody>
      </p:sp>
      <p:sp>
        <p:nvSpPr>
          <p:cNvPr id="27" name="Text 25"/>
          <p:cNvSpPr/>
          <p:nvPr/>
        </p:nvSpPr>
        <p:spPr>
          <a:xfrm>
            <a:off x="4937760" y="3392424"/>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Not a QA specialist tool</a:t>
            </a:r>
            <a:endParaRPr lang="en-US" sz="1000" dirty="0"/>
          </a:p>
        </p:txBody>
      </p:sp>
      <p:sp>
        <p:nvSpPr>
          <p:cNvPr id="28" name="Text 26"/>
          <p:cNvSpPr/>
          <p:nvPr/>
        </p:nvSpPr>
        <p:spPr>
          <a:xfrm>
            <a:off x="4937760" y="3730752"/>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Any developer can write and run</a:t>
            </a:r>
            <a:endParaRPr lang="en-US" sz="1000" dirty="0"/>
          </a:p>
        </p:txBody>
      </p:sp>
      <p:sp>
        <p:nvSpPr>
          <p:cNvPr id="29" name="Text 27"/>
          <p:cNvSpPr/>
          <p:nvPr/>
        </p:nvSpPr>
        <p:spPr>
          <a:xfrm>
            <a:off x="4937760" y="4069080"/>
            <a:ext cx="3657600" cy="310896"/>
          </a:xfrm>
          <a:prstGeom prst="rect">
            <a:avLst/>
          </a:prstGeom>
          <a:noFill/>
          <a:ln/>
        </p:spPr>
        <p:txBody>
          <a:bodyPr wrap="square" lIns="0" tIns="0" rIns="0" bIns="0"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Low effort — high value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1E3A5F"/>
          </a:solidFill>
          <a:ln/>
        </p:spPr>
      </p:sp>
      <p:sp>
        <p:nvSpPr>
          <p:cNvPr id="3" name="Shape 1"/>
          <p:cNvSpPr/>
          <p:nvPr/>
        </p:nvSpPr>
        <p:spPr>
          <a:xfrm>
            <a:off x="0" y="4114800"/>
            <a:ext cx="9144000" cy="1028700"/>
          </a:xfrm>
          <a:prstGeom prst="rect">
            <a:avLst/>
          </a:prstGeom>
          <a:solidFill>
            <a:srgbClr val="0D1F35"/>
          </a:solidFill>
          <a:ln/>
        </p:spPr>
      </p:sp>
      <p:sp>
        <p:nvSpPr>
          <p:cNvPr id="4" name="Shape 2"/>
          <p:cNvSpPr/>
          <p:nvPr/>
        </p:nvSpPr>
        <p:spPr>
          <a:xfrm>
            <a:off x="6583680" y="731520"/>
            <a:ext cx="3474720" cy="3474720"/>
          </a:xfrm>
          <a:prstGeom prst="ellipse">
            <a:avLst/>
          </a:prstGeom>
          <a:solidFill>
            <a:srgbClr val="00B4D8">
              <a:alpha val="10000"/>
            </a:srgbClr>
          </a:solidFill>
          <a:ln/>
        </p:spPr>
      </p:sp>
      <p:sp>
        <p:nvSpPr>
          <p:cNvPr id="5" name="Text 3"/>
          <p:cNvSpPr/>
          <p:nvPr/>
        </p:nvSpPr>
        <p:spPr>
          <a:xfrm>
            <a:off x="548640" y="1554480"/>
            <a:ext cx="640080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6" name="Text 4"/>
          <p:cNvSpPr/>
          <p:nvPr/>
        </p:nvSpPr>
        <p:spPr>
          <a:xfrm>
            <a:off x="548640" y="2331720"/>
            <a:ext cx="4572000" cy="548640"/>
          </a:xfrm>
          <a:prstGeom prst="rect">
            <a:avLst/>
          </a:prstGeom>
          <a:noFill/>
          <a:ln/>
        </p:spPr>
        <p:txBody>
          <a:bodyPr wrap="square" lIns="0" tIns="0" rIns="0" bIns="0" rtlCol="0" anchor="ctr"/>
          <a:lstStyle/>
          <a:p>
            <a:pPr marL="0" indent="0">
              <a:buNone/>
            </a:pPr>
            <a:r>
              <a:rPr lang="en-US" sz="2200" dirty="0">
                <a:solidFill>
                  <a:srgbClr val="00B4D8"/>
                </a:solidFill>
                <a:latin typeface="Calibri" pitchFamily="34" charset="0"/>
                <a:ea typeface="Calibri" pitchFamily="34" charset="-122"/>
                <a:cs typeface="Calibri" pitchFamily="34" charset="-120"/>
              </a:rPr>
              <a:t>Questions?</a:t>
            </a:r>
            <a:endParaRPr lang="en-US" sz="2200" dirty="0"/>
          </a:p>
        </p:txBody>
      </p:sp>
      <p:sp>
        <p:nvSpPr>
          <p:cNvPr id="7" name="Text 5"/>
          <p:cNvSpPr/>
          <p:nvPr/>
        </p:nvSpPr>
        <p:spPr>
          <a:xfrm>
            <a:off x="548640" y="3063240"/>
            <a:ext cx="54864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Playwright Docs:  playwright.dev</a:t>
            </a:r>
            <a:endParaRPr lang="en-US" sz="1100" dirty="0"/>
          </a:p>
        </p:txBody>
      </p:sp>
      <p:sp>
        <p:nvSpPr>
          <p:cNvPr id="8" name="Text 6"/>
          <p:cNvSpPr/>
          <p:nvPr/>
        </p:nvSpPr>
        <p:spPr>
          <a:xfrm>
            <a:off x="548640" y="3447288"/>
            <a:ext cx="54864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Our Repo:  [your-repo-link]</a:t>
            </a:r>
            <a:endParaRPr lang="en-US" sz="1100" dirty="0"/>
          </a:p>
        </p:txBody>
      </p:sp>
      <p:sp>
        <p:nvSpPr>
          <p:cNvPr id="9" name="Text 7"/>
          <p:cNvSpPr/>
          <p:nvPr/>
        </p:nvSpPr>
        <p:spPr>
          <a:xfrm>
            <a:off x="548640" y="3831336"/>
            <a:ext cx="548640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Contact:  Mahantesh — EA Team</a:t>
            </a:r>
            <a:endParaRPr lang="en-US" sz="1100" dirty="0"/>
          </a:p>
        </p:txBody>
      </p:sp>
      <p:sp>
        <p:nvSpPr>
          <p:cNvPr id="10" name="Text 8"/>
          <p:cNvSpPr/>
          <p:nvPr/>
        </p:nvSpPr>
        <p:spPr>
          <a:xfrm>
            <a:off x="548640" y="4160520"/>
            <a:ext cx="7772400" cy="38404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"The goal is not the best testing tool. The goal is to deploy with confidence every time."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VS SELENIUM</a:t>
            </a:r>
            <a:endParaRPr lang="en-US" sz="10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Makes Playwright Stand Out — Part 1</a:t>
            </a:r>
            <a:endParaRPr lang="en-US" sz="2200" dirty="0"/>
          </a:p>
        </p:txBody>
      </p:sp>
      <p:sp>
        <p:nvSpPr>
          <p:cNvPr id="5" name="Shape 3"/>
          <p:cNvSpPr/>
          <p:nvPr/>
        </p:nvSpPr>
        <p:spPr>
          <a:xfrm>
            <a:off x="457200" y="1188720"/>
            <a:ext cx="8229600" cy="0"/>
          </a:xfrm>
          <a:prstGeom prst="line">
            <a:avLst/>
          </a:prstGeom>
          <a:noFill/>
          <a:ln w="19050">
            <a:solidFill>
              <a:srgbClr val="00B4D8"/>
            </a:solidFill>
            <a:prstDash val="solid"/>
          </a:ln>
        </p:spPr>
      </p:sp>
      <p:sp>
        <p:nvSpPr>
          <p:cNvPr id="6" name="Shape 4"/>
          <p:cNvSpPr/>
          <p:nvPr/>
        </p:nvSpPr>
        <p:spPr>
          <a:xfrm>
            <a:off x="457200" y="1298448"/>
            <a:ext cx="8229600" cy="804672"/>
          </a:xfrm>
          <a:prstGeom prst="roundRect">
            <a:avLst>
              <a:gd name="adj" fmla="val 6818"/>
            </a:avLst>
          </a:prstGeom>
          <a:solidFill>
            <a:srgbClr val="F8FAFC"/>
          </a:solidFill>
          <a:ln w="6350">
            <a:solidFill>
              <a:srgbClr val="E2E8F0"/>
            </a:solidFill>
            <a:prstDash val="solid"/>
          </a:ln>
        </p:spPr>
      </p:sp>
      <p:sp>
        <p:nvSpPr>
          <p:cNvPr id="7" name="Shape 5"/>
          <p:cNvSpPr/>
          <p:nvPr/>
        </p:nvSpPr>
        <p:spPr>
          <a:xfrm>
            <a:off x="566928" y="1499616"/>
            <a:ext cx="365760" cy="365760"/>
          </a:xfrm>
          <a:prstGeom prst="ellipse">
            <a:avLst/>
          </a:prstGeom>
          <a:solidFill>
            <a:srgbClr val="00B4D8"/>
          </a:solidFill>
          <a:ln/>
        </p:spPr>
      </p:sp>
      <p:sp>
        <p:nvSpPr>
          <p:cNvPr id="8" name="Text 6"/>
          <p:cNvSpPr/>
          <p:nvPr/>
        </p:nvSpPr>
        <p:spPr>
          <a:xfrm>
            <a:off x="566928" y="1499616"/>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1024128" y="1408176"/>
            <a:ext cx="2926080" cy="274320"/>
          </a:xfrm>
          <a:prstGeom prst="rect">
            <a:avLst/>
          </a:prstGeom>
          <a:noFill/>
          <a:ln/>
        </p:spPr>
        <p:txBody>
          <a:bodyPr wrap="square" lIns="0" tIns="0" rIns="0" bIns="0"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Auto-Wait — The Biggest Difference</a:t>
            </a:r>
            <a:endParaRPr lang="en-US" sz="1000" dirty="0"/>
          </a:p>
        </p:txBody>
      </p:sp>
      <p:sp>
        <p:nvSpPr>
          <p:cNvPr id="10" name="Text 8"/>
          <p:cNvSpPr/>
          <p:nvPr/>
        </p:nvSpPr>
        <p:spPr>
          <a:xfrm>
            <a:off x="1024128" y="1700784"/>
            <a:ext cx="2926080" cy="347472"/>
          </a:xfrm>
          <a:prstGeom prst="rect">
            <a:avLst/>
          </a:prstGeom>
          <a:noFill/>
          <a:ln/>
        </p:spPr>
        <p:txBody>
          <a:bodyPr wrap="square" lIns="0" tIns="0" rIns="0" bIns="0" rtlCol="0" anchor="ctr"/>
          <a:lstStyle/>
          <a:p>
            <a:pPr marL="0" indent="0">
              <a:buNone/>
            </a:pPr>
            <a:r>
              <a:rPr lang="en-US" sz="850" dirty="0">
                <a:solidFill>
                  <a:srgbClr val="DC2626"/>
                </a:solidFill>
                <a:latin typeface="Calibri" pitchFamily="34" charset="0"/>
                <a:ea typeface="Calibri" pitchFamily="34" charset="-122"/>
                <a:cs typeface="Calibri" pitchFamily="34" charset="-120"/>
              </a:rPr>
              <a:t>✗  You write manual waits everywhere  Forget one → random failure</a:t>
            </a:r>
            <a:endParaRPr lang="en-US" sz="850" dirty="0"/>
          </a:p>
        </p:txBody>
      </p:sp>
      <p:sp>
        <p:nvSpPr>
          <p:cNvPr id="11" name="Shape 9"/>
          <p:cNvSpPr/>
          <p:nvPr/>
        </p:nvSpPr>
        <p:spPr>
          <a:xfrm>
            <a:off x="4114800" y="1435608"/>
            <a:ext cx="0" cy="530352"/>
          </a:xfrm>
          <a:prstGeom prst="line">
            <a:avLst/>
          </a:prstGeom>
          <a:noFill/>
          <a:ln w="12700">
            <a:solidFill>
              <a:srgbClr val="E2E8F0"/>
            </a:solidFill>
            <a:prstDash val="solid"/>
          </a:ln>
        </p:spPr>
      </p:sp>
      <p:sp>
        <p:nvSpPr>
          <p:cNvPr id="12" name="Text 10"/>
          <p:cNvSpPr/>
          <p:nvPr/>
        </p:nvSpPr>
        <p:spPr>
          <a:xfrm>
            <a:off x="4251960" y="1408176"/>
            <a:ext cx="4251960" cy="640080"/>
          </a:xfrm>
          <a:prstGeom prst="rect">
            <a:avLst/>
          </a:prstGeom>
          <a:noFill/>
          <a:ln/>
        </p:spPr>
        <p:txBody>
          <a:bodyPr wrap="square" lIns="0" tIns="0" rIns="0" bIns="0" rtlCol="0" anchor="ctr"/>
          <a:lstStyle/>
          <a:p>
            <a:pPr marL="0" indent="0">
              <a:buNone/>
            </a:pPr>
            <a:r>
              <a:rPr lang="en-US" sz="850" dirty="0">
                <a:solidFill>
                  <a:srgbClr val="0D9488"/>
                </a:solidFill>
                <a:latin typeface="Calibri" pitchFamily="34" charset="0"/>
                <a:ea typeface="Calibri" pitchFamily="34" charset="-122"/>
                <a:cs typeface="Calibri" pitchFamily="34" charset="-120"/>
              </a:rPr>
              <a:t>✓  Waits automatically before every action  Visible + Stable + Enabled + Not covered</a:t>
            </a:r>
            <a:endParaRPr lang="en-US" sz="850" dirty="0"/>
          </a:p>
        </p:txBody>
      </p:sp>
      <p:sp>
        <p:nvSpPr>
          <p:cNvPr id="13" name="Shape 11"/>
          <p:cNvSpPr/>
          <p:nvPr/>
        </p:nvSpPr>
        <p:spPr>
          <a:xfrm>
            <a:off x="457200" y="2231136"/>
            <a:ext cx="8229600" cy="804672"/>
          </a:xfrm>
          <a:prstGeom prst="roundRect">
            <a:avLst>
              <a:gd name="adj" fmla="val 6818"/>
            </a:avLst>
          </a:prstGeom>
          <a:solidFill>
            <a:srgbClr val="FFFFFF"/>
          </a:solidFill>
          <a:ln w="6350">
            <a:solidFill>
              <a:srgbClr val="E2E8F0"/>
            </a:solidFill>
            <a:prstDash val="solid"/>
          </a:ln>
        </p:spPr>
      </p:sp>
      <p:sp>
        <p:nvSpPr>
          <p:cNvPr id="14" name="Shape 12"/>
          <p:cNvSpPr/>
          <p:nvPr/>
        </p:nvSpPr>
        <p:spPr>
          <a:xfrm>
            <a:off x="566928" y="2432304"/>
            <a:ext cx="365760" cy="365760"/>
          </a:xfrm>
          <a:prstGeom prst="ellipse">
            <a:avLst/>
          </a:prstGeom>
          <a:solidFill>
            <a:srgbClr val="00B4D8"/>
          </a:solidFill>
          <a:ln/>
        </p:spPr>
      </p:sp>
      <p:sp>
        <p:nvSpPr>
          <p:cNvPr id="15" name="Text 13"/>
          <p:cNvSpPr/>
          <p:nvPr/>
        </p:nvSpPr>
        <p:spPr>
          <a:xfrm>
            <a:off x="566928" y="2432304"/>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6" name="Text 14"/>
          <p:cNvSpPr/>
          <p:nvPr/>
        </p:nvSpPr>
        <p:spPr>
          <a:xfrm>
            <a:off x="1024128" y="2340864"/>
            <a:ext cx="2926080" cy="274320"/>
          </a:xfrm>
          <a:prstGeom prst="rect">
            <a:avLst/>
          </a:prstGeom>
          <a:noFill/>
          <a:ln/>
        </p:spPr>
        <p:txBody>
          <a:bodyPr wrap="square" lIns="0" tIns="0" rIns="0" bIns="0"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Resilient Locators — Find Like A Human</a:t>
            </a:r>
            <a:endParaRPr lang="en-US" sz="1000" dirty="0"/>
          </a:p>
        </p:txBody>
      </p:sp>
      <p:sp>
        <p:nvSpPr>
          <p:cNvPr id="17" name="Text 15"/>
          <p:cNvSpPr/>
          <p:nvPr/>
        </p:nvSpPr>
        <p:spPr>
          <a:xfrm>
            <a:off x="1024128" y="2633472"/>
            <a:ext cx="2926080" cy="347472"/>
          </a:xfrm>
          <a:prstGeom prst="rect">
            <a:avLst/>
          </a:prstGeom>
          <a:noFill/>
          <a:ln/>
        </p:spPr>
        <p:txBody>
          <a:bodyPr wrap="square" lIns="0" tIns="0" rIns="0" bIns="0" rtlCol="0" anchor="ctr"/>
          <a:lstStyle/>
          <a:p>
            <a:pPr marL="0" indent="0">
              <a:buNone/>
            </a:pPr>
            <a:r>
              <a:rPr lang="en-US" sz="850" dirty="0">
                <a:solidFill>
                  <a:srgbClr val="DC2626"/>
                </a:solidFill>
                <a:latin typeface="Calibri" pitchFamily="34" charset="0"/>
                <a:ea typeface="Calibri" pitchFamily="34" charset="-122"/>
                <a:cs typeface="Calibri" pitchFamily="34" charset="-120"/>
              </a:rPr>
              <a:t>✗  By.ID, By.XPATH, By.CLASS  Break when UI changes</a:t>
            </a:r>
            <a:endParaRPr lang="en-US" sz="850" dirty="0"/>
          </a:p>
        </p:txBody>
      </p:sp>
      <p:sp>
        <p:nvSpPr>
          <p:cNvPr id="18" name="Shape 16"/>
          <p:cNvSpPr/>
          <p:nvPr/>
        </p:nvSpPr>
        <p:spPr>
          <a:xfrm>
            <a:off x="4114800" y="2368296"/>
            <a:ext cx="0" cy="530352"/>
          </a:xfrm>
          <a:prstGeom prst="line">
            <a:avLst/>
          </a:prstGeom>
          <a:noFill/>
          <a:ln w="12700">
            <a:solidFill>
              <a:srgbClr val="E2E8F0"/>
            </a:solidFill>
            <a:prstDash val="solid"/>
          </a:ln>
        </p:spPr>
      </p:sp>
      <p:sp>
        <p:nvSpPr>
          <p:cNvPr id="19" name="Text 17"/>
          <p:cNvSpPr/>
          <p:nvPr/>
        </p:nvSpPr>
        <p:spPr>
          <a:xfrm>
            <a:off x="4251960" y="2340864"/>
            <a:ext cx="4251960" cy="640080"/>
          </a:xfrm>
          <a:prstGeom prst="rect">
            <a:avLst/>
          </a:prstGeom>
          <a:noFill/>
          <a:ln/>
        </p:spPr>
        <p:txBody>
          <a:bodyPr wrap="square" lIns="0" tIns="0" rIns="0" bIns="0" rtlCol="0" anchor="ctr"/>
          <a:lstStyle/>
          <a:p>
            <a:pPr marL="0" indent="0">
              <a:buNone/>
            </a:pPr>
            <a:r>
              <a:rPr lang="en-US" sz="850" dirty="0">
                <a:solidFill>
                  <a:srgbClr val="0D9488"/>
                </a:solidFill>
                <a:latin typeface="Calibri" pitchFamily="34" charset="0"/>
                <a:ea typeface="Calibri" pitchFamily="34" charset="-122"/>
                <a:cs typeface="Calibri" pitchFamily="34" charset="-120"/>
              </a:rPr>
              <a:t>✓  get_by_role(), get_by_label()  get_by_text(), get_by_placeholder()  Survive UI changes</a:t>
            </a:r>
            <a:endParaRPr lang="en-US" sz="850" dirty="0"/>
          </a:p>
        </p:txBody>
      </p:sp>
      <p:sp>
        <p:nvSpPr>
          <p:cNvPr id="20" name="Shape 18"/>
          <p:cNvSpPr/>
          <p:nvPr/>
        </p:nvSpPr>
        <p:spPr>
          <a:xfrm>
            <a:off x="457200" y="3163824"/>
            <a:ext cx="8229600" cy="804672"/>
          </a:xfrm>
          <a:prstGeom prst="roundRect">
            <a:avLst>
              <a:gd name="adj" fmla="val 6818"/>
            </a:avLst>
          </a:prstGeom>
          <a:solidFill>
            <a:srgbClr val="F8FAFC"/>
          </a:solidFill>
          <a:ln w="6350">
            <a:solidFill>
              <a:srgbClr val="E2E8F0"/>
            </a:solidFill>
            <a:prstDash val="solid"/>
          </a:ln>
        </p:spPr>
      </p:sp>
      <p:sp>
        <p:nvSpPr>
          <p:cNvPr id="21" name="Shape 19"/>
          <p:cNvSpPr/>
          <p:nvPr/>
        </p:nvSpPr>
        <p:spPr>
          <a:xfrm>
            <a:off x="566928" y="3364992"/>
            <a:ext cx="365760" cy="365760"/>
          </a:xfrm>
          <a:prstGeom prst="ellipse">
            <a:avLst/>
          </a:prstGeom>
          <a:solidFill>
            <a:srgbClr val="00B4D8"/>
          </a:solidFill>
          <a:ln/>
        </p:spPr>
      </p:sp>
      <p:sp>
        <p:nvSpPr>
          <p:cNvPr id="22" name="Text 20"/>
          <p:cNvSpPr/>
          <p:nvPr/>
        </p:nvSpPr>
        <p:spPr>
          <a:xfrm>
            <a:off x="566928" y="3364992"/>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3" name="Text 21"/>
          <p:cNvSpPr/>
          <p:nvPr/>
        </p:nvSpPr>
        <p:spPr>
          <a:xfrm>
            <a:off x="1024128" y="3273552"/>
            <a:ext cx="2926080" cy="274320"/>
          </a:xfrm>
          <a:prstGeom prst="rect">
            <a:avLst/>
          </a:prstGeom>
          <a:noFill/>
          <a:ln/>
        </p:spPr>
        <p:txBody>
          <a:bodyPr wrap="square" lIns="0" tIns="0" rIns="0" bIns="0"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Test Isolation — Fresh Browser Per Test</a:t>
            </a:r>
            <a:endParaRPr lang="en-US" sz="1000" dirty="0"/>
          </a:p>
        </p:txBody>
      </p:sp>
      <p:sp>
        <p:nvSpPr>
          <p:cNvPr id="24" name="Text 22"/>
          <p:cNvSpPr/>
          <p:nvPr/>
        </p:nvSpPr>
        <p:spPr>
          <a:xfrm>
            <a:off x="1024128" y="3566160"/>
            <a:ext cx="2926080" cy="347472"/>
          </a:xfrm>
          <a:prstGeom prst="rect">
            <a:avLst/>
          </a:prstGeom>
          <a:noFill/>
          <a:ln/>
        </p:spPr>
        <p:txBody>
          <a:bodyPr wrap="square" lIns="0" tIns="0" rIns="0" bIns="0" rtlCol="0" anchor="ctr"/>
          <a:lstStyle/>
          <a:p>
            <a:pPr marL="0" indent="0">
              <a:buNone/>
            </a:pPr>
            <a:r>
              <a:rPr lang="en-US" sz="850" dirty="0">
                <a:solidFill>
                  <a:srgbClr val="DC2626"/>
                </a:solidFill>
                <a:latin typeface="Calibri" pitchFamily="34" charset="0"/>
                <a:ea typeface="Calibri" pitchFamily="34" charset="-122"/>
                <a:cs typeface="Calibri" pitchFamily="34" charset="-120"/>
              </a:rPr>
              <a:t>✗  Shared browser session  State leaks between tests  Manual cleanup needed</a:t>
            </a:r>
            <a:endParaRPr lang="en-US" sz="850" dirty="0"/>
          </a:p>
        </p:txBody>
      </p:sp>
      <p:sp>
        <p:nvSpPr>
          <p:cNvPr id="25" name="Shape 23"/>
          <p:cNvSpPr/>
          <p:nvPr/>
        </p:nvSpPr>
        <p:spPr>
          <a:xfrm>
            <a:off x="4114800" y="3300984"/>
            <a:ext cx="0" cy="530352"/>
          </a:xfrm>
          <a:prstGeom prst="line">
            <a:avLst/>
          </a:prstGeom>
          <a:noFill/>
          <a:ln w="12700">
            <a:solidFill>
              <a:srgbClr val="E2E8F0"/>
            </a:solidFill>
            <a:prstDash val="solid"/>
          </a:ln>
        </p:spPr>
      </p:sp>
      <p:sp>
        <p:nvSpPr>
          <p:cNvPr id="26" name="Text 24"/>
          <p:cNvSpPr/>
          <p:nvPr/>
        </p:nvSpPr>
        <p:spPr>
          <a:xfrm>
            <a:off x="4251960" y="3273552"/>
            <a:ext cx="4251960" cy="640080"/>
          </a:xfrm>
          <a:prstGeom prst="rect">
            <a:avLst/>
          </a:prstGeom>
          <a:noFill/>
          <a:ln/>
        </p:spPr>
        <p:txBody>
          <a:bodyPr wrap="square" lIns="0" tIns="0" rIns="0" bIns="0" rtlCol="0" anchor="ctr"/>
          <a:lstStyle/>
          <a:p>
            <a:pPr marL="0" indent="0">
              <a:buNone/>
            </a:pPr>
            <a:r>
              <a:rPr lang="en-US" sz="850" dirty="0">
                <a:solidFill>
                  <a:srgbClr val="0D9488"/>
                </a:solidFill>
                <a:latin typeface="Calibri" pitchFamily="34" charset="0"/>
                <a:ea typeface="Calibri" pitchFamily="34" charset="-122"/>
                <a:cs typeface="Calibri" pitchFamily="34" charset="-120"/>
              </a:rPr>
              <a:t>✓  Fresh browser context per test  Like new incognito window  Zero shared state</a:t>
            </a:r>
            <a:endParaRPr lang="en-US" sz="850" dirty="0"/>
          </a:p>
        </p:txBody>
      </p:sp>
      <p:sp>
        <p:nvSpPr>
          <p:cNvPr id="27" name="Shape 25"/>
          <p:cNvSpPr/>
          <p:nvPr/>
        </p:nvSpPr>
        <p:spPr>
          <a:xfrm>
            <a:off x="457200" y="4096512"/>
            <a:ext cx="8229600" cy="804672"/>
          </a:xfrm>
          <a:prstGeom prst="roundRect">
            <a:avLst>
              <a:gd name="adj" fmla="val 6818"/>
            </a:avLst>
          </a:prstGeom>
          <a:solidFill>
            <a:srgbClr val="FFFFFF"/>
          </a:solidFill>
          <a:ln w="6350">
            <a:solidFill>
              <a:srgbClr val="E2E8F0"/>
            </a:solidFill>
            <a:prstDash val="solid"/>
          </a:ln>
        </p:spPr>
      </p:sp>
      <p:sp>
        <p:nvSpPr>
          <p:cNvPr id="28" name="Shape 26"/>
          <p:cNvSpPr/>
          <p:nvPr/>
        </p:nvSpPr>
        <p:spPr>
          <a:xfrm>
            <a:off x="566928" y="4297680"/>
            <a:ext cx="365760" cy="365760"/>
          </a:xfrm>
          <a:prstGeom prst="ellipse">
            <a:avLst/>
          </a:prstGeom>
          <a:solidFill>
            <a:srgbClr val="00B4D8"/>
          </a:solidFill>
          <a:ln/>
        </p:spPr>
      </p:sp>
      <p:sp>
        <p:nvSpPr>
          <p:cNvPr id="29" name="Text 27"/>
          <p:cNvSpPr/>
          <p:nvPr/>
        </p:nvSpPr>
        <p:spPr>
          <a:xfrm>
            <a:off x="566928" y="4297680"/>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30" name="Text 28"/>
          <p:cNvSpPr/>
          <p:nvPr/>
        </p:nvSpPr>
        <p:spPr>
          <a:xfrm>
            <a:off x="1024128" y="4206240"/>
            <a:ext cx="2926080" cy="274320"/>
          </a:xfrm>
          <a:prstGeom prst="rect">
            <a:avLst/>
          </a:prstGeom>
          <a:noFill/>
          <a:ln/>
        </p:spPr>
        <p:txBody>
          <a:bodyPr wrap="square" lIns="0" tIns="0" rIns="0" bIns="0"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Setup — Two Commands vs Driver Hell</a:t>
            </a:r>
            <a:endParaRPr lang="en-US" sz="1000" dirty="0"/>
          </a:p>
        </p:txBody>
      </p:sp>
      <p:sp>
        <p:nvSpPr>
          <p:cNvPr id="31" name="Text 29"/>
          <p:cNvSpPr/>
          <p:nvPr/>
        </p:nvSpPr>
        <p:spPr>
          <a:xfrm>
            <a:off x="1024128" y="4498848"/>
            <a:ext cx="2926080" cy="347472"/>
          </a:xfrm>
          <a:prstGeom prst="rect">
            <a:avLst/>
          </a:prstGeom>
          <a:noFill/>
          <a:ln/>
        </p:spPr>
        <p:txBody>
          <a:bodyPr wrap="square" lIns="0" tIns="0" rIns="0" bIns="0" rtlCol="0" anchor="ctr"/>
          <a:lstStyle/>
          <a:p>
            <a:pPr marL="0" indent="0">
              <a:buNone/>
            </a:pPr>
            <a:r>
              <a:rPr lang="en-US" sz="850" dirty="0">
                <a:solidFill>
                  <a:srgbClr val="DC2626"/>
                </a:solidFill>
                <a:latin typeface="Calibri" pitchFamily="34" charset="0"/>
                <a:ea typeface="Calibri" pitchFamily="34" charset="-122"/>
                <a:cs typeface="Calibri" pitchFamily="34" charset="-120"/>
              </a:rPr>
              <a:t>✗  pip install selenium  Download ChromeDriver manually  Match version to Chrome  Breaks when Chrome updates</a:t>
            </a:r>
            <a:endParaRPr lang="en-US" sz="850" dirty="0"/>
          </a:p>
        </p:txBody>
      </p:sp>
      <p:sp>
        <p:nvSpPr>
          <p:cNvPr id="32" name="Shape 30"/>
          <p:cNvSpPr/>
          <p:nvPr/>
        </p:nvSpPr>
        <p:spPr>
          <a:xfrm>
            <a:off x="4114800" y="4233672"/>
            <a:ext cx="0" cy="530352"/>
          </a:xfrm>
          <a:prstGeom prst="line">
            <a:avLst/>
          </a:prstGeom>
          <a:noFill/>
          <a:ln w="12700">
            <a:solidFill>
              <a:srgbClr val="E2E8F0"/>
            </a:solidFill>
            <a:prstDash val="solid"/>
          </a:ln>
        </p:spPr>
      </p:sp>
      <p:sp>
        <p:nvSpPr>
          <p:cNvPr id="33" name="Text 31"/>
          <p:cNvSpPr/>
          <p:nvPr/>
        </p:nvSpPr>
        <p:spPr>
          <a:xfrm>
            <a:off x="4251960" y="4206240"/>
            <a:ext cx="4251960" cy="640080"/>
          </a:xfrm>
          <a:prstGeom prst="rect">
            <a:avLst/>
          </a:prstGeom>
          <a:noFill/>
          <a:ln/>
        </p:spPr>
        <p:txBody>
          <a:bodyPr wrap="square" lIns="0" tIns="0" rIns="0" bIns="0" rtlCol="0" anchor="ctr"/>
          <a:lstStyle/>
          <a:p>
            <a:pPr marL="0" indent="0">
              <a:buNone/>
            </a:pPr>
            <a:r>
              <a:rPr lang="en-US" sz="850" dirty="0">
                <a:solidFill>
                  <a:srgbClr val="0D9488"/>
                </a:solidFill>
                <a:latin typeface="Calibri" pitchFamily="34" charset="0"/>
                <a:ea typeface="Calibri" pitchFamily="34" charset="-122"/>
                <a:cs typeface="Calibri" pitchFamily="34" charset="-120"/>
              </a:rPr>
              <a:t>✓  pip install playwright  playwright install chromium  Done. Manages everything.</a:t>
            </a:r>
            <a:endParaRPr lang="en-US" sz="850" dirty="0"/>
          </a:p>
        </p:txBody>
      </p:sp>
      <p:sp>
        <p:nvSpPr>
          <p:cNvPr id="34" name="Text 32"/>
          <p:cNvSpPr/>
          <p:nvPr/>
        </p:nvSpPr>
        <p:spPr>
          <a:xfrm>
            <a:off x="1024128" y="1280160"/>
            <a:ext cx="2926080" cy="256032"/>
          </a:xfrm>
          <a:prstGeom prst="rect">
            <a:avLst/>
          </a:prstGeom>
          <a:noFill/>
          <a:ln/>
        </p:spPr>
        <p:txBody>
          <a:bodyPr wrap="square" lIns="0" tIns="0" rIns="0" bIns="0" rtlCol="0" anchor="ctr"/>
          <a:lstStyle/>
          <a:p>
            <a:pPr marL="0" indent="0">
              <a:buNone/>
            </a:pPr>
            <a:r>
              <a:rPr lang="en-US" sz="900" b="1" dirty="0">
                <a:solidFill>
                  <a:srgbClr val="DC2626"/>
                </a:solidFill>
                <a:latin typeface="Calibri" pitchFamily="34" charset="0"/>
                <a:ea typeface="Calibri" pitchFamily="34" charset="-122"/>
                <a:cs typeface="Calibri" pitchFamily="34" charset="-120"/>
              </a:rPr>
              <a:t>SELENIUM</a:t>
            </a:r>
            <a:endParaRPr lang="en-US" sz="900" dirty="0"/>
          </a:p>
        </p:txBody>
      </p:sp>
      <p:sp>
        <p:nvSpPr>
          <p:cNvPr id="35" name="Text 33"/>
          <p:cNvSpPr/>
          <p:nvPr/>
        </p:nvSpPr>
        <p:spPr>
          <a:xfrm>
            <a:off x="4251960" y="1280160"/>
            <a:ext cx="4206240" cy="256032"/>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PLAYWRIGHT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VS SELENIUM</a:t>
            </a:r>
            <a:endParaRPr lang="en-US" sz="10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Makes Playwright Stand Out — Part 2</a:t>
            </a:r>
            <a:endParaRPr lang="en-US" sz="2200" dirty="0"/>
          </a:p>
        </p:txBody>
      </p:sp>
      <p:sp>
        <p:nvSpPr>
          <p:cNvPr id="5" name="Shape 3"/>
          <p:cNvSpPr/>
          <p:nvPr/>
        </p:nvSpPr>
        <p:spPr>
          <a:xfrm>
            <a:off x="457200" y="1188720"/>
            <a:ext cx="8229600" cy="0"/>
          </a:xfrm>
          <a:prstGeom prst="line">
            <a:avLst/>
          </a:prstGeom>
          <a:noFill/>
          <a:ln w="19050">
            <a:solidFill>
              <a:srgbClr val="00B4D8"/>
            </a:solidFill>
            <a:prstDash val="solid"/>
          </a:ln>
        </p:spPr>
      </p:sp>
      <p:sp>
        <p:nvSpPr>
          <p:cNvPr id="6" name="Shape 4"/>
          <p:cNvSpPr/>
          <p:nvPr/>
        </p:nvSpPr>
        <p:spPr>
          <a:xfrm>
            <a:off x="457200" y="1298448"/>
            <a:ext cx="8229600" cy="1691640"/>
          </a:xfrm>
          <a:prstGeom prst="roundRect">
            <a:avLst>
              <a:gd name="adj" fmla="val 4324"/>
            </a:avLst>
          </a:prstGeom>
          <a:solidFill>
            <a:srgbClr val="0D1F35"/>
          </a:solidFill>
          <a:ln/>
        </p:spPr>
      </p:sp>
      <p:sp>
        <p:nvSpPr>
          <p:cNvPr id="7" name="Shape 5"/>
          <p:cNvSpPr/>
          <p:nvPr/>
        </p:nvSpPr>
        <p:spPr>
          <a:xfrm>
            <a:off x="594360" y="1463040"/>
            <a:ext cx="365760" cy="365760"/>
          </a:xfrm>
          <a:prstGeom prst="ellipse">
            <a:avLst/>
          </a:prstGeom>
          <a:solidFill>
            <a:srgbClr val="00B4D8"/>
          </a:solidFill>
          <a:ln/>
        </p:spPr>
      </p:sp>
      <p:sp>
        <p:nvSpPr>
          <p:cNvPr id="8" name="Text 6"/>
          <p:cNvSpPr/>
          <p:nvPr/>
        </p:nvSpPr>
        <p:spPr>
          <a:xfrm>
            <a:off x="594360" y="1463040"/>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9" name="Text 7"/>
          <p:cNvSpPr/>
          <p:nvPr/>
        </p:nvSpPr>
        <p:spPr>
          <a:xfrm>
            <a:off x="1097280" y="1417320"/>
            <a:ext cx="7315200" cy="274320"/>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Built-In Tooling — Everything Included</a:t>
            </a:r>
            <a:endParaRPr lang="en-US" sz="1100" dirty="0"/>
          </a:p>
        </p:txBody>
      </p:sp>
      <p:sp>
        <p:nvSpPr>
          <p:cNvPr id="10" name="Text 8"/>
          <p:cNvSpPr/>
          <p:nvPr/>
        </p:nvSpPr>
        <p:spPr>
          <a:xfrm>
            <a:off x="1097280" y="1755648"/>
            <a:ext cx="228600" cy="292608"/>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t>
            </a:r>
            <a:endParaRPr lang="en-US" sz="1000" dirty="0"/>
          </a:p>
        </p:txBody>
      </p:sp>
      <p:sp>
        <p:nvSpPr>
          <p:cNvPr id="11" name="Text 9"/>
          <p:cNvSpPr/>
          <p:nvPr/>
        </p:nvSpPr>
        <p:spPr>
          <a:xfrm>
            <a:off x="1298448" y="1755648"/>
            <a:ext cx="1280160"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Test Generator:  </a:t>
            </a:r>
            <a:endParaRPr lang="en-US" sz="900" dirty="0"/>
          </a:p>
        </p:txBody>
      </p:sp>
      <p:sp>
        <p:nvSpPr>
          <p:cNvPr id="12" name="Text 10"/>
          <p:cNvSpPr/>
          <p:nvPr/>
        </p:nvSpPr>
        <p:spPr>
          <a:xfrm>
            <a:off x="2560320" y="1755648"/>
            <a:ext cx="2377440" cy="29260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Record clicks in browser → code auto-generated</a:t>
            </a:r>
            <a:endParaRPr lang="en-US" sz="900" dirty="0"/>
          </a:p>
        </p:txBody>
      </p:sp>
      <p:sp>
        <p:nvSpPr>
          <p:cNvPr id="13" name="Text 11"/>
          <p:cNvSpPr/>
          <p:nvPr/>
        </p:nvSpPr>
        <p:spPr>
          <a:xfrm>
            <a:off x="1097280" y="2139696"/>
            <a:ext cx="228600" cy="292608"/>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t>
            </a:r>
            <a:endParaRPr lang="en-US" sz="1000" dirty="0"/>
          </a:p>
        </p:txBody>
      </p:sp>
      <p:sp>
        <p:nvSpPr>
          <p:cNvPr id="14" name="Text 12"/>
          <p:cNvSpPr/>
          <p:nvPr/>
        </p:nvSpPr>
        <p:spPr>
          <a:xfrm>
            <a:off x="1298448" y="2139696"/>
            <a:ext cx="1280160"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Trace Viewer:  </a:t>
            </a:r>
            <a:endParaRPr lang="en-US" sz="900" dirty="0"/>
          </a:p>
        </p:txBody>
      </p:sp>
      <p:sp>
        <p:nvSpPr>
          <p:cNvPr id="15" name="Text 13"/>
          <p:cNvSpPr/>
          <p:nvPr/>
        </p:nvSpPr>
        <p:spPr>
          <a:xfrm>
            <a:off x="2560320" y="2139696"/>
            <a:ext cx="2377440" cy="29260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Full timeline: DOM snapshots, network, console, screenshots</a:t>
            </a:r>
            <a:endParaRPr lang="en-US" sz="900" dirty="0"/>
          </a:p>
        </p:txBody>
      </p:sp>
      <p:sp>
        <p:nvSpPr>
          <p:cNvPr id="16" name="Text 14"/>
          <p:cNvSpPr/>
          <p:nvPr/>
        </p:nvSpPr>
        <p:spPr>
          <a:xfrm>
            <a:off x="1097280" y="2523744"/>
            <a:ext cx="228600" cy="292608"/>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t>
            </a:r>
            <a:endParaRPr lang="en-US" sz="1000" dirty="0"/>
          </a:p>
        </p:txBody>
      </p:sp>
      <p:sp>
        <p:nvSpPr>
          <p:cNvPr id="17" name="Text 15"/>
          <p:cNvSpPr/>
          <p:nvPr/>
        </p:nvSpPr>
        <p:spPr>
          <a:xfrm>
            <a:off x="1298448" y="2523744"/>
            <a:ext cx="1280160"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HTML Reporter:  </a:t>
            </a:r>
            <a:endParaRPr lang="en-US" sz="900" dirty="0"/>
          </a:p>
        </p:txBody>
      </p:sp>
      <p:sp>
        <p:nvSpPr>
          <p:cNvPr id="18" name="Text 16"/>
          <p:cNvSpPr/>
          <p:nvPr/>
        </p:nvSpPr>
        <p:spPr>
          <a:xfrm>
            <a:off x="2560320" y="2523744"/>
            <a:ext cx="2377440" cy="29260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Beautiful test report — filterable by pass/fail/browser</a:t>
            </a:r>
            <a:endParaRPr lang="en-US" sz="900" dirty="0"/>
          </a:p>
        </p:txBody>
      </p:sp>
      <p:sp>
        <p:nvSpPr>
          <p:cNvPr id="19" name="Text 17"/>
          <p:cNvSpPr/>
          <p:nvPr/>
        </p:nvSpPr>
        <p:spPr>
          <a:xfrm>
            <a:off x="5029200" y="1755648"/>
            <a:ext cx="228600" cy="292608"/>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t>
            </a:r>
            <a:endParaRPr lang="en-US" sz="1000" dirty="0"/>
          </a:p>
        </p:txBody>
      </p:sp>
      <p:sp>
        <p:nvSpPr>
          <p:cNvPr id="20" name="Text 18"/>
          <p:cNvSpPr/>
          <p:nvPr/>
        </p:nvSpPr>
        <p:spPr>
          <a:xfrm>
            <a:off x="5230368" y="1755648"/>
            <a:ext cx="1280160"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VS Code Extension:  </a:t>
            </a:r>
            <a:endParaRPr lang="en-US" sz="900" dirty="0"/>
          </a:p>
        </p:txBody>
      </p:sp>
      <p:sp>
        <p:nvSpPr>
          <p:cNvPr id="21" name="Text 19"/>
          <p:cNvSpPr/>
          <p:nvPr/>
        </p:nvSpPr>
        <p:spPr>
          <a:xfrm>
            <a:off x="6492240" y="1755648"/>
            <a:ext cx="2377440" cy="29260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Run, debug, generate tests without leaving editor</a:t>
            </a:r>
            <a:endParaRPr lang="en-US" sz="900" dirty="0"/>
          </a:p>
        </p:txBody>
      </p:sp>
      <p:sp>
        <p:nvSpPr>
          <p:cNvPr id="22" name="Text 20"/>
          <p:cNvSpPr/>
          <p:nvPr/>
        </p:nvSpPr>
        <p:spPr>
          <a:xfrm>
            <a:off x="5029200" y="2139696"/>
            <a:ext cx="228600" cy="292608"/>
          </a:xfrm>
          <a:prstGeom prst="rect">
            <a:avLst/>
          </a:prstGeom>
          <a:noFill/>
          <a:ln/>
        </p:spPr>
        <p:txBody>
          <a:bodyPr wrap="square" lIns="0" tIns="0" rIns="0" bIns="0" rtlCol="0" anchor="ctr"/>
          <a:lstStyle/>
          <a:p>
            <a:pPr marL="0" indent="0">
              <a:buNone/>
            </a:pPr>
            <a:r>
              <a:rPr lang="en-US" sz="1000" dirty="0">
                <a:solidFill>
                  <a:srgbClr val="22C55E"/>
                </a:solidFill>
                <a:latin typeface="Calibri" pitchFamily="34" charset="0"/>
                <a:ea typeface="Calibri" pitchFamily="34" charset="-122"/>
                <a:cs typeface="Calibri" pitchFamily="34" charset="-120"/>
              </a:rPr>
              <a:t>▸ </a:t>
            </a:r>
            <a:endParaRPr lang="en-US" sz="1000" dirty="0"/>
          </a:p>
        </p:txBody>
      </p:sp>
      <p:sp>
        <p:nvSpPr>
          <p:cNvPr id="23" name="Text 21"/>
          <p:cNvSpPr/>
          <p:nvPr/>
        </p:nvSpPr>
        <p:spPr>
          <a:xfrm>
            <a:off x="5230368" y="2139696"/>
            <a:ext cx="1280160" cy="29260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UI Mode:  </a:t>
            </a:r>
            <a:endParaRPr lang="en-US" sz="900" dirty="0"/>
          </a:p>
        </p:txBody>
      </p:sp>
      <p:sp>
        <p:nvSpPr>
          <p:cNvPr id="24" name="Text 22"/>
          <p:cNvSpPr/>
          <p:nvPr/>
        </p:nvSpPr>
        <p:spPr>
          <a:xfrm>
            <a:off x="6492240" y="2139696"/>
            <a:ext cx="2377440" cy="29260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Watch mode + time travel debugging</a:t>
            </a:r>
            <a:endParaRPr lang="en-US" sz="900" dirty="0"/>
          </a:p>
        </p:txBody>
      </p:sp>
      <p:sp>
        <p:nvSpPr>
          <p:cNvPr id="25" name="Shape 23"/>
          <p:cNvSpPr/>
          <p:nvPr/>
        </p:nvSpPr>
        <p:spPr>
          <a:xfrm>
            <a:off x="457200" y="3090672"/>
            <a:ext cx="3931920" cy="914400"/>
          </a:xfrm>
          <a:prstGeom prst="roundRect">
            <a:avLst>
              <a:gd name="adj" fmla="val 8000"/>
            </a:avLst>
          </a:prstGeom>
          <a:solidFill>
            <a:srgbClr val="0D1F35"/>
          </a:solidFill>
          <a:ln/>
        </p:spPr>
      </p:sp>
      <p:sp>
        <p:nvSpPr>
          <p:cNvPr id="26" name="Shape 24"/>
          <p:cNvSpPr/>
          <p:nvPr/>
        </p:nvSpPr>
        <p:spPr>
          <a:xfrm>
            <a:off x="594360" y="3246120"/>
            <a:ext cx="365760" cy="365760"/>
          </a:xfrm>
          <a:prstGeom prst="ellipse">
            <a:avLst/>
          </a:prstGeom>
          <a:solidFill>
            <a:srgbClr val="00B4D8"/>
          </a:solidFill>
          <a:ln/>
        </p:spPr>
      </p:sp>
      <p:sp>
        <p:nvSpPr>
          <p:cNvPr id="27" name="Text 25"/>
          <p:cNvSpPr/>
          <p:nvPr/>
        </p:nvSpPr>
        <p:spPr>
          <a:xfrm>
            <a:off x="594360" y="3246120"/>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28" name="Text 26"/>
          <p:cNvSpPr/>
          <p:nvPr/>
        </p:nvSpPr>
        <p:spPr>
          <a:xfrm>
            <a:off x="1097280" y="3200400"/>
            <a:ext cx="3108960" cy="274320"/>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Parallel By Default</a:t>
            </a:r>
            <a:endParaRPr lang="en-US" sz="1100" dirty="0"/>
          </a:p>
        </p:txBody>
      </p:sp>
      <p:sp>
        <p:nvSpPr>
          <p:cNvPr id="29" name="Text 27"/>
          <p:cNvSpPr/>
          <p:nvPr/>
        </p:nvSpPr>
        <p:spPr>
          <a:xfrm>
            <a:off x="1097280" y="3520440"/>
            <a:ext cx="310896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Tests run in parallel across Chromium, Firefox, WebKit simultaneously. No configuration needed. Sharding across machines also built in.</a:t>
            </a:r>
            <a:endParaRPr lang="en-US" sz="900" dirty="0"/>
          </a:p>
        </p:txBody>
      </p:sp>
      <p:sp>
        <p:nvSpPr>
          <p:cNvPr id="30" name="Shape 28"/>
          <p:cNvSpPr/>
          <p:nvPr/>
        </p:nvSpPr>
        <p:spPr>
          <a:xfrm>
            <a:off x="4572000" y="3090672"/>
            <a:ext cx="4114800" cy="914400"/>
          </a:xfrm>
          <a:prstGeom prst="roundRect">
            <a:avLst>
              <a:gd name="adj" fmla="val 8000"/>
            </a:avLst>
          </a:prstGeom>
          <a:solidFill>
            <a:srgbClr val="0D1F35"/>
          </a:solidFill>
          <a:ln/>
        </p:spPr>
      </p:sp>
      <p:sp>
        <p:nvSpPr>
          <p:cNvPr id="31" name="Shape 29"/>
          <p:cNvSpPr/>
          <p:nvPr/>
        </p:nvSpPr>
        <p:spPr>
          <a:xfrm>
            <a:off x="4709160" y="3246120"/>
            <a:ext cx="365760" cy="365760"/>
          </a:xfrm>
          <a:prstGeom prst="ellipse">
            <a:avLst/>
          </a:prstGeom>
          <a:solidFill>
            <a:srgbClr val="00B4D8"/>
          </a:solidFill>
          <a:ln/>
        </p:spPr>
      </p:sp>
      <p:sp>
        <p:nvSpPr>
          <p:cNvPr id="32" name="Text 30"/>
          <p:cNvSpPr/>
          <p:nvPr/>
        </p:nvSpPr>
        <p:spPr>
          <a:xfrm>
            <a:off x="4709160" y="3246120"/>
            <a:ext cx="36576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07</a:t>
            </a:r>
            <a:endParaRPr lang="en-US" sz="900" dirty="0"/>
          </a:p>
        </p:txBody>
      </p:sp>
      <p:sp>
        <p:nvSpPr>
          <p:cNvPr id="33" name="Text 31"/>
          <p:cNvSpPr/>
          <p:nvPr/>
        </p:nvSpPr>
        <p:spPr>
          <a:xfrm>
            <a:off x="5212080" y="3200400"/>
            <a:ext cx="3337560" cy="274320"/>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Modern Web Support</a:t>
            </a:r>
            <a:endParaRPr lang="en-US" sz="1100" dirty="0"/>
          </a:p>
        </p:txBody>
      </p:sp>
      <p:sp>
        <p:nvSpPr>
          <p:cNvPr id="34" name="Text 32"/>
          <p:cNvSpPr/>
          <p:nvPr/>
        </p:nvSpPr>
        <p:spPr>
          <a:xfrm>
            <a:off x="5212080" y="3520440"/>
            <a:ext cx="3337560" cy="41148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Shadow DOM  ·  iFrames  ·  Network mocking</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API testing  ·  Mobile emulation  ·  File uploads</a:t>
            </a:r>
            <a:endParaRPr lang="en-US" sz="900" dirty="0"/>
          </a:p>
          <a:p>
            <a:pPr marL="0" indent="0">
              <a:buNone/>
            </a:pPr>
            <a:r>
              <a:rPr lang="en-US" sz="900" dirty="0">
                <a:solidFill>
                  <a:srgbClr val="CBD5E1"/>
                </a:solidFill>
                <a:latin typeface="Calibri" pitchFamily="34" charset="0"/>
                <a:ea typeface="Calibri" pitchFamily="34" charset="-122"/>
                <a:cs typeface="Calibri" pitchFamily="34" charset="-120"/>
              </a:rPr>
              <a:t>All built in. Selenium needs third-party tools.</a:t>
            </a:r>
            <a:endParaRPr lang="en-US" sz="900" dirty="0"/>
          </a:p>
        </p:txBody>
      </p:sp>
      <p:sp>
        <p:nvSpPr>
          <p:cNvPr id="35" name="Text 33"/>
          <p:cNvSpPr/>
          <p:nvPr/>
        </p:nvSpPr>
        <p:spPr>
          <a:xfrm>
            <a:off x="457200" y="4846320"/>
            <a:ext cx="8229600" cy="228600"/>
          </a:xfrm>
          <a:prstGeom prst="rect">
            <a:avLst/>
          </a:prstGeom>
          <a:noFill/>
          <a:ln/>
        </p:spPr>
        <p:txBody>
          <a:bodyPr wrap="square" lIns="0" tIns="0" rIns="0" bIns="0" rtlCol="0" anchor="ctr"/>
          <a:lstStyle/>
          <a:p>
            <a:pPr marL="0" indent="0" algn="ctr">
              <a:buNone/>
            </a:pPr>
            <a:r>
              <a:rPr lang="en-US" sz="850" i="1" dirty="0">
                <a:solidFill>
                  <a:srgbClr val="4B5563"/>
                </a:solidFill>
                <a:latin typeface="Calibri" pitchFamily="34" charset="0"/>
                <a:ea typeface="Calibri" pitchFamily="34" charset="-122"/>
                <a:cs typeface="Calibri" pitchFamily="34" charset="-120"/>
              </a:rPr>
              <a:t>90,000+ GitHub stars  ·  Used by Microsoft, Adobe, Disney+ Hotstar, ING, VS Code team  ·  playwright.dev</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PLAYWRIGHT ECOSYSTEM</a:t>
            </a:r>
            <a:endParaRPr lang="en-US" sz="10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Playwright Is More Than A Testing Library</a:t>
            </a:r>
            <a:endParaRPr lang="en-US" sz="2200" dirty="0"/>
          </a:p>
        </p:txBody>
      </p:sp>
      <p:sp>
        <p:nvSpPr>
          <p:cNvPr id="5" name="Shape 3"/>
          <p:cNvSpPr/>
          <p:nvPr/>
        </p:nvSpPr>
        <p:spPr>
          <a:xfrm>
            <a:off x="457200" y="1188720"/>
            <a:ext cx="8229600" cy="0"/>
          </a:xfrm>
          <a:prstGeom prst="line">
            <a:avLst/>
          </a:prstGeom>
          <a:noFill/>
          <a:ln w="19050">
            <a:solidFill>
              <a:srgbClr val="00B4D8"/>
            </a:solidFill>
            <a:prstDash val="solid"/>
          </a:ln>
        </p:spPr>
      </p:sp>
      <p:sp>
        <p:nvSpPr>
          <p:cNvPr id="6" name="Text 4"/>
          <p:cNvSpPr/>
          <p:nvPr/>
        </p:nvSpPr>
        <p:spPr>
          <a:xfrm>
            <a:off x="457200" y="1261872"/>
            <a:ext cx="8229600" cy="274320"/>
          </a:xfrm>
          <a:prstGeom prst="rect">
            <a:avLst/>
          </a:prstGeom>
          <a:noFill/>
          <a:ln/>
        </p:spPr>
        <p:txBody>
          <a:bodyPr wrap="square" lIns="0" tIns="0" rIns="0" bIns="0" rtlCol="0" anchor="ctr"/>
          <a:lstStyle/>
          <a:p>
            <a:pPr marL="0" indent="0" algn="ctr">
              <a:buNone/>
            </a:pPr>
            <a:r>
              <a:rPr lang="en-US" sz="1100" i="1" dirty="0">
                <a:solidFill>
                  <a:srgbClr val="5B7FA6"/>
                </a:solidFill>
                <a:latin typeface="Calibri" pitchFamily="34" charset="0"/>
                <a:ea typeface="Calibri" pitchFamily="34" charset="-122"/>
                <a:cs typeface="Calibri" pitchFamily="34" charset="-120"/>
              </a:rPr>
              <a:t>Three distinct products — each solving a different problem</a:t>
            </a:r>
            <a:endParaRPr lang="en-US" sz="1100" dirty="0"/>
          </a:p>
        </p:txBody>
      </p:sp>
      <p:sp>
        <p:nvSpPr>
          <p:cNvPr id="7" name="Shape 5"/>
          <p:cNvSpPr/>
          <p:nvPr/>
        </p:nvSpPr>
        <p:spPr>
          <a:xfrm>
            <a:off x="457200" y="1600200"/>
            <a:ext cx="2651760" cy="3246120"/>
          </a:xfrm>
          <a:prstGeom prst="roundRect">
            <a:avLst>
              <a:gd name="adj" fmla="val 3448"/>
            </a:avLst>
          </a:prstGeom>
          <a:solidFill>
            <a:srgbClr val="FFFFFF"/>
          </a:solidFill>
          <a:ln/>
          <a:effectLst>
            <a:outerShdw blurRad="101600" dist="25400" dir="2700000" algn="bl" rotWithShape="0">
              <a:srgbClr val="000000">
                <a:alpha val="12000"/>
              </a:srgbClr>
            </a:outerShdw>
          </a:effectLst>
        </p:spPr>
      </p:sp>
      <p:sp>
        <p:nvSpPr>
          <p:cNvPr id="8" name="Shape 6"/>
          <p:cNvSpPr/>
          <p:nvPr/>
        </p:nvSpPr>
        <p:spPr>
          <a:xfrm>
            <a:off x="1435608" y="1764792"/>
            <a:ext cx="694944" cy="694944"/>
          </a:xfrm>
          <a:prstGeom prst="ellipse">
            <a:avLst/>
          </a:prstGeom>
          <a:solidFill>
            <a:srgbClr val="028090"/>
          </a:solidFill>
          <a:ln/>
        </p:spPr>
      </p:sp>
      <p:sp>
        <p:nvSpPr>
          <p:cNvPr id="9" name="Text 7"/>
          <p:cNvSpPr/>
          <p:nvPr/>
        </p:nvSpPr>
        <p:spPr>
          <a:xfrm>
            <a:off x="1435608" y="1764792"/>
            <a:ext cx="694944"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Shape 8"/>
          <p:cNvSpPr/>
          <p:nvPr/>
        </p:nvSpPr>
        <p:spPr>
          <a:xfrm>
            <a:off x="731520" y="2587752"/>
            <a:ext cx="2103120" cy="274320"/>
          </a:xfrm>
          <a:prstGeom prst="roundRect">
            <a:avLst>
              <a:gd name="adj" fmla="val 16667"/>
            </a:avLst>
          </a:prstGeom>
          <a:solidFill>
            <a:srgbClr val="E0F2F1"/>
          </a:solidFill>
          <a:ln/>
        </p:spPr>
      </p:sp>
      <p:sp>
        <p:nvSpPr>
          <p:cNvPr id="11" name="Text 9"/>
          <p:cNvSpPr/>
          <p:nvPr/>
        </p:nvSpPr>
        <p:spPr>
          <a:xfrm>
            <a:off x="731520" y="2587752"/>
            <a:ext cx="2103120" cy="274320"/>
          </a:xfrm>
          <a:prstGeom prst="rect">
            <a:avLst/>
          </a:prstGeom>
          <a:noFill/>
          <a:ln/>
        </p:spPr>
        <p:txBody>
          <a:bodyPr wrap="square" lIns="0" tIns="0" rIns="0" bIns="0" rtlCol="0" anchor="ctr"/>
          <a:lstStyle/>
          <a:p>
            <a:pPr marL="0" indent="0" algn="ctr">
              <a:buNone/>
            </a:pPr>
            <a:r>
              <a:rPr lang="en-US" sz="900" b="1" dirty="0">
                <a:solidFill>
                  <a:srgbClr val="065A60"/>
                </a:solidFill>
                <a:latin typeface="Calibri" pitchFamily="34" charset="0"/>
                <a:ea typeface="Calibri" pitchFamily="34" charset="-122"/>
                <a:cs typeface="Calibri" pitchFamily="34" charset="-120"/>
              </a:rPr>
              <a:t>What We Use</a:t>
            </a:r>
            <a:endParaRPr lang="en-US" sz="900" dirty="0"/>
          </a:p>
        </p:txBody>
      </p:sp>
      <p:sp>
        <p:nvSpPr>
          <p:cNvPr id="12" name="Text 10"/>
          <p:cNvSpPr/>
          <p:nvPr/>
        </p:nvSpPr>
        <p:spPr>
          <a:xfrm>
            <a:off x="594360" y="2953512"/>
            <a:ext cx="2377440" cy="320040"/>
          </a:xfrm>
          <a:prstGeom prst="rect">
            <a:avLst/>
          </a:prstGeom>
          <a:noFill/>
          <a:ln/>
        </p:spPr>
        <p:txBody>
          <a:bodyPr wrap="square" lIns="0" tIns="0" rIns="0" bIns="0" rtlCol="0" anchor="ctr"/>
          <a:lstStyle/>
          <a:p>
            <a:pPr marL="0" indent="0" algn="ctr">
              <a:buNone/>
            </a:pPr>
            <a:r>
              <a:rPr lang="en-US" sz="1200" b="1" dirty="0">
                <a:solidFill>
                  <a:srgbClr val="2D3748"/>
                </a:solidFill>
                <a:latin typeface="Calibri" pitchFamily="34" charset="0"/>
                <a:ea typeface="Calibri" pitchFamily="34" charset="-122"/>
                <a:cs typeface="Calibri" pitchFamily="34" charset="-120"/>
              </a:rPr>
              <a:t>Playwright Test</a:t>
            </a:r>
            <a:endParaRPr lang="en-US" sz="1200" dirty="0"/>
          </a:p>
        </p:txBody>
      </p:sp>
      <p:sp>
        <p:nvSpPr>
          <p:cNvPr id="13" name="Text 11"/>
          <p:cNvSpPr/>
          <p:nvPr/>
        </p:nvSpPr>
        <p:spPr>
          <a:xfrm>
            <a:off x="594360" y="2953512"/>
            <a:ext cx="2377440" cy="320040"/>
          </a:xfrm>
          <a:prstGeom prst="rect">
            <a:avLst/>
          </a:prstGeom>
          <a:noFill/>
          <a:ln/>
        </p:spPr>
        <p:txBody>
          <a:bodyPr wrap="square" lIns="0" tIns="0" rIns="0" bIns="0"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Playwright Test</a:t>
            </a:r>
            <a:endParaRPr lang="en-US" sz="1200" dirty="0"/>
          </a:p>
        </p:txBody>
      </p:sp>
      <p:sp>
        <p:nvSpPr>
          <p:cNvPr id="14" name="Text 12"/>
          <p:cNvSpPr/>
          <p:nvPr/>
        </p:nvSpPr>
        <p:spPr>
          <a:xfrm>
            <a:off x="594360" y="3319272"/>
            <a:ext cx="2377440" cy="502920"/>
          </a:xfrm>
          <a:prstGeom prst="rect">
            <a:avLst/>
          </a:prstGeom>
          <a:noFill/>
          <a:ln/>
        </p:spPr>
        <p:txBody>
          <a:bodyPr wrap="square" lIns="0" tIns="0" rIns="0" bIns="0" rtlCol="0" anchor="ctr"/>
          <a:lstStyle/>
          <a:p>
            <a:pPr marL="0" indent="0" algn="ctr">
              <a:buNone/>
            </a:pPr>
            <a:r>
              <a:rPr lang="en-US" sz="850" dirty="0">
                <a:solidFill>
                  <a:srgbClr val="2D3748"/>
                </a:solidFill>
                <a:latin typeface="Calibri" pitchFamily="34" charset="0"/>
                <a:ea typeface="Calibri" pitchFamily="34" charset="-122"/>
                <a:cs typeface="Calibri" pitchFamily="34" charset="-120"/>
              </a:rPr>
              <a:t>Core browser automation library for testing, scripting, and validation.</a:t>
            </a:r>
            <a:endParaRPr lang="en-US" sz="850" dirty="0"/>
          </a:p>
        </p:txBody>
      </p:sp>
      <p:sp>
        <p:nvSpPr>
          <p:cNvPr id="15" name="Text 13"/>
          <p:cNvSpPr/>
          <p:nvPr/>
        </p:nvSpPr>
        <p:spPr>
          <a:xfrm>
            <a:off x="640080"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Python, JS, Java, .NET</a:t>
            </a:r>
            <a:endParaRPr lang="en-US" dirty="0"/>
          </a:p>
        </p:txBody>
      </p:sp>
      <p:sp>
        <p:nvSpPr>
          <p:cNvPr id="16" name="Text 14"/>
          <p:cNvSpPr/>
          <p:nvPr/>
        </p:nvSpPr>
        <p:spPr>
          <a:xfrm>
            <a:off x="640080"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Chromium, Firefox, WebKit</a:t>
            </a:r>
            <a:endParaRPr lang="en-US" dirty="0"/>
          </a:p>
        </p:txBody>
      </p:sp>
      <p:sp>
        <p:nvSpPr>
          <p:cNvPr id="17" name="Text 15"/>
          <p:cNvSpPr/>
          <p:nvPr/>
        </p:nvSpPr>
        <p:spPr>
          <a:xfrm>
            <a:off x="4023360" y="397413"/>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Auto-wait + Assertions</a:t>
            </a:r>
            <a:endParaRPr lang="en-US" dirty="0"/>
          </a:p>
        </p:txBody>
      </p:sp>
      <p:sp>
        <p:nvSpPr>
          <p:cNvPr id="18" name="Text 16"/>
          <p:cNvSpPr/>
          <p:nvPr/>
        </p:nvSpPr>
        <p:spPr>
          <a:xfrm>
            <a:off x="6437376" y="105156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HTML Reports + Traces</a:t>
            </a:r>
            <a:endParaRPr lang="en-US" dirty="0"/>
          </a:p>
        </p:txBody>
      </p:sp>
      <p:sp>
        <p:nvSpPr>
          <p:cNvPr id="19" name="Text 17"/>
          <p:cNvSpPr/>
          <p:nvPr/>
        </p:nvSpPr>
        <p:spPr>
          <a:xfrm>
            <a:off x="5591907" y="621792"/>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Parallel execution</a:t>
            </a:r>
            <a:endParaRPr lang="en-US" dirty="0"/>
          </a:p>
        </p:txBody>
      </p:sp>
      <p:sp>
        <p:nvSpPr>
          <p:cNvPr id="20" name="Text 18"/>
          <p:cNvSpPr/>
          <p:nvPr/>
        </p:nvSpPr>
        <p:spPr>
          <a:xfrm>
            <a:off x="640080" y="3867912"/>
            <a:ext cx="2286000" cy="86868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  Python, JS, Java, .NET  ▸  Chromium, Firefox, WebKit  ▸  Auto-wait + Assertions  ▸  HTML Reports + Traces  ▸  Parallel execution</a:t>
            </a:r>
            <a:endParaRPr lang="en-US" sz="850" dirty="0"/>
          </a:p>
        </p:txBody>
      </p:sp>
      <p:sp>
        <p:nvSpPr>
          <p:cNvPr id="21" name="Text 19"/>
          <p:cNvSpPr/>
          <p:nvPr/>
        </p:nvSpPr>
        <p:spPr>
          <a:xfrm>
            <a:off x="594360" y="4636008"/>
            <a:ext cx="2377440" cy="164592"/>
          </a:xfrm>
          <a:prstGeom prst="rect">
            <a:avLst/>
          </a:prstGeom>
          <a:noFill/>
          <a:ln/>
        </p:spPr>
        <p:txBody>
          <a:bodyPr wrap="square" lIns="0" tIns="0" rIns="0" bIns="0" rtlCol="0" anchor="ctr"/>
          <a:lstStyle/>
          <a:p>
            <a:pPr marL="0" indent="0" algn="ctr">
              <a:buNone/>
            </a:pPr>
            <a:r>
              <a:rPr lang="en-US" sz="800" b="1" dirty="0">
                <a:solidFill>
                  <a:srgbClr val="028090"/>
                </a:solidFill>
                <a:latin typeface="Calibri" pitchFamily="34" charset="0"/>
                <a:ea typeface="Calibri" pitchFamily="34" charset="-122"/>
                <a:cs typeface="Calibri" pitchFamily="34" charset="-120"/>
              </a:rPr>
              <a:t>For: Developers &amp; QA</a:t>
            </a:r>
            <a:endParaRPr lang="en-US" sz="800" dirty="0"/>
          </a:p>
        </p:txBody>
      </p:sp>
      <p:sp>
        <p:nvSpPr>
          <p:cNvPr id="22" name="Shape 20"/>
          <p:cNvSpPr/>
          <p:nvPr/>
        </p:nvSpPr>
        <p:spPr>
          <a:xfrm>
            <a:off x="3355848" y="1600200"/>
            <a:ext cx="2651760" cy="3246120"/>
          </a:xfrm>
          <a:prstGeom prst="roundRect">
            <a:avLst>
              <a:gd name="adj" fmla="val 3448"/>
            </a:avLst>
          </a:prstGeom>
          <a:solidFill>
            <a:srgbClr val="FFFFFF"/>
          </a:solidFill>
          <a:ln/>
          <a:effectLst>
            <a:outerShdw blurRad="101600" dist="25400" dir="2700000" algn="bl" rotWithShape="0">
              <a:srgbClr val="000000">
                <a:alpha val="12000"/>
              </a:srgbClr>
            </a:outerShdw>
          </a:effectLst>
        </p:spPr>
      </p:sp>
      <p:sp>
        <p:nvSpPr>
          <p:cNvPr id="23" name="Shape 21"/>
          <p:cNvSpPr/>
          <p:nvPr/>
        </p:nvSpPr>
        <p:spPr>
          <a:xfrm>
            <a:off x="4334256" y="1764792"/>
            <a:ext cx="694944" cy="694944"/>
          </a:xfrm>
          <a:prstGeom prst="ellipse">
            <a:avLst/>
          </a:prstGeom>
          <a:solidFill>
            <a:srgbClr val="6D28D9"/>
          </a:solidFill>
          <a:ln/>
        </p:spPr>
      </p:sp>
      <p:sp>
        <p:nvSpPr>
          <p:cNvPr id="24" name="Text 22"/>
          <p:cNvSpPr/>
          <p:nvPr/>
        </p:nvSpPr>
        <p:spPr>
          <a:xfrm>
            <a:off x="4334256" y="1764792"/>
            <a:ext cx="694944"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5" name="Shape 23"/>
          <p:cNvSpPr/>
          <p:nvPr/>
        </p:nvSpPr>
        <p:spPr>
          <a:xfrm>
            <a:off x="3630168" y="2587752"/>
            <a:ext cx="2103120" cy="274320"/>
          </a:xfrm>
          <a:prstGeom prst="roundRect">
            <a:avLst>
              <a:gd name="adj" fmla="val 16667"/>
            </a:avLst>
          </a:prstGeom>
          <a:solidFill>
            <a:srgbClr val="F5F3FF"/>
          </a:solidFill>
          <a:ln/>
        </p:spPr>
      </p:sp>
      <p:sp>
        <p:nvSpPr>
          <p:cNvPr id="26" name="Text 24"/>
          <p:cNvSpPr/>
          <p:nvPr/>
        </p:nvSpPr>
        <p:spPr>
          <a:xfrm>
            <a:off x="3630168" y="2587752"/>
            <a:ext cx="2103120" cy="274320"/>
          </a:xfrm>
          <a:prstGeom prst="rect">
            <a:avLst/>
          </a:prstGeom>
          <a:noFill/>
          <a:ln/>
        </p:spPr>
        <p:txBody>
          <a:bodyPr wrap="square" lIns="0" tIns="0" rIns="0" bIns="0" rtlCol="0" anchor="ctr"/>
          <a:lstStyle/>
          <a:p>
            <a:pPr marL="0" indent="0" algn="ctr">
              <a:buNone/>
            </a:pPr>
            <a:r>
              <a:rPr lang="en-US" sz="900" b="1" dirty="0">
                <a:solidFill>
                  <a:srgbClr val="5B21B6"/>
                </a:solidFill>
                <a:latin typeface="Calibri" pitchFamily="34" charset="0"/>
                <a:ea typeface="Calibri" pitchFamily="34" charset="-122"/>
                <a:cs typeface="Calibri" pitchFamily="34" charset="-120"/>
              </a:rPr>
              <a:t>For AI Agents</a:t>
            </a:r>
            <a:endParaRPr lang="en-US" sz="900" dirty="0"/>
          </a:p>
        </p:txBody>
      </p:sp>
      <p:sp>
        <p:nvSpPr>
          <p:cNvPr id="27" name="Text 25"/>
          <p:cNvSpPr/>
          <p:nvPr/>
        </p:nvSpPr>
        <p:spPr>
          <a:xfrm>
            <a:off x="3493008" y="2953512"/>
            <a:ext cx="2377440" cy="320040"/>
          </a:xfrm>
          <a:prstGeom prst="rect">
            <a:avLst/>
          </a:prstGeom>
          <a:noFill/>
          <a:ln/>
        </p:spPr>
        <p:txBody>
          <a:bodyPr wrap="square" lIns="0" tIns="0" rIns="0" bIns="0" rtlCol="0" anchor="ctr"/>
          <a:lstStyle/>
          <a:p>
            <a:pPr marL="0" indent="0" algn="ctr">
              <a:buNone/>
            </a:pPr>
            <a:r>
              <a:rPr lang="en-US" sz="1200" b="1" dirty="0">
                <a:solidFill>
                  <a:srgbClr val="2D3748"/>
                </a:solidFill>
                <a:latin typeface="Calibri" pitchFamily="34" charset="0"/>
                <a:ea typeface="Calibri" pitchFamily="34" charset="-122"/>
                <a:cs typeface="Calibri" pitchFamily="34" charset="-120"/>
              </a:rPr>
              <a:t>Playwright MCP</a:t>
            </a:r>
            <a:endParaRPr lang="en-US" sz="1200" dirty="0"/>
          </a:p>
        </p:txBody>
      </p:sp>
      <p:sp>
        <p:nvSpPr>
          <p:cNvPr id="28" name="Text 26"/>
          <p:cNvSpPr/>
          <p:nvPr/>
        </p:nvSpPr>
        <p:spPr>
          <a:xfrm>
            <a:off x="3493008" y="2953512"/>
            <a:ext cx="2377440" cy="320040"/>
          </a:xfrm>
          <a:prstGeom prst="rect">
            <a:avLst/>
          </a:prstGeom>
          <a:noFill/>
          <a:ln/>
        </p:spPr>
        <p:txBody>
          <a:bodyPr wrap="square" lIns="0" tIns="0" rIns="0" bIns="0" rtlCol="0" anchor="ctr"/>
          <a:lstStyle/>
          <a:p>
            <a:pPr marL="0" indent="0" algn="ctr">
              <a:buNone/>
            </a:pPr>
            <a:r>
              <a:rPr lang="en-US" sz="1200" b="1" dirty="0">
                <a:solidFill>
                  <a:srgbClr val="6D28D9"/>
                </a:solidFill>
                <a:latin typeface="Calibri" pitchFamily="34" charset="0"/>
                <a:ea typeface="Calibri" pitchFamily="34" charset="-122"/>
                <a:cs typeface="Calibri" pitchFamily="34" charset="-120"/>
              </a:rPr>
              <a:t>Playwright MCP</a:t>
            </a:r>
            <a:endParaRPr lang="en-US" sz="1200" dirty="0"/>
          </a:p>
        </p:txBody>
      </p:sp>
      <p:sp>
        <p:nvSpPr>
          <p:cNvPr id="29" name="Text 27"/>
          <p:cNvSpPr/>
          <p:nvPr/>
        </p:nvSpPr>
        <p:spPr>
          <a:xfrm>
            <a:off x="3493008" y="3319272"/>
            <a:ext cx="2377440" cy="502920"/>
          </a:xfrm>
          <a:prstGeom prst="rect">
            <a:avLst/>
          </a:prstGeom>
          <a:noFill/>
          <a:ln/>
        </p:spPr>
        <p:txBody>
          <a:bodyPr wrap="square" lIns="0" tIns="0" rIns="0" bIns="0" rtlCol="0" anchor="ctr"/>
          <a:lstStyle/>
          <a:p>
            <a:pPr marL="0" indent="0" algn="ctr">
              <a:buNone/>
            </a:pPr>
            <a:r>
              <a:rPr lang="en-US" sz="850" dirty="0">
                <a:solidFill>
                  <a:srgbClr val="2D3748"/>
                </a:solidFill>
                <a:latin typeface="Calibri" pitchFamily="34" charset="0"/>
                <a:ea typeface="Calibri" pitchFamily="34" charset="-122"/>
                <a:cs typeface="Calibri" pitchFamily="34" charset="-120"/>
              </a:rPr>
              <a:t>Model Context Protocol server. Gives AI models full browser control via structured accessibility snapshots.</a:t>
            </a:r>
            <a:endParaRPr lang="en-US" sz="850" dirty="0"/>
          </a:p>
        </p:txBody>
      </p:sp>
      <p:sp>
        <p:nvSpPr>
          <p:cNvPr id="30" name="Text 28"/>
          <p:cNvSpPr/>
          <p:nvPr/>
        </p:nvSpPr>
        <p:spPr>
          <a:xfrm>
            <a:off x="3538728"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Claude, Copilot, Cursor</a:t>
            </a:r>
            <a:endParaRPr lang="en-US" dirty="0"/>
          </a:p>
        </p:txBody>
      </p:sp>
      <p:sp>
        <p:nvSpPr>
          <p:cNvPr id="31" name="Text 29"/>
          <p:cNvSpPr/>
          <p:nvPr/>
        </p:nvSpPr>
        <p:spPr>
          <a:xfrm>
            <a:off x="3538728"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VS Code, Windsurf support</a:t>
            </a:r>
            <a:endParaRPr lang="en-US" dirty="0"/>
          </a:p>
        </p:txBody>
      </p:sp>
      <p:sp>
        <p:nvSpPr>
          <p:cNvPr id="32" name="Text 30"/>
          <p:cNvSpPr/>
          <p:nvPr/>
        </p:nvSpPr>
        <p:spPr>
          <a:xfrm>
            <a:off x="3538728"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Accessibility snapshots</a:t>
            </a:r>
            <a:endParaRPr lang="en-US" dirty="0"/>
          </a:p>
        </p:txBody>
      </p:sp>
      <p:sp>
        <p:nvSpPr>
          <p:cNvPr id="33" name="Text 31"/>
          <p:cNvSpPr/>
          <p:nvPr/>
        </p:nvSpPr>
        <p:spPr>
          <a:xfrm>
            <a:off x="3538728"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No vision model needed</a:t>
            </a:r>
            <a:endParaRPr lang="en-US" dirty="0"/>
          </a:p>
        </p:txBody>
      </p:sp>
      <p:sp>
        <p:nvSpPr>
          <p:cNvPr id="34" name="Text 32"/>
          <p:cNvSpPr/>
          <p:nvPr/>
        </p:nvSpPr>
        <p:spPr>
          <a:xfrm>
            <a:off x="3538728"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40+ browser tools</a:t>
            </a:r>
            <a:endParaRPr lang="en-US" dirty="0"/>
          </a:p>
        </p:txBody>
      </p:sp>
      <p:sp>
        <p:nvSpPr>
          <p:cNvPr id="35" name="Text 33"/>
          <p:cNvSpPr/>
          <p:nvPr/>
        </p:nvSpPr>
        <p:spPr>
          <a:xfrm>
            <a:off x="3538728" y="3867912"/>
            <a:ext cx="2286000" cy="86868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  Claude, Copilot, Cursor  ▸  VS Code, Windsurf support  ▸  Accessibility snapshots  ▸  No vision model needed  ▸  40+ browser tools</a:t>
            </a:r>
            <a:endParaRPr lang="en-US" sz="850" dirty="0"/>
          </a:p>
        </p:txBody>
      </p:sp>
      <p:sp>
        <p:nvSpPr>
          <p:cNvPr id="36" name="Text 34"/>
          <p:cNvSpPr/>
          <p:nvPr/>
        </p:nvSpPr>
        <p:spPr>
          <a:xfrm>
            <a:off x="3493008" y="4636008"/>
            <a:ext cx="2377440" cy="164592"/>
          </a:xfrm>
          <a:prstGeom prst="rect">
            <a:avLst/>
          </a:prstGeom>
          <a:noFill/>
          <a:ln/>
        </p:spPr>
        <p:txBody>
          <a:bodyPr wrap="square" lIns="0" tIns="0" rIns="0" bIns="0" rtlCol="0" anchor="ctr"/>
          <a:lstStyle/>
          <a:p>
            <a:pPr marL="0" indent="0" algn="ctr">
              <a:buNone/>
            </a:pPr>
            <a:r>
              <a:rPr lang="en-US" sz="800" b="1" dirty="0">
                <a:solidFill>
                  <a:srgbClr val="6D28D9"/>
                </a:solidFill>
                <a:latin typeface="Calibri" pitchFamily="34" charset="0"/>
                <a:ea typeface="Calibri" pitchFamily="34" charset="-122"/>
                <a:cs typeface="Calibri" pitchFamily="34" charset="-120"/>
              </a:rPr>
              <a:t>For: AI Tools &amp; Agents</a:t>
            </a:r>
            <a:endParaRPr lang="en-US" sz="800" dirty="0"/>
          </a:p>
        </p:txBody>
      </p:sp>
      <p:sp>
        <p:nvSpPr>
          <p:cNvPr id="37" name="Shape 35"/>
          <p:cNvSpPr/>
          <p:nvPr/>
        </p:nvSpPr>
        <p:spPr>
          <a:xfrm>
            <a:off x="6254496" y="1600200"/>
            <a:ext cx="2651760" cy="3246120"/>
          </a:xfrm>
          <a:prstGeom prst="roundRect">
            <a:avLst>
              <a:gd name="adj" fmla="val 3448"/>
            </a:avLst>
          </a:prstGeom>
          <a:solidFill>
            <a:srgbClr val="FFFFFF"/>
          </a:solidFill>
          <a:ln/>
          <a:effectLst>
            <a:outerShdw blurRad="101600" dist="25400" dir="2700000" algn="bl" rotWithShape="0">
              <a:srgbClr val="000000">
                <a:alpha val="12000"/>
              </a:srgbClr>
            </a:outerShdw>
          </a:effectLst>
        </p:spPr>
      </p:sp>
      <p:sp>
        <p:nvSpPr>
          <p:cNvPr id="38" name="Shape 36"/>
          <p:cNvSpPr/>
          <p:nvPr/>
        </p:nvSpPr>
        <p:spPr>
          <a:xfrm>
            <a:off x="7232904" y="1764792"/>
            <a:ext cx="694944" cy="694944"/>
          </a:xfrm>
          <a:prstGeom prst="ellipse">
            <a:avLst/>
          </a:prstGeom>
          <a:solidFill>
            <a:srgbClr val="B45309"/>
          </a:solidFill>
          <a:ln/>
        </p:spPr>
      </p:sp>
      <p:sp>
        <p:nvSpPr>
          <p:cNvPr id="39" name="Text 37"/>
          <p:cNvSpPr/>
          <p:nvPr/>
        </p:nvSpPr>
        <p:spPr>
          <a:xfrm>
            <a:off x="7232904" y="1764792"/>
            <a:ext cx="694944"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40" name="Shape 38"/>
          <p:cNvSpPr/>
          <p:nvPr/>
        </p:nvSpPr>
        <p:spPr>
          <a:xfrm>
            <a:off x="6528816" y="2587752"/>
            <a:ext cx="2103120" cy="274320"/>
          </a:xfrm>
          <a:prstGeom prst="roundRect">
            <a:avLst>
              <a:gd name="adj" fmla="val 16667"/>
            </a:avLst>
          </a:prstGeom>
          <a:solidFill>
            <a:srgbClr val="FFF7ED"/>
          </a:solidFill>
          <a:ln/>
        </p:spPr>
      </p:sp>
      <p:sp>
        <p:nvSpPr>
          <p:cNvPr id="41" name="Text 39"/>
          <p:cNvSpPr/>
          <p:nvPr/>
        </p:nvSpPr>
        <p:spPr>
          <a:xfrm>
            <a:off x="6528816" y="2587752"/>
            <a:ext cx="2103120" cy="274320"/>
          </a:xfrm>
          <a:prstGeom prst="rect">
            <a:avLst/>
          </a:prstGeom>
          <a:noFill/>
          <a:ln/>
        </p:spPr>
        <p:txBody>
          <a:bodyPr wrap="square" lIns="0" tIns="0" rIns="0" bIns="0"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Token-Efficient</a:t>
            </a:r>
            <a:endParaRPr lang="en-US" sz="900" dirty="0"/>
          </a:p>
        </p:txBody>
      </p:sp>
      <p:sp>
        <p:nvSpPr>
          <p:cNvPr id="42" name="Text 40"/>
          <p:cNvSpPr/>
          <p:nvPr/>
        </p:nvSpPr>
        <p:spPr>
          <a:xfrm>
            <a:off x="6391656" y="2953512"/>
            <a:ext cx="2377440" cy="320040"/>
          </a:xfrm>
          <a:prstGeom prst="rect">
            <a:avLst/>
          </a:prstGeom>
          <a:noFill/>
          <a:ln/>
        </p:spPr>
        <p:txBody>
          <a:bodyPr wrap="square" lIns="0" tIns="0" rIns="0" bIns="0" rtlCol="0" anchor="ctr"/>
          <a:lstStyle/>
          <a:p>
            <a:pPr marL="0" indent="0" algn="ctr">
              <a:buNone/>
            </a:pPr>
            <a:r>
              <a:rPr lang="en-US" sz="1200" b="1" dirty="0">
                <a:solidFill>
                  <a:srgbClr val="2D3748"/>
                </a:solidFill>
                <a:latin typeface="Calibri" pitchFamily="34" charset="0"/>
                <a:ea typeface="Calibri" pitchFamily="34" charset="-122"/>
                <a:cs typeface="Calibri" pitchFamily="34" charset="-120"/>
              </a:rPr>
              <a:t>Playwright CLI</a:t>
            </a:r>
            <a:endParaRPr lang="en-US" sz="1200" dirty="0"/>
          </a:p>
        </p:txBody>
      </p:sp>
      <p:sp>
        <p:nvSpPr>
          <p:cNvPr id="43" name="Text 41"/>
          <p:cNvSpPr/>
          <p:nvPr/>
        </p:nvSpPr>
        <p:spPr>
          <a:xfrm>
            <a:off x="6391656" y="2953512"/>
            <a:ext cx="2377440" cy="320040"/>
          </a:xfrm>
          <a:prstGeom prst="rect">
            <a:avLst/>
          </a:prstGeom>
          <a:noFill/>
          <a:ln/>
        </p:spPr>
        <p:txBody>
          <a:bodyPr wrap="square" lIns="0" tIns="0" rIns="0" bIns="0" rtlCol="0" anchor="ctr"/>
          <a:lstStyle/>
          <a:p>
            <a:pPr marL="0" indent="0" algn="ctr">
              <a:buNone/>
            </a:pPr>
            <a:r>
              <a:rPr lang="en-US" sz="1200" b="1" dirty="0">
                <a:solidFill>
                  <a:srgbClr val="B45309"/>
                </a:solidFill>
                <a:latin typeface="Calibri" pitchFamily="34" charset="0"/>
                <a:ea typeface="Calibri" pitchFamily="34" charset="-122"/>
                <a:cs typeface="Calibri" pitchFamily="34" charset="-120"/>
              </a:rPr>
              <a:t>Playwright CLI</a:t>
            </a:r>
            <a:endParaRPr lang="en-US" sz="1200" dirty="0"/>
          </a:p>
        </p:txBody>
      </p:sp>
      <p:sp>
        <p:nvSpPr>
          <p:cNvPr id="44" name="Text 42"/>
          <p:cNvSpPr/>
          <p:nvPr/>
        </p:nvSpPr>
        <p:spPr>
          <a:xfrm>
            <a:off x="6391656" y="3319272"/>
            <a:ext cx="2377440" cy="502920"/>
          </a:xfrm>
          <a:prstGeom prst="rect">
            <a:avLst/>
          </a:prstGeom>
          <a:noFill/>
          <a:ln/>
        </p:spPr>
        <p:txBody>
          <a:bodyPr wrap="square" lIns="0" tIns="0" rIns="0" bIns="0" rtlCol="0" anchor="ctr"/>
          <a:lstStyle/>
          <a:p>
            <a:pPr marL="0" indent="0" algn="ctr">
              <a:buNone/>
            </a:pPr>
            <a:r>
              <a:rPr lang="en-US" sz="850" dirty="0">
                <a:solidFill>
                  <a:srgbClr val="2D3748"/>
                </a:solidFill>
                <a:latin typeface="Calibri" pitchFamily="34" charset="0"/>
                <a:ea typeface="Calibri" pitchFamily="34" charset="-122"/>
                <a:cs typeface="Calibri" pitchFamily="34" charset="-120"/>
              </a:rPr>
              <a:t>Command-line interface for coding agents. Token-efficient browser commands for Claude Code and GitHub Copilot.</a:t>
            </a:r>
            <a:endParaRPr lang="en-US" sz="850" dirty="0"/>
          </a:p>
        </p:txBody>
      </p:sp>
      <p:sp>
        <p:nvSpPr>
          <p:cNvPr id="45" name="Text 43"/>
          <p:cNvSpPr/>
          <p:nvPr/>
        </p:nvSpPr>
        <p:spPr>
          <a:xfrm>
            <a:off x="6437376"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Claude Code + Copilot</a:t>
            </a:r>
            <a:endParaRPr lang="en-US" dirty="0"/>
          </a:p>
        </p:txBody>
      </p:sp>
      <p:sp>
        <p:nvSpPr>
          <p:cNvPr id="46" name="Text 44"/>
          <p:cNvSpPr/>
          <p:nvPr/>
        </p:nvSpPr>
        <p:spPr>
          <a:xfrm>
            <a:off x="6437376"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Skill-based workflows</a:t>
            </a:r>
            <a:endParaRPr lang="en-US" dirty="0"/>
          </a:p>
        </p:txBody>
      </p:sp>
      <p:sp>
        <p:nvSpPr>
          <p:cNvPr id="47" name="Text 45"/>
          <p:cNvSpPr/>
          <p:nvPr/>
        </p:nvSpPr>
        <p:spPr>
          <a:xfrm>
            <a:off x="6437376"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Persistent browser daemon</a:t>
            </a:r>
            <a:endParaRPr lang="en-US" dirty="0"/>
          </a:p>
        </p:txBody>
      </p:sp>
      <p:sp>
        <p:nvSpPr>
          <p:cNvPr id="48" name="Text 46"/>
          <p:cNvSpPr/>
          <p:nvPr/>
        </p:nvSpPr>
        <p:spPr>
          <a:xfrm>
            <a:off x="6437376"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200-400 tokens per snapshot</a:t>
            </a:r>
            <a:endParaRPr lang="en-US" dirty="0"/>
          </a:p>
        </p:txBody>
      </p:sp>
      <p:sp>
        <p:nvSpPr>
          <p:cNvPr id="49" name="Text 47"/>
          <p:cNvSpPr/>
          <p:nvPr/>
        </p:nvSpPr>
        <p:spPr>
          <a:xfrm>
            <a:off x="6437376" y="3886200"/>
            <a:ext cx="2286000" cy="0"/>
          </a:xfrm>
          <a:prstGeom prst="rect">
            <a:avLst/>
          </a:prstGeom>
          <a:noFill/>
          <a:ln/>
        </p:spPr>
        <p:txBody>
          <a:bodyPr wrap="square" lIns="0" tIns="0" rIns="0" bIns="0" rtlCol="0" anchor="ctr"/>
          <a:lstStyle/>
          <a:p>
            <a:pPr marL="0" indent="0">
              <a:buNone/>
            </a:pPr>
            <a:r>
              <a:rPr lang="en-US" dirty="0">
                <a:solidFill>
                  <a:srgbClr val="2D3748"/>
                </a:solidFill>
                <a:latin typeface="Calibri" pitchFamily="34" charset="0"/>
                <a:ea typeface="Calibri" pitchFamily="34" charset="-122"/>
                <a:cs typeface="Calibri" pitchFamily="34" charset="-120"/>
              </a:rPr>
              <a:t>▸  Session monitoring dashboard</a:t>
            </a:r>
            <a:endParaRPr lang="en-US" dirty="0"/>
          </a:p>
        </p:txBody>
      </p:sp>
      <p:sp>
        <p:nvSpPr>
          <p:cNvPr id="50" name="Text 48"/>
          <p:cNvSpPr/>
          <p:nvPr/>
        </p:nvSpPr>
        <p:spPr>
          <a:xfrm>
            <a:off x="6437376" y="3867912"/>
            <a:ext cx="2286000" cy="868680"/>
          </a:xfrm>
          <a:prstGeom prst="rect">
            <a:avLst/>
          </a:prstGeom>
          <a:noFill/>
          <a:ln/>
        </p:spPr>
        <p:txBody>
          <a:bodyPr wrap="square" lIns="0" tIns="0" rIns="0" bIns="0" rtlCol="0" anchor="ctr"/>
          <a:lstStyle/>
          <a:p>
            <a:pPr marL="0" indent="0">
              <a:buNone/>
            </a:pPr>
            <a:r>
              <a:rPr lang="en-US" sz="850" dirty="0">
                <a:solidFill>
                  <a:srgbClr val="5B7FA6"/>
                </a:solidFill>
                <a:latin typeface="Calibri" pitchFamily="34" charset="0"/>
                <a:ea typeface="Calibri" pitchFamily="34" charset="-122"/>
                <a:cs typeface="Calibri" pitchFamily="34" charset="-120"/>
              </a:rPr>
              <a:t>▸  Claude Code + Copilot  ▸  Skill-based workflows  ▸  Persistent browser daemon  ▸  200-400 tokens per snapshot  ▸  Session monitoring dashboard</a:t>
            </a:r>
            <a:endParaRPr lang="en-US" sz="850" dirty="0"/>
          </a:p>
        </p:txBody>
      </p:sp>
      <p:sp>
        <p:nvSpPr>
          <p:cNvPr id="51" name="Text 49"/>
          <p:cNvSpPr/>
          <p:nvPr/>
        </p:nvSpPr>
        <p:spPr>
          <a:xfrm>
            <a:off x="6391656" y="4636008"/>
            <a:ext cx="2377440" cy="164592"/>
          </a:xfrm>
          <a:prstGeom prst="rect">
            <a:avLst/>
          </a:prstGeom>
          <a:noFill/>
          <a:ln/>
        </p:spPr>
        <p:txBody>
          <a:bodyPr wrap="square" lIns="0" tIns="0" rIns="0" bIns="0" rtlCol="0" anchor="ctr"/>
          <a:lstStyle/>
          <a:p>
            <a:pPr marL="0" indent="0" algn="ctr">
              <a:buNone/>
            </a:pPr>
            <a:r>
              <a:rPr lang="en-US" sz="800" b="1" dirty="0">
                <a:solidFill>
                  <a:srgbClr val="B45309"/>
                </a:solidFill>
                <a:latin typeface="Calibri" pitchFamily="34" charset="0"/>
                <a:ea typeface="Calibri" pitchFamily="34" charset="-122"/>
                <a:cs typeface="Calibri" pitchFamily="34" charset="-120"/>
              </a:rPr>
              <a:t>For: AI Coding Agents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EXPLORE</a:t>
            </a:r>
            <a:endParaRPr lang="en-US" sz="10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VS Code Extension + What To Explore Next</a:t>
            </a:r>
            <a:endParaRPr lang="en-US" sz="2200" dirty="0"/>
          </a:p>
        </p:txBody>
      </p:sp>
      <p:sp>
        <p:nvSpPr>
          <p:cNvPr id="5" name="Shape 3"/>
          <p:cNvSpPr/>
          <p:nvPr/>
        </p:nvSpPr>
        <p:spPr>
          <a:xfrm>
            <a:off x="457200" y="1188720"/>
            <a:ext cx="8229600" cy="0"/>
          </a:xfrm>
          <a:prstGeom prst="line">
            <a:avLst/>
          </a:prstGeom>
          <a:noFill/>
          <a:ln w="19050">
            <a:solidFill>
              <a:srgbClr val="00B4D8"/>
            </a:solidFill>
            <a:prstDash val="solid"/>
          </a:ln>
        </p:spPr>
      </p:sp>
      <p:sp>
        <p:nvSpPr>
          <p:cNvPr id="6" name="Shape 4"/>
          <p:cNvSpPr/>
          <p:nvPr/>
        </p:nvSpPr>
        <p:spPr>
          <a:xfrm>
            <a:off x="457200" y="1298448"/>
            <a:ext cx="4114800" cy="2377440"/>
          </a:xfrm>
          <a:prstGeom prst="roundRect">
            <a:avLst>
              <a:gd name="adj" fmla="val 3846"/>
            </a:avLst>
          </a:prstGeom>
          <a:solidFill>
            <a:srgbClr val="0D1F35"/>
          </a:solidFill>
          <a:ln/>
        </p:spPr>
      </p:sp>
      <p:sp>
        <p:nvSpPr>
          <p:cNvPr id="7" name="Text 5"/>
          <p:cNvSpPr/>
          <p:nvPr/>
        </p:nvSpPr>
        <p:spPr>
          <a:xfrm>
            <a:off x="640080" y="1417320"/>
            <a:ext cx="3749040" cy="347472"/>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VS Code Extension</a:t>
            </a:r>
            <a:endParaRPr lang="en-US" sz="1300" dirty="0"/>
          </a:p>
        </p:txBody>
      </p:sp>
      <p:sp>
        <p:nvSpPr>
          <p:cNvPr id="8" name="Text 6"/>
          <p:cNvSpPr/>
          <p:nvPr/>
        </p:nvSpPr>
        <p:spPr>
          <a:xfrm>
            <a:off x="640080" y="1783080"/>
            <a:ext cx="3749040" cy="256032"/>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Install from VS Code Marketplace → search Playwright</a:t>
            </a:r>
            <a:endParaRPr lang="en-US" sz="900" dirty="0"/>
          </a:p>
        </p:txBody>
      </p:sp>
      <p:sp>
        <p:nvSpPr>
          <p:cNvPr id="9" name="Text 7"/>
          <p:cNvSpPr/>
          <p:nvPr/>
        </p:nvSpPr>
        <p:spPr>
          <a:xfrm>
            <a:off x="640080" y="2103120"/>
            <a:ext cx="14630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Run tests: </a:t>
            </a:r>
            <a:endParaRPr lang="en-US" sz="900" dirty="0"/>
          </a:p>
        </p:txBody>
      </p:sp>
      <p:sp>
        <p:nvSpPr>
          <p:cNvPr id="10" name="Text 8"/>
          <p:cNvSpPr/>
          <p:nvPr/>
        </p:nvSpPr>
        <p:spPr>
          <a:xfrm>
            <a:off x="2057400" y="2103120"/>
            <a:ext cx="23317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Click play button — no terminal needed</a:t>
            </a:r>
            <a:endParaRPr lang="en-US" sz="900" dirty="0"/>
          </a:p>
        </p:txBody>
      </p:sp>
      <p:sp>
        <p:nvSpPr>
          <p:cNvPr id="11" name="Text 9"/>
          <p:cNvSpPr/>
          <p:nvPr/>
        </p:nvSpPr>
        <p:spPr>
          <a:xfrm>
            <a:off x="640080" y="2432304"/>
            <a:ext cx="14630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Debug tests: </a:t>
            </a:r>
            <a:endParaRPr lang="en-US" sz="900" dirty="0"/>
          </a:p>
        </p:txBody>
      </p:sp>
      <p:sp>
        <p:nvSpPr>
          <p:cNvPr id="12" name="Text 10"/>
          <p:cNvSpPr/>
          <p:nvPr/>
        </p:nvSpPr>
        <p:spPr>
          <a:xfrm>
            <a:off x="2057400" y="2432304"/>
            <a:ext cx="23317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Set breakpoints, step through line by line</a:t>
            </a:r>
            <a:endParaRPr lang="en-US" sz="900" dirty="0"/>
          </a:p>
        </p:txBody>
      </p:sp>
      <p:sp>
        <p:nvSpPr>
          <p:cNvPr id="13" name="Text 11"/>
          <p:cNvSpPr/>
          <p:nvPr/>
        </p:nvSpPr>
        <p:spPr>
          <a:xfrm>
            <a:off x="640080" y="2761488"/>
            <a:ext cx="14630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Generate tests: </a:t>
            </a:r>
            <a:endParaRPr lang="en-US" sz="900" dirty="0"/>
          </a:p>
        </p:txBody>
      </p:sp>
      <p:sp>
        <p:nvSpPr>
          <p:cNvPr id="14" name="Text 12"/>
          <p:cNvSpPr/>
          <p:nvPr/>
        </p:nvSpPr>
        <p:spPr>
          <a:xfrm>
            <a:off x="2057400" y="2761488"/>
            <a:ext cx="23317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Click in browser → code auto-written</a:t>
            </a:r>
            <a:endParaRPr lang="en-US" sz="900" dirty="0"/>
          </a:p>
        </p:txBody>
      </p:sp>
      <p:sp>
        <p:nvSpPr>
          <p:cNvPr id="15" name="Text 13"/>
          <p:cNvSpPr/>
          <p:nvPr/>
        </p:nvSpPr>
        <p:spPr>
          <a:xfrm>
            <a:off x="640080" y="3090672"/>
            <a:ext cx="14630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Live locators: </a:t>
            </a:r>
            <a:endParaRPr lang="en-US" sz="900" dirty="0"/>
          </a:p>
        </p:txBody>
      </p:sp>
      <p:sp>
        <p:nvSpPr>
          <p:cNvPr id="16" name="Text 14"/>
          <p:cNvSpPr/>
          <p:nvPr/>
        </p:nvSpPr>
        <p:spPr>
          <a:xfrm>
            <a:off x="2057400" y="3090672"/>
            <a:ext cx="23317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Hover element → see its Playwright selector</a:t>
            </a:r>
            <a:endParaRPr lang="en-US" sz="900" dirty="0"/>
          </a:p>
        </p:txBody>
      </p:sp>
      <p:sp>
        <p:nvSpPr>
          <p:cNvPr id="17" name="Text 15"/>
          <p:cNvSpPr/>
          <p:nvPr/>
        </p:nvSpPr>
        <p:spPr>
          <a:xfrm>
            <a:off x="640080" y="3419856"/>
            <a:ext cx="14630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View traces: </a:t>
            </a:r>
            <a:endParaRPr lang="en-US" sz="900" dirty="0"/>
          </a:p>
        </p:txBody>
      </p:sp>
      <p:sp>
        <p:nvSpPr>
          <p:cNvPr id="18" name="Text 16"/>
          <p:cNvSpPr/>
          <p:nvPr/>
        </p:nvSpPr>
        <p:spPr>
          <a:xfrm>
            <a:off x="2057400" y="3419856"/>
            <a:ext cx="23317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Full execution history in sidebar</a:t>
            </a:r>
            <a:endParaRPr lang="en-US" sz="900" dirty="0"/>
          </a:p>
        </p:txBody>
      </p:sp>
      <p:sp>
        <p:nvSpPr>
          <p:cNvPr id="19" name="Text 17"/>
          <p:cNvSpPr/>
          <p:nvPr/>
        </p:nvSpPr>
        <p:spPr>
          <a:xfrm>
            <a:off x="640080" y="3749040"/>
            <a:ext cx="146304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Watch mode: </a:t>
            </a:r>
            <a:endParaRPr lang="en-US" sz="900" dirty="0"/>
          </a:p>
        </p:txBody>
      </p:sp>
      <p:sp>
        <p:nvSpPr>
          <p:cNvPr id="20" name="Text 18"/>
          <p:cNvSpPr/>
          <p:nvPr/>
        </p:nvSpPr>
        <p:spPr>
          <a:xfrm>
            <a:off x="2057400" y="3749040"/>
            <a:ext cx="23317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Tests re-run automatically as you edit</a:t>
            </a:r>
            <a:endParaRPr lang="en-US" sz="900" dirty="0"/>
          </a:p>
        </p:txBody>
      </p:sp>
      <p:sp>
        <p:nvSpPr>
          <p:cNvPr id="21" name="Shape 19"/>
          <p:cNvSpPr/>
          <p:nvPr/>
        </p:nvSpPr>
        <p:spPr>
          <a:xfrm>
            <a:off x="4754880" y="1298448"/>
            <a:ext cx="3931920" cy="2377440"/>
          </a:xfrm>
          <a:prstGeom prst="roundRect">
            <a:avLst>
              <a:gd name="adj" fmla="val 3846"/>
            </a:avLst>
          </a:prstGeom>
          <a:solidFill>
            <a:srgbClr val="0D1F35"/>
          </a:solidFill>
          <a:ln/>
        </p:spPr>
      </p:sp>
      <p:sp>
        <p:nvSpPr>
          <p:cNvPr id="22" name="Text 20"/>
          <p:cNvSpPr/>
          <p:nvPr/>
        </p:nvSpPr>
        <p:spPr>
          <a:xfrm>
            <a:off x="4937760" y="1417320"/>
            <a:ext cx="3566160" cy="347472"/>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Explore These Features</a:t>
            </a:r>
            <a:endParaRPr lang="en-US" sz="1300" dirty="0"/>
          </a:p>
        </p:txBody>
      </p:sp>
      <p:sp>
        <p:nvSpPr>
          <p:cNvPr id="23" name="Text 21"/>
          <p:cNvSpPr/>
          <p:nvPr/>
        </p:nvSpPr>
        <p:spPr>
          <a:xfrm>
            <a:off x="4937760" y="1783080"/>
            <a:ext cx="3566160" cy="256032"/>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All available at playwright.dev</a:t>
            </a:r>
            <a:endParaRPr lang="en-US" sz="900" dirty="0"/>
          </a:p>
        </p:txBody>
      </p:sp>
      <p:sp>
        <p:nvSpPr>
          <p:cNvPr id="24" name="Text 22"/>
          <p:cNvSpPr/>
          <p:nvPr/>
        </p:nvSpPr>
        <p:spPr>
          <a:xfrm>
            <a:off x="4937760" y="2103120"/>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API Testing: </a:t>
            </a:r>
            <a:endParaRPr lang="en-US" sz="900" dirty="0"/>
          </a:p>
        </p:txBody>
      </p:sp>
      <p:sp>
        <p:nvSpPr>
          <p:cNvPr id="25" name="Text 23"/>
          <p:cNvSpPr/>
          <p:nvPr/>
        </p:nvSpPr>
        <p:spPr>
          <a:xfrm>
            <a:off x="6656832" y="2103120"/>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Test REST APIs in same framework</a:t>
            </a:r>
            <a:endParaRPr lang="en-US" sz="900" dirty="0"/>
          </a:p>
        </p:txBody>
      </p:sp>
      <p:sp>
        <p:nvSpPr>
          <p:cNvPr id="26" name="Text 24"/>
          <p:cNvSpPr/>
          <p:nvPr/>
        </p:nvSpPr>
        <p:spPr>
          <a:xfrm>
            <a:off x="4937760" y="2432304"/>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Network Mocking: </a:t>
            </a:r>
            <a:endParaRPr lang="en-US" sz="900" dirty="0"/>
          </a:p>
        </p:txBody>
      </p:sp>
      <p:sp>
        <p:nvSpPr>
          <p:cNvPr id="27" name="Text 25"/>
          <p:cNvSpPr/>
          <p:nvPr/>
        </p:nvSpPr>
        <p:spPr>
          <a:xfrm>
            <a:off x="6656832" y="2432304"/>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Intercept and mock any HTTP request</a:t>
            </a:r>
            <a:endParaRPr lang="en-US" sz="900" dirty="0"/>
          </a:p>
        </p:txBody>
      </p:sp>
      <p:sp>
        <p:nvSpPr>
          <p:cNvPr id="28" name="Text 26"/>
          <p:cNvSpPr/>
          <p:nvPr/>
        </p:nvSpPr>
        <p:spPr>
          <a:xfrm>
            <a:off x="4937760" y="2761488"/>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Mobile Emulation: </a:t>
            </a:r>
            <a:endParaRPr lang="en-US" sz="900" dirty="0"/>
          </a:p>
        </p:txBody>
      </p:sp>
      <p:sp>
        <p:nvSpPr>
          <p:cNvPr id="29" name="Text 27"/>
          <p:cNvSpPr/>
          <p:nvPr/>
        </p:nvSpPr>
        <p:spPr>
          <a:xfrm>
            <a:off x="6656832" y="2761488"/>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Test on iPhone, Android viewport</a:t>
            </a:r>
            <a:endParaRPr lang="en-US" sz="900" dirty="0"/>
          </a:p>
        </p:txBody>
      </p:sp>
      <p:sp>
        <p:nvSpPr>
          <p:cNvPr id="30" name="Text 28"/>
          <p:cNvSpPr/>
          <p:nvPr/>
        </p:nvSpPr>
        <p:spPr>
          <a:xfrm>
            <a:off x="4937760" y="3090672"/>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Accessibility: </a:t>
            </a:r>
            <a:endParaRPr lang="en-US" sz="900" dirty="0"/>
          </a:p>
        </p:txBody>
      </p:sp>
      <p:sp>
        <p:nvSpPr>
          <p:cNvPr id="31" name="Text 29"/>
          <p:cNvSpPr/>
          <p:nvPr/>
        </p:nvSpPr>
        <p:spPr>
          <a:xfrm>
            <a:off x="6656832" y="3090672"/>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Built-in ARIA/accessibility checks</a:t>
            </a:r>
            <a:endParaRPr lang="en-US" sz="900" dirty="0"/>
          </a:p>
        </p:txBody>
      </p:sp>
      <p:sp>
        <p:nvSpPr>
          <p:cNvPr id="32" name="Text 30"/>
          <p:cNvSpPr/>
          <p:nvPr/>
        </p:nvSpPr>
        <p:spPr>
          <a:xfrm>
            <a:off x="4937760" y="3419856"/>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Visual Comparison: </a:t>
            </a:r>
            <a:endParaRPr lang="en-US" sz="900" dirty="0"/>
          </a:p>
        </p:txBody>
      </p:sp>
      <p:sp>
        <p:nvSpPr>
          <p:cNvPr id="33" name="Text 31"/>
          <p:cNvSpPr/>
          <p:nvPr/>
        </p:nvSpPr>
        <p:spPr>
          <a:xfrm>
            <a:off x="6656832" y="3419856"/>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Screenshot diff testing</a:t>
            </a:r>
            <a:endParaRPr lang="en-US" sz="900" dirty="0"/>
          </a:p>
        </p:txBody>
      </p:sp>
      <p:sp>
        <p:nvSpPr>
          <p:cNvPr id="34" name="Text 32"/>
          <p:cNvSpPr/>
          <p:nvPr/>
        </p:nvSpPr>
        <p:spPr>
          <a:xfrm>
            <a:off x="4937760" y="3749040"/>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Video Recording: </a:t>
            </a:r>
            <a:endParaRPr lang="en-US" sz="900" dirty="0"/>
          </a:p>
        </p:txBody>
      </p:sp>
      <p:sp>
        <p:nvSpPr>
          <p:cNvPr id="35" name="Text 33"/>
          <p:cNvSpPr/>
          <p:nvPr/>
        </p:nvSpPr>
        <p:spPr>
          <a:xfrm>
            <a:off x="6656832" y="3749040"/>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Record every test as video</a:t>
            </a:r>
            <a:endParaRPr lang="en-US" sz="900" dirty="0"/>
          </a:p>
        </p:txBody>
      </p:sp>
      <p:sp>
        <p:nvSpPr>
          <p:cNvPr id="36" name="Text 34"/>
          <p:cNvSpPr/>
          <p:nvPr/>
        </p:nvSpPr>
        <p:spPr>
          <a:xfrm>
            <a:off x="4937760" y="4078224"/>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Snapshot Testing: </a:t>
            </a:r>
            <a:endParaRPr lang="en-US" sz="900" dirty="0"/>
          </a:p>
        </p:txBody>
      </p:sp>
      <p:sp>
        <p:nvSpPr>
          <p:cNvPr id="37" name="Text 35"/>
          <p:cNvSpPr/>
          <p:nvPr/>
        </p:nvSpPr>
        <p:spPr>
          <a:xfrm>
            <a:off x="6656832" y="4078224"/>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ARIA accessibility tree snapshots</a:t>
            </a:r>
            <a:endParaRPr lang="en-US" sz="900" dirty="0"/>
          </a:p>
        </p:txBody>
      </p:sp>
      <p:sp>
        <p:nvSpPr>
          <p:cNvPr id="38" name="Text 36"/>
          <p:cNvSpPr/>
          <p:nvPr/>
        </p:nvSpPr>
        <p:spPr>
          <a:xfrm>
            <a:off x="4937760" y="4407408"/>
            <a:ext cx="1737360"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 Auth State Reuse: </a:t>
            </a:r>
            <a:endParaRPr lang="en-US" sz="900" dirty="0"/>
          </a:p>
        </p:txBody>
      </p:sp>
      <p:sp>
        <p:nvSpPr>
          <p:cNvPr id="39" name="Text 37"/>
          <p:cNvSpPr/>
          <p:nvPr/>
        </p:nvSpPr>
        <p:spPr>
          <a:xfrm>
            <a:off x="6656832" y="4407408"/>
            <a:ext cx="1874520" cy="274320"/>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Login once — reuse across all tests</a:t>
            </a:r>
            <a:endParaRPr lang="en-US" sz="900" dirty="0"/>
          </a:p>
        </p:txBody>
      </p:sp>
      <p:sp>
        <p:nvSpPr>
          <p:cNvPr id="40" name="Shape 38"/>
          <p:cNvSpPr/>
          <p:nvPr/>
        </p:nvSpPr>
        <p:spPr>
          <a:xfrm>
            <a:off x="457200" y="3822192"/>
            <a:ext cx="8229600" cy="777240"/>
          </a:xfrm>
          <a:prstGeom prst="roundRect">
            <a:avLst>
              <a:gd name="adj" fmla="val 9412"/>
            </a:avLst>
          </a:prstGeom>
          <a:solidFill>
            <a:srgbClr val="0D1F35"/>
          </a:solidFill>
          <a:ln/>
        </p:spPr>
      </p:sp>
      <p:sp>
        <p:nvSpPr>
          <p:cNvPr id="41" name="Text 39"/>
          <p:cNvSpPr/>
          <p:nvPr/>
        </p:nvSpPr>
        <p:spPr>
          <a:xfrm>
            <a:off x="640080" y="3913632"/>
            <a:ext cx="3657600" cy="292608"/>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  Start here:  playwright.dev</a:t>
            </a:r>
            <a:endParaRPr lang="en-US" sz="1100" dirty="0"/>
          </a:p>
        </p:txBody>
      </p:sp>
      <p:sp>
        <p:nvSpPr>
          <p:cNvPr id="42" name="Text 40"/>
          <p:cNvSpPr/>
          <p:nvPr/>
        </p:nvSpPr>
        <p:spPr>
          <a:xfrm>
            <a:off x="640080" y="4224528"/>
            <a:ext cx="5029200" cy="256032"/>
          </a:xfrm>
          <a:prstGeom prst="rect">
            <a:avLst/>
          </a:prstGeom>
          <a:noFill/>
          <a:ln/>
        </p:spPr>
        <p:txBody>
          <a:bodyPr wrap="square" lIns="0" tIns="0" rIns="0" bIns="0" rtlCol="0" anchor="ctr"/>
          <a:lstStyle/>
          <a:p>
            <a:pPr marL="0" indent="0">
              <a:buNone/>
            </a:pPr>
            <a:r>
              <a:rPr lang="en-US" sz="950" dirty="0">
                <a:solidFill>
                  <a:srgbClr val="22C55E"/>
                </a:solidFill>
                <a:latin typeface="Courier New" pitchFamily="34" charset="0"/>
                <a:ea typeface="Courier New" pitchFamily="34" charset="-122"/>
                <a:cs typeface="Courier New" pitchFamily="34" charset="-120"/>
              </a:rPr>
              <a:t>📦  Python:  pip install playwright  →  playwright install chromium</a:t>
            </a:r>
            <a:endParaRPr lang="en-US" sz="950" dirty="0"/>
          </a:p>
        </p:txBody>
      </p:sp>
      <p:sp>
        <p:nvSpPr>
          <p:cNvPr id="43" name="Text 41"/>
          <p:cNvSpPr/>
          <p:nvPr/>
        </p:nvSpPr>
        <p:spPr>
          <a:xfrm>
            <a:off x="5029200" y="4041648"/>
            <a:ext cx="3474720" cy="457200"/>
          </a:xfrm>
          <a:prstGeom prst="rect">
            <a:avLst/>
          </a:prstGeom>
          <a:noFill/>
          <a:ln/>
        </p:spPr>
        <p:txBody>
          <a:bodyPr wrap="square" lIns="0" tIns="0" rIns="0" bIns="0" rtlCol="0" anchor="ctr"/>
          <a:lstStyle/>
          <a:p>
            <a:pPr marL="0" indent="0" algn="r">
              <a:buNone/>
            </a:pPr>
            <a:r>
              <a:rPr lang="en-US" sz="900" i="1" dirty="0">
                <a:solidFill>
                  <a:srgbClr val="CBD5E1"/>
                </a:solidFill>
                <a:latin typeface="Calibri" pitchFamily="34" charset="0"/>
                <a:ea typeface="Calibri" pitchFamily="34" charset="-122"/>
                <a:cs typeface="Calibri" pitchFamily="34" charset="-120"/>
              </a:rPr>
              <a:t>⭐  90,000+ GitHub stars  ·  Microsoft backed  ·  Free forever</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CORE FEATURES</a:t>
            </a:r>
            <a:endParaRPr lang="en-US" sz="10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What Playwright Does — Feature by Feature</a:t>
            </a:r>
            <a:endParaRPr lang="en-US" sz="2200" dirty="0"/>
          </a:p>
        </p:txBody>
      </p:sp>
      <p:sp>
        <p:nvSpPr>
          <p:cNvPr id="5" name="Shape 3"/>
          <p:cNvSpPr/>
          <p:nvPr/>
        </p:nvSpPr>
        <p:spPr>
          <a:xfrm>
            <a:off x="457200" y="1188720"/>
            <a:ext cx="8229600" cy="0"/>
          </a:xfrm>
          <a:prstGeom prst="line">
            <a:avLst/>
          </a:prstGeom>
          <a:noFill/>
          <a:ln w="19050">
            <a:solidFill>
              <a:srgbClr val="00B4D8"/>
            </a:solidFill>
            <a:prstDash val="solid"/>
          </a:ln>
        </p:spPr>
      </p:sp>
      <p:sp>
        <p:nvSpPr>
          <p:cNvPr id="6" name="Shape 4"/>
          <p:cNvSpPr/>
          <p:nvPr/>
        </p:nvSpPr>
        <p:spPr>
          <a:xfrm>
            <a:off x="457200" y="1298448"/>
            <a:ext cx="2651760" cy="1737360"/>
          </a:xfrm>
          <a:prstGeom prst="roundRect">
            <a:avLst>
              <a:gd name="adj" fmla="val 4211"/>
            </a:avLst>
          </a:prstGeom>
          <a:solidFill>
            <a:srgbClr val="FFFFFF"/>
          </a:solidFill>
          <a:ln/>
          <a:effectLst>
            <a:outerShdw blurRad="101600" dist="25400" dir="2700000" algn="bl" rotWithShape="0">
              <a:srgbClr val="000000">
                <a:alpha val="12000"/>
              </a:srgbClr>
            </a:outerShdw>
          </a:effectLst>
        </p:spPr>
      </p:sp>
      <p:sp>
        <p:nvSpPr>
          <p:cNvPr id="7" name="Shape 5"/>
          <p:cNvSpPr/>
          <p:nvPr/>
        </p:nvSpPr>
        <p:spPr>
          <a:xfrm>
            <a:off x="566928" y="1389888"/>
            <a:ext cx="420624" cy="384048"/>
          </a:xfrm>
          <a:prstGeom prst="roundRect">
            <a:avLst>
              <a:gd name="adj" fmla="val 11905"/>
            </a:avLst>
          </a:prstGeom>
          <a:solidFill>
            <a:srgbClr val="E0F2F1"/>
          </a:solidFill>
          <a:ln/>
        </p:spPr>
      </p:sp>
      <p:sp>
        <p:nvSpPr>
          <p:cNvPr id="8" name="Text 6"/>
          <p:cNvSpPr/>
          <p:nvPr/>
        </p:nvSpPr>
        <p:spPr>
          <a:xfrm>
            <a:off x="566928" y="1389888"/>
            <a:ext cx="420624" cy="384048"/>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060704" y="1389888"/>
            <a:ext cx="1938528" cy="347472"/>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Auto-Wait</a:t>
            </a:r>
            <a:endParaRPr lang="en-US" sz="1100" dirty="0"/>
          </a:p>
        </p:txBody>
      </p:sp>
      <p:sp>
        <p:nvSpPr>
          <p:cNvPr id="10" name="Text 8"/>
          <p:cNvSpPr/>
          <p:nvPr/>
        </p:nvSpPr>
        <p:spPr>
          <a:xfrm>
            <a:off x="566928" y="1801368"/>
            <a:ext cx="2432304" cy="1143000"/>
          </a:xfrm>
          <a:prstGeom prst="rect">
            <a:avLst/>
          </a:prstGeom>
          <a:noFill/>
          <a:ln/>
        </p:spPr>
        <p:txBody>
          <a:bodyPr wrap="square" lIns="0" tIns="0" rIns="0" bIns="0" rtlCol="0" anchor="ctr"/>
          <a:lstStyle/>
          <a:p>
            <a:pPr marL="0" indent="0">
              <a:buNone/>
            </a:pPr>
            <a:r>
              <a:rPr lang="en-US" sz="800" b="1" dirty="0">
                <a:solidFill>
                  <a:srgbClr val="6B7280"/>
                </a:solidFill>
                <a:latin typeface="Calibri" pitchFamily="34" charset="0"/>
                <a:ea typeface="Calibri" pitchFamily="34" charset="-122"/>
                <a:cs typeface="Calibri" pitchFamily="34" charset="-120"/>
              </a:rPr>
              <a:t>Checks before EVERY action:</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Visible — element on screen</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Stable — not animating</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Enabled — not disabled</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Receives Events — not covered</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No sleep() needed. Ever.</a:t>
            </a:r>
            <a:endParaRPr lang="en-US" sz="800" dirty="0"/>
          </a:p>
        </p:txBody>
      </p:sp>
      <p:sp>
        <p:nvSpPr>
          <p:cNvPr id="11" name="Shape 9"/>
          <p:cNvSpPr/>
          <p:nvPr/>
        </p:nvSpPr>
        <p:spPr>
          <a:xfrm>
            <a:off x="3355848" y="1298448"/>
            <a:ext cx="2651760" cy="1737360"/>
          </a:xfrm>
          <a:prstGeom prst="roundRect">
            <a:avLst>
              <a:gd name="adj" fmla="val 4211"/>
            </a:avLst>
          </a:prstGeom>
          <a:solidFill>
            <a:srgbClr val="FFFFFF"/>
          </a:solidFill>
          <a:ln/>
          <a:effectLst>
            <a:outerShdw blurRad="101600" dist="25400" dir="2700000" algn="bl" rotWithShape="0">
              <a:srgbClr val="000000">
                <a:alpha val="12000"/>
              </a:srgbClr>
            </a:outerShdw>
          </a:effectLst>
        </p:spPr>
      </p:sp>
      <p:sp>
        <p:nvSpPr>
          <p:cNvPr id="12" name="Shape 10"/>
          <p:cNvSpPr/>
          <p:nvPr/>
        </p:nvSpPr>
        <p:spPr>
          <a:xfrm>
            <a:off x="3465576" y="1389888"/>
            <a:ext cx="420624" cy="384048"/>
          </a:xfrm>
          <a:prstGeom prst="roundRect">
            <a:avLst>
              <a:gd name="adj" fmla="val 11905"/>
            </a:avLst>
          </a:prstGeom>
          <a:solidFill>
            <a:srgbClr val="F5F3FF"/>
          </a:solidFill>
          <a:ln/>
        </p:spPr>
      </p:sp>
      <p:sp>
        <p:nvSpPr>
          <p:cNvPr id="13" name="Text 11"/>
          <p:cNvSpPr/>
          <p:nvPr/>
        </p:nvSpPr>
        <p:spPr>
          <a:xfrm>
            <a:off x="3465576" y="1389888"/>
            <a:ext cx="420624" cy="384048"/>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3959352" y="1389888"/>
            <a:ext cx="1938528" cy="347472"/>
          </a:xfrm>
          <a:prstGeom prst="rect">
            <a:avLst/>
          </a:prstGeom>
          <a:noFill/>
          <a:ln/>
        </p:spPr>
        <p:txBody>
          <a:bodyPr wrap="square" lIns="0" tIns="0" rIns="0" bIns="0" rtlCol="0" anchor="ctr"/>
          <a:lstStyle/>
          <a:p>
            <a:pPr marL="0" indent="0">
              <a:buNone/>
            </a:pPr>
            <a:r>
              <a:rPr lang="en-US" sz="1100" b="1" dirty="0">
                <a:solidFill>
                  <a:srgbClr val="6D28D9"/>
                </a:solidFill>
                <a:latin typeface="Calibri" pitchFamily="34" charset="0"/>
                <a:ea typeface="Calibri" pitchFamily="34" charset="-122"/>
                <a:cs typeface="Calibri" pitchFamily="34" charset="-120"/>
              </a:rPr>
              <a:t>Smart Assertions</a:t>
            </a:r>
            <a:endParaRPr lang="en-US" sz="1100" dirty="0"/>
          </a:p>
        </p:txBody>
      </p:sp>
      <p:sp>
        <p:nvSpPr>
          <p:cNvPr id="15" name="Text 13"/>
          <p:cNvSpPr/>
          <p:nvPr/>
        </p:nvSpPr>
        <p:spPr>
          <a:xfrm>
            <a:off x="3465576" y="1801368"/>
            <a:ext cx="2432304" cy="1143000"/>
          </a:xfrm>
          <a:prstGeom prst="rect">
            <a:avLst/>
          </a:prstGeom>
          <a:noFill/>
          <a:ln/>
        </p:spPr>
        <p:txBody>
          <a:bodyPr wrap="square" lIns="0" tIns="0" rIns="0" bIns="0" rtlCol="0" anchor="ctr"/>
          <a:lstStyle/>
          <a:p>
            <a:pPr marL="0" indent="0">
              <a:buNone/>
            </a:pPr>
            <a:r>
              <a:rPr lang="en-US" sz="800" b="1" dirty="0">
                <a:solidFill>
                  <a:srgbClr val="6B7280"/>
                </a:solidFill>
                <a:latin typeface="Calibri" pitchFamily="34" charset="0"/>
                <a:ea typeface="Calibri" pitchFamily="34" charset="-122"/>
                <a:cs typeface="Calibri" pitchFamily="34" charset="-120"/>
              </a:rPr>
              <a:t>expect() auto-retries until true</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expect(locator).to_be_visible()</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expect(locator).to_have_text()</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expect(locator).to_have_count()</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expect(page).to_have_url()</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Retries for up to 5 seconds</a:t>
            </a:r>
            <a:endParaRPr lang="en-US" sz="800" dirty="0"/>
          </a:p>
        </p:txBody>
      </p:sp>
      <p:sp>
        <p:nvSpPr>
          <p:cNvPr id="16" name="Shape 14"/>
          <p:cNvSpPr/>
          <p:nvPr/>
        </p:nvSpPr>
        <p:spPr>
          <a:xfrm>
            <a:off x="6254496" y="1298448"/>
            <a:ext cx="2651760" cy="1737360"/>
          </a:xfrm>
          <a:prstGeom prst="roundRect">
            <a:avLst>
              <a:gd name="adj" fmla="val 4211"/>
            </a:avLst>
          </a:prstGeom>
          <a:solidFill>
            <a:srgbClr val="FFFFFF"/>
          </a:solidFill>
          <a:ln/>
          <a:effectLst>
            <a:outerShdw blurRad="101600" dist="25400" dir="2700000" algn="bl" rotWithShape="0">
              <a:srgbClr val="000000">
                <a:alpha val="12000"/>
              </a:srgbClr>
            </a:outerShdw>
          </a:effectLst>
        </p:spPr>
      </p:sp>
      <p:sp>
        <p:nvSpPr>
          <p:cNvPr id="17" name="Shape 15"/>
          <p:cNvSpPr/>
          <p:nvPr/>
        </p:nvSpPr>
        <p:spPr>
          <a:xfrm>
            <a:off x="6364224" y="1389888"/>
            <a:ext cx="420624" cy="384048"/>
          </a:xfrm>
          <a:prstGeom prst="roundRect">
            <a:avLst>
              <a:gd name="adj" fmla="val 11905"/>
            </a:avLst>
          </a:prstGeom>
          <a:solidFill>
            <a:srgbClr val="EFF6FF"/>
          </a:solidFill>
          <a:ln/>
        </p:spPr>
      </p:sp>
      <p:sp>
        <p:nvSpPr>
          <p:cNvPr id="18" name="Text 16"/>
          <p:cNvSpPr/>
          <p:nvPr/>
        </p:nvSpPr>
        <p:spPr>
          <a:xfrm>
            <a:off x="6364224" y="1389888"/>
            <a:ext cx="420624" cy="384048"/>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6858000" y="1389888"/>
            <a:ext cx="1938528" cy="347472"/>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Resilient Locators</a:t>
            </a:r>
            <a:endParaRPr lang="en-US" sz="1100" dirty="0"/>
          </a:p>
        </p:txBody>
      </p:sp>
      <p:sp>
        <p:nvSpPr>
          <p:cNvPr id="20" name="Text 18"/>
          <p:cNvSpPr/>
          <p:nvPr/>
        </p:nvSpPr>
        <p:spPr>
          <a:xfrm>
            <a:off x="6364224" y="1801368"/>
            <a:ext cx="2432304" cy="1143000"/>
          </a:xfrm>
          <a:prstGeom prst="rect">
            <a:avLst/>
          </a:prstGeom>
          <a:noFill/>
          <a:ln/>
        </p:spPr>
        <p:txBody>
          <a:bodyPr wrap="square" lIns="0" tIns="0" rIns="0" bIns="0" rtlCol="0" anchor="ctr"/>
          <a:lstStyle/>
          <a:p>
            <a:pPr marL="0" indent="0">
              <a:buNone/>
            </a:pPr>
            <a:r>
              <a:rPr lang="en-US" sz="800" b="1" dirty="0">
                <a:solidFill>
                  <a:srgbClr val="6B7280"/>
                </a:solidFill>
                <a:latin typeface="Calibri" pitchFamily="34" charset="0"/>
                <a:ea typeface="Calibri" pitchFamily="34" charset="-122"/>
                <a:cs typeface="Calibri" pitchFamily="34" charset="-120"/>
              </a:rPr>
              <a:t>get_by_role('button', name='Submit')</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get_by_label('Email address')</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get_by_placeholder('Search...')</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get_by_text('Confirm')</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get_by_test_id('submit-btn')</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Find like a human sees the page</a:t>
            </a:r>
            <a:endParaRPr lang="en-US" sz="800" dirty="0"/>
          </a:p>
        </p:txBody>
      </p:sp>
      <p:sp>
        <p:nvSpPr>
          <p:cNvPr id="21" name="Shape 19"/>
          <p:cNvSpPr/>
          <p:nvPr/>
        </p:nvSpPr>
        <p:spPr>
          <a:xfrm>
            <a:off x="457200" y="3200400"/>
            <a:ext cx="2651760" cy="1737360"/>
          </a:xfrm>
          <a:prstGeom prst="roundRect">
            <a:avLst>
              <a:gd name="adj" fmla="val 4211"/>
            </a:avLst>
          </a:prstGeom>
          <a:solidFill>
            <a:srgbClr val="FFFFFF"/>
          </a:solidFill>
          <a:ln/>
          <a:effectLst>
            <a:outerShdw blurRad="101600" dist="25400" dir="2700000" algn="bl" rotWithShape="0">
              <a:srgbClr val="000000">
                <a:alpha val="12000"/>
              </a:srgbClr>
            </a:outerShdw>
          </a:effectLst>
        </p:spPr>
      </p:sp>
      <p:sp>
        <p:nvSpPr>
          <p:cNvPr id="22" name="Shape 20"/>
          <p:cNvSpPr/>
          <p:nvPr/>
        </p:nvSpPr>
        <p:spPr>
          <a:xfrm>
            <a:off x="566928" y="3291840"/>
            <a:ext cx="420624" cy="384048"/>
          </a:xfrm>
          <a:prstGeom prst="roundRect">
            <a:avLst>
              <a:gd name="adj" fmla="val 11905"/>
            </a:avLst>
          </a:prstGeom>
          <a:solidFill>
            <a:srgbClr val="FFF7ED"/>
          </a:solidFill>
          <a:ln/>
        </p:spPr>
      </p:sp>
      <p:sp>
        <p:nvSpPr>
          <p:cNvPr id="23" name="Text 21"/>
          <p:cNvSpPr/>
          <p:nvPr/>
        </p:nvSpPr>
        <p:spPr>
          <a:xfrm>
            <a:off x="566928" y="3291840"/>
            <a:ext cx="420624" cy="384048"/>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1060704" y="3291840"/>
            <a:ext cx="1938528" cy="347472"/>
          </a:xfrm>
          <a:prstGeom prst="rect">
            <a:avLst/>
          </a:prstGeom>
          <a:noFill/>
          <a:ln/>
        </p:spPr>
        <p:txBody>
          <a:bodyPr wrap="square" lIns="0" tIns="0" rIns="0" bIns="0" rtlCol="0" anchor="ctr"/>
          <a:lstStyle/>
          <a:p>
            <a:pPr marL="0" indent="0">
              <a:buNone/>
            </a:pPr>
            <a:r>
              <a:rPr lang="en-US" sz="1100" b="1" dirty="0">
                <a:solidFill>
                  <a:srgbClr val="B45309"/>
                </a:solidFill>
                <a:latin typeface="Calibri" pitchFamily="34" charset="0"/>
                <a:ea typeface="Calibri" pitchFamily="34" charset="-122"/>
                <a:cs typeface="Calibri" pitchFamily="34" charset="-120"/>
              </a:rPr>
              <a:t>Test Isolation</a:t>
            </a:r>
            <a:endParaRPr lang="en-US" sz="1100" dirty="0"/>
          </a:p>
        </p:txBody>
      </p:sp>
      <p:sp>
        <p:nvSpPr>
          <p:cNvPr id="25" name="Text 23"/>
          <p:cNvSpPr/>
          <p:nvPr/>
        </p:nvSpPr>
        <p:spPr>
          <a:xfrm>
            <a:off x="566928" y="3703320"/>
            <a:ext cx="2432304" cy="1143000"/>
          </a:xfrm>
          <a:prstGeom prst="rect">
            <a:avLst/>
          </a:prstGeom>
          <a:noFill/>
          <a:ln/>
        </p:spPr>
        <p:txBody>
          <a:bodyPr wrap="square" lIns="0" tIns="0" rIns="0" bIns="0" rtlCol="0" anchor="ctr"/>
          <a:lstStyle/>
          <a:p>
            <a:pPr marL="0" indent="0">
              <a:buNone/>
            </a:pPr>
            <a:r>
              <a:rPr lang="en-US" sz="800" b="1" dirty="0">
                <a:solidFill>
                  <a:srgbClr val="6B7280"/>
                </a:solidFill>
                <a:latin typeface="Calibri" pitchFamily="34" charset="0"/>
                <a:ea typeface="Calibri" pitchFamily="34" charset="-122"/>
                <a:cs typeface="Calibri" pitchFamily="34" charset="-120"/>
              </a:rPr>
              <a:t>Each test: fresh browser context</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Like new incognito window</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Cookies, cache, storage cleared</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Zero state leak between tests</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Auth state: save once, reuse all</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Near-zero overhead</a:t>
            </a:r>
            <a:endParaRPr lang="en-US" sz="800" dirty="0"/>
          </a:p>
        </p:txBody>
      </p:sp>
      <p:sp>
        <p:nvSpPr>
          <p:cNvPr id="26" name="Shape 24"/>
          <p:cNvSpPr/>
          <p:nvPr/>
        </p:nvSpPr>
        <p:spPr>
          <a:xfrm>
            <a:off x="3355848" y="3200400"/>
            <a:ext cx="2651760" cy="1737360"/>
          </a:xfrm>
          <a:prstGeom prst="roundRect">
            <a:avLst>
              <a:gd name="adj" fmla="val 4211"/>
            </a:avLst>
          </a:prstGeom>
          <a:solidFill>
            <a:srgbClr val="FFFFFF"/>
          </a:solidFill>
          <a:ln/>
          <a:effectLst>
            <a:outerShdw blurRad="101600" dist="25400" dir="2700000" algn="bl" rotWithShape="0">
              <a:srgbClr val="000000">
                <a:alpha val="12000"/>
              </a:srgbClr>
            </a:outerShdw>
          </a:effectLst>
        </p:spPr>
      </p:sp>
      <p:sp>
        <p:nvSpPr>
          <p:cNvPr id="27" name="Shape 25"/>
          <p:cNvSpPr/>
          <p:nvPr/>
        </p:nvSpPr>
        <p:spPr>
          <a:xfrm>
            <a:off x="3465576" y="3291840"/>
            <a:ext cx="420624" cy="384048"/>
          </a:xfrm>
          <a:prstGeom prst="roundRect">
            <a:avLst>
              <a:gd name="adj" fmla="val 11905"/>
            </a:avLst>
          </a:prstGeom>
          <a:solidFill>
            <a:srgbClr val="F0FDF4"/>
          </a:solidFill>
          <a:ln/>
        </p:spPr>
      </p:sp>
      <p:sp>
        <p:nvSpPr>
          <p:cNvPr id="28" name="Text 26"/>
          <p:cNvSpPr/>
          <p:nvPr/>
        </p:nvSpPr>
        <p:spPr>
          <a:xfrm>
            <a:off x="3465576" y="3291840"/>
            <a:ext cx="420624" cy="384048"/>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3959352" y="3291840"/>
            <a:ext cx="1938528" cy="34747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Network Control</a:t>
            </a:r>
            <a:endParaRPr lang="en-US" sz="1100" dirty="0"/>
          </a:p>
        </p:txBody>
      </p:sp>
      <p:sp>
        <p:nvSpPr>
          <p:cNvPr id="30" name="Text 28"/>
          <p:cNvSpPr/>
          <p:nvPr/>
        </p:nvSpPr>
        <p:spPr>
          <a:xfrm>
            <a:off x="3465576" y="3703320"/>
            <a:ext cx="2432304" cy="1143000"/>
          </a:xfrm>
          <a:prstGeom prst="rect">
            <a:avLst/>
          </a:prstGeom>
          <a:noFill/>
          <a:ln/>
        </p:spPr>
        <p:txBody>
          <a:bodyPr wrap="square" lIns="0" tIns="0" rIns="0" bIns="0" rtlCol="0" anchor="ctr"/>
          <a:lstStyle/>
          <a:p>
            <a:pPr marL="0" indent="0">
              <a:buNone/>
            </a:pPr>
            <a:r>
              <a:rPr lang="en-US" sz="800" b="1" dirty="0">
                <a:solidFill>
                  <a:srgbClr val="6B7280"/>
                </a:solidFill>
                <a:latin typeface="Calibri" pitchFamily="34" charset="0"/>
                <a:ea typeface="Calibri" pitchFamily="34" charset="-122"/>
                <a:cs typeface="Calibri" pitchFamily="34" charset="-120"/>
              </a:rPr>
              <a:t>Intercept any HTTP request</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Return mock responses</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Test error scenarios easily</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Block specific URLs</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Modify request/response headers</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API testing built in</a:t>
            </a:r>
            <a:endParaRPr lang="en-US" sz="800" dirty="0"/>
          </a:p>
        </p:txBody>
      </p:sp>
      <p:sp>
        <p:nvSpPr>
          <p:cNvPr id="31" name="Shape 29"/>
          <p:cNvSpPr/>
          <p:nvPr/>
        </p:nvSpPr>
        <p:spPr>
          <a:xfrm>
            <a:off x="6254496" y="3200400"/>
            <a:ext cx="2651760" cy="1737360"/>
          </a:xfrm>
          <a:prstGeom prst="roundRect">
            <a:avLst>
              <a:gd name="adj" fmla="val 4211"/>
            </a:avLst>
          </a:prstGeom>
          <a:solidFill>
            <a:srgbClr val="FFFFFF"/>
          </a:solidFill>
          <a:ln/>
          <a:effectLst>
            <a:outerShdw blurRad="101600" dist="25400" dir="2700000" algn="bl" rotWithShape="0">
              <a:srgbClr val="000000">
                <a:alpha val="12000"/>
              </a:srgbClr>
            </a:outerShdw>
          </a:effectLst>
        </p:spPr>
      </p:sp>
      <p:sp>
        <p:nvSpPr>
          <p:cNvPr id="32" name="Shape 30"/>
          <p:cNvSpPr/>
          <p:nvPr/>
        </p:nvSpPr>
        <p:spPr>
          <a:xfrm>
            <a:off x="6364224" y="3291840"/>
            <a:ext cx="420624" cy="384048"/>
          </a:xfrm>
          <a:prstGeom prst="roundRect">
            <a:avLst>
              <a:gd name="adj" fmla="val 11905"/>
            </a:avLst>
          </a:prstGeom>
          <a:solidFill>
            <a:srgbClr val="FAF5FF"/>
          </a:solidFill>
          <a:ln/>
        </p:spPr>
      </p:sp>
      <p:sp>
        <p:nvSpPr>
          <p:cNvPr id="33" name="Text 31"/>
          <p:cNvSpPr/>
          <p:nvPr/>
        </p:nvSpPr>
        <p:spPr>
          <a:xfrm>
            <a:off x="6364224" y="3291840"/>
            <a:ext cx="420624" cy="384048"/>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6858000" y="3291840"/>
            <a:ext cx="1938528" cy="34747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Emulation</a:t>
            </a:r>
            <a:endParaRPr lang="en-US" sz="1100" dirty="0"/>
          </a:p>
        </p:txBody>
      </p:sp>
      <p:sp>
        <p:nvSpPr>
          <p:cNvPr id="35" name="Text 33"/>
          <p:cNvSpPr/>
          <p:nvPr/>
        </p:nvSpPr>
        <p:spPr>
          <a:xfrm>
            <a:off x="6364224" y="3703320"/>
            <a:ext cx="2432304" cy="1143000"/>
          </a:xfrm>
          <a:prstGeom prst="rect">
            <a:avLst/>
          </a:prstGeom>
          <a:noFill/>
          <a:ln/>
        </p:spPr>
        <p:txBody>
          <a:bodyPr wrap="square" lIns="0" tIns="0" rIns="0" bIns="0" rtlCol="0" anchor="ctr"/>
          <a:lstStyle/>
          <a:p>
            <a:pPr marL="0" indent="0">
              <a:buNone/>
            </a:pPr>
            <a:r>
              <a:rPr lang="en-US" sz="800" b="1" dirty="0">
                <a:solidFill>
                  <a:srgbClr val="6B7280"/>
                </a:solidFill>
                <a:latin typeface="Calibri" pitchFamily="34" charset="0"/>
                <a:ea typeface="Calibri" pitchFamily="34" charset="-122"/>
                <a:cs typeface="Calibri" pitchFamily="34" charset="-120"/>
              </a:rPr>
              <a:t>Mobile devices — iPhone, Android</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Custom viewport sizes</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Geolocation mocking</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Timezone override</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Dark/light mode</a:t>
            </a:r>
            <a:endParaRPr lang="en-US" sz="800" dirty="0"/>
          </a:p>
          <a:p>
            <a:pPr marL="0" indent="0">
              <a:buNone/>
            </a:pPr>
            <a:r>
              <a:rPr lang="en-US" sz="800" dirty="0">
                <a:solidFill>
                  <a:srgbClr val="2D3748"/>
                </a:solidFill>
                <a:latin typeface="Calibri" pitchFamily="34" charset="0"/>
                <a:ea typeface="Calibri" pitchFamily="34" charset="-122"/>
                <a:cs typeface="Calibri" pitchFamily="34" charset="-120"/>
              </a:rPr>
              <a:t>▸  Offline mode simulation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457200" y="137160"/>
            <a:ext cx="2011680" cy="347472"/>
          </a:xfrm>
          <a:prstGeom prst="roundRect">
            <a:avLst>
              <a:gd name="adj" fmla="val 13158"/>
            </a:avLst>
          </a:prstGeom>
          <a:solidFill>
            <a:srgbClr val="00B4D8"/>
          </a:solidFill>
          <a:ln/>
        </p:spPr>
      </p:sp>
      <p:sp>
        <p:nvSpPr>
          <p:cNvPr id="3" name="Text 1"/>
          <p:cNvSpPr/>
          <p:nvPr/>
        </p:nvSpPr>
        <p:spPr>
          <a:xfrm>
            <a:off x="457200" y="137160"/>
            <a:ext cx="20116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TOOLING + PRODUCTS</a:t>
            </a:r>
            <a:endParaRPr lang="en-US" sz="1000" dirty="0"/>
          </a:p>
        </p:txBody>
      </p:sp>
      <p:sp>
        <p:nvSpPr>
          <p:cNvPr id="4" name="Text 2"/>
          <p:cNvSpPr/>
          <p:nvPr/>
        </p:nvSpPr>
        <p:spPr>
          <a:xfrm>
            <a:off x="457200" y="621792"/>
            <a:ext cx="82296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Powerful Tooling + The 3 Playwright Products</a:t>
            </a:r>
            <a:endParaRPr lang="en-US" sz="2000" dirty="0"/>
          </a:p>
        </p:txBody>
      </p:sp>
      <p:sp>
        <p:nvSpPr>
          <p:cNvPr id="5" name="Shape 3"/>
          <p:cNvSpPr/>
          <p:nvPr/>
        </p:nvSpPr>
        <p:spPr>
          <a:xfrm>
            <a:off x="457200" y="1188720"/>
            <a:ext cx="8229600" cy="0"/>
          </a:xfrm>
          <a:prstGeom prst="line">
            <a:avLst/>
          </a:prstGeom>
          <a:noFill/>
          <a:ln w="19050">
            <a:solidFill>
              <a:srgbClr val="00B4D8"/>
            </a:solidFill>
            <a:prstDash val="solid"/>
          </a:ln>
        </p:spPr>
      </p:sp>
      <p:sp>
        <p:nvSpPr>
          <p:cNvPr id="6" name="Shape 4"/>
          <p:cNvSpPr/>
          <p:nvPr/>
        </p:nvSpPr>
        <p:spPr>
          <a:xfrm>
            <a:off x="457200" y="1298448"/>
            <a:ext cx="1554480" cy="1481328"/>
          </a:xfrm>
          <a:prstGeom prst="roundRect">
            <a:avLst>
              <a:gd name="adj" fmla="val 4938"/>
            </a:avLst>
          </a:prstGeom>
          <a:solidFill>
            <a:srgbClr val="0D1F35"/>
          </a:solidFill>
          <a:ln/>
        </p:spPr>
      </p:sp>
      <p:sp>
        <p:nvSpPr>
          <p:cNvPr id="7" name="Text 5"/>
          <p:cNvSpPr/>
          <p:nvPr/>
        </p:nvSpPr>
        <p:spPr>
          <a:xfrm>
            <a:off x="457200" y="1371600"/>
            <a:ext cx="1554480" cy="384048"/>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530352" y="1783080"/>
            <a:ext cx="1408176"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Test Generator</a:t>
            </a:r>
            <a:endParaRPr lang="en-US" sz="900" dirty="0"/>
          </a:p>
        </p:txBody>
      </p:sp>
      <p:sp>
        <p:nvSpPr>
          <p:cNvPr id="9" name="Text 7"/>
          <p:cNvSpPr/>
          <p:nvPr/>
        </p:nvSpPr>
        <p:spPr>
          <a:xfrm>
            <a:off x="530352" y="2075688"/>
            <a:ext cx="1408176" cy="475488"/>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Click in browser → code auto-generated. Zero coding to start.</a:t>
            </a:r>
            <a:endParaRPr lang="en-US" sz="750" dirty="0"/>
          </a:p>
        </p:txBody>
      </p:sp>
      <p:sp>
        <p:nvSpPr>
          <p:cNvPr id="10" name="Text 8"/>
          <p:cNvSpPr/>
          <p:nvPr/>
        </p:nvSpPr>
        <p:spPr>
          <a:xfrm>
            <a:off x="512064" y="2596896"/>
            <a:ext cx="1444752" cy="164592"/>
          </a:xfrm>
          <a:prstGeom prst="rect">
            <a:avLst/>
          </a:prstGeom>
          <a:noFill/>
          <a:ln/>
        </p:spPr>
        <p:txBody>
          <a:bodyPr wrap="square" lIns="0" tIns="0" rIns="0" bIns="0" rtlCol="0" anchor="ctr"/>
          <a:lstStyle/>
          <a:p>
            <a:pPr marL="0" indent="0" algn="ctr">
              <a:buNone/>
            </a:pPr>
            <a:r>
              <a:rPr lang="en-US" sz="650" dirty="0">
                <a:solidFill>
                  <a:srgbClr val="22C55E"/>
                </a:solidFill>
                <a:latin typeface="Courier New" pitchFamily="34" charset="0"/>
                <a:ea typeface="Courier New" pitchFamily="34" charset="-122"/>
                <a:cs typeface="Courier New" pitchFamily="34" charset="-120"/>
              </a:rPr>
              <a:t>playwright codegen https://yoursite.com</a:t>
            </a:r>
            <a:endParaRPr lang="en-US" sz="650" dirty="0"/>
          </a:p>
        </p:txBody>
      </p:sp>
      <p:sp>
        <p:nvSpPr>
          <p:cNvPr id="11" name="Shape 9"/>
          <p:cNvSpPr/>
          <p:nvPr/>
        </p:nvSpPr>
        <p:spPr>
          <a:xfrm>
            <a:off x="2121408" y="1298448"/>
            <a:ext cx="1554480" cy="1481328"/>
          </a:xfrm>
          <a:prstGeom prst="roundRect">
            <a:avLst>
              <a:gd name="adj" fmla="val 4938"/>
            </a:avLst>
          </a:prstGeom>
          <a:solidFill>
            <a:srgbClr val="0D1F35"/>
          </a:solidFill>
          <a:ln/>
        </p:spPr>
      </p:sp>
      <p:sp>
        <p:nvSpPr>
          <p:cNvPr id="12" name="Text 10"/>
          <p:cNvSpPr/>
          <p:nvPr/>
        </p:nvSpPr>
        <p:spPr>
          <a:xfrm>
            <a:off x="2121408" y="1371600"/>
            <a:ext cx="1554480" cy="384048"/>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2194560" y="1783080"/>
            <a:ext cx="1408176"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Trace Viewer</a:t>
            </a:r>
            <a:endParaRPr lang="en-US" sz="900" dirty="0"/>
          </a:p>
        </p:txBody>
      </p:sp>
      <p:sp>
        <p:nvSpPr>
          <p:cNvPr id="14" name="Text 12"/>
          <p:cNvSpPr/>
          <p:nvPr/>
        </p:nvSpPr>
        <p:spPr>
          <a:xfrm>
            <a:off x="2194560" y="2075688"/>
            <a:ext cx="1408176" cy="475488"/>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Full timeline: DOM snapshots, network, console, screenshots per step.</a:t>
            </a:r>
            <a:endParaRPr lang="en-US" sz="750" dirty="0"/>
          </a:p>
        </p:txBody>
      </p:sp>
      <p:sp>
        <p:nvSpPr>
          <p:cNvPr id="15" name="Text 13"/>
          <p:cNvSpPr/>
          <p:nvPr/>
        </p:nvSpPr>
        <p:spPr>
          <a:xfrm>
            <a:off x="2176272" y="2596896"/>
            <a:ext cx="1444752" cy="164592"/>
          </a:xfrm>
          <a:prstGeom prst="rect">
            <a:avLst/>
          </a:prstGeom>
          <a:noFill/>
          <a:ln/>
        </p:spPr>
        <p:txBody>
          <a:bodyPr wrap="square" lIns="0" tIns="0" rIns="0" bIns="0" rtlCol="0" anchor="ctr"/>
          <a:lstStyle/>
          <a:p>
            <a:pPr marL="0" indent="0" algn="ctr">
              <a:buNone/>
            </a:pPr>
            <a:r>
              <a:rPr lang="en-US" sz="650" dirty="0">
                <a:solidFill>
                  <a:srgbClr val="22C55E"/>
                </a:solidFill>
                <a:latin typeface="Courier New" pitchFamily="34" charset="0"/>
                <a:ea typeface="Courier New" pitchFamily="34" charset="-122"/>
                <a:cs typeface="Courier New" pitchFamily="34" charset="-120"/>
              </a:rPr>
              <a:t>playwright show-trace trace.zip</a:t>
            </a:r>
            <a:endParaRPr lang="en-US" sz="650" dirty="0"/>
          </a:p>
        </p:txBody>
      </p:sp>
      <p:sp>
        <p:nvSpPr>
          <p:cNvPr id="16" name="Shape 14"/>
          <p:cNvSpPr/>
          <p:nvPr/>
        </p:nvSpPr>
        <p:spPr>
          <a:xfrm>
            <a:off x="3785616" y="1298448"/>
            <a:ext cx="1554480" cy="1481328"/>
          </a:xfrm>
          <a:prstGeom prst="roundRect">
            <a:avLst>
              <a:gd name="adj" fmla="val 4938"/>
            </a:avLst>
          </a:prstGeom>
          <a:solidFill>
            <a:srgbClr val="0D1F35"/>
          </a:solidFill>
          <a:ln/>
        </p:spPr>
      </p:sp>
      <p:sp>
        <p:nvSpPr>
          <p:cNvPr id="17" name="Text 15"/>
          <p:cNvSpPr/>
          <p:nvPr/>
        </p:nvSpPr>
        <p:spPr>
          <a:xfrm>
            <a:off x="3785616" y="1371600"/>
            <a:ext cx="1554480" cy="384048"/>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3858768" y="1783080"/>
            <a:ext cx="1408176"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HTML Reporter</a:t>
            </a:r>
            <a:endParaRPr lang="en-US" sz="900" dirty="0"/>
          </a:p>
        </p:txBody>
      </p:sp>
      <p:sp>
        <p:nvSpPr>
          <p:cNvPr id="19" name="Text 17"/>
          <p:cNvSpPr/>
          <p:nvPr/>
        </p:nvSpPr>
        <p:spPr>
          <a:xfrm>
            <a:off x="3858768" y="2075688"/>
            <a:ext cx="1408176" cy="475488"/>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Beautiful filterable report. Pass, fail, flaky, skipped per browser.</a:t>
            </a:r>
            <a:endParaRPr lang="en-US" sz="750" dirty="0"/>
          </a:p>
        </p:txBody>
      </p:sp>
      <p:sp>
        <p:nvSpPr>
          <p:cNvPr id="20" name="Text 18"/>
          <p:cNvSpPr/>
          <p:nvPr/>
        </p:nvSpPr>
        <p:spPr>
          <a:xfrm>
            <a:off x="3840480" y="2596896"/>
            <a:ext cx="1444752" cy="164592"/>
          </a:xfrm>
          <a:prstGeom prst="rect">
            <a:avLst/>
          </a:prstGeom>
          <a:noFill/>
          <a:ln/>
        </p:spPr>
        <p:txBody>
          <a:bodyPr wrap="square" lIns="0" tIns="0" rIns="0" bIns="0" rtlCol="0" anchor="ctr"/>
          <a:lstStyle/>
          <a:p>
            <a:pPr marL="0" indent="0" algn="ctr">
              <a:buNone/>
            </a:pPr>
            <a:r>
              <a:rPr lang="en-US" sz="650" dirty="0">
                <a:solidFill>
                  <a:srgbClr val="22C55E"/>
                </a:solidFill>
                <a:latin typeface="Courier New" pitchFamily="34" charset="0"/>
                <a:ea typeface="Courier New" pitchFamily="34" charset="-122"/>
                <a:cs typeface="Courier New" pitchFamily="34" charset="-120"/>
              </a:rPr>
              <a:t>playwright show-report</a:t>
            </a:r>
            <a:endParaRPr lang="en-US" sz="650" dirty="0"/>
          </a:p>
        </p:txBody>
      </p:sp>
      <p:sp>
        <p:nvSpPr>
          <p:cNvPr id="21" name="Shape 19"/>
          <p:cNvSpPr/>
          <p:nvPr/>
        </p:nvSpPr>
        <p:spPr>
          <a:xfrm>
            <a:off x="5449824" y="1298448"/>
            <a:ext cx="1554480" cy="1481328"/>
          </a:xfrm>
          <a:prstGeom prst="roundRect">
            <a:avLst>
              <a:gd name="adj" fmla="val 4938"/>
            </a:avLst>
          </a:prstGeom>
          <a:solidFill>
            <a:srgbClr val="0D1F35"/>
          </a:solidFill>
          <a:ln/>
        </p:spPr>
      </p:sp>
      <p:sp>
        <p:nvSpPr>
          <p:cNvPr id="22" name="Text 20"/>
          <p:cNvSpPr/>
          <p:nvPr/>
        </p:nvSpPr>
        <p:spPr>
          <a:xfrm>
            <a:off x="5449824" y="1371600"/>
            <a:ext cx="1554480" cy="384048"/>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5522976" y="1783080"/>
            <a:ext cx="1408176"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VS Code Extension</a:t>
            </a:r>
            <a:endParaRPr lang="en-US" sz="900" dirty="0"/>
          </a:p>
        </p:txBody>
      </p:sp>
      <p:sp>
        <p:nvSpPr>
          <p:cNvPr id="24" name="Text 22"/>
          <p:cNvSpPr/>
          <p:nvPr/>
        </p:nvSpPr>
        <p:spPr>
          <a:xfrm>
            <a:off x="5522976" y="2075688"/>
            <a:ext cx="1408176" cy="475488"/>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Run, debug, generate, live locators. No terminal needed.</a:t>
            </a:r>
            <a:endParaRPr lang="en-US" sz="750" dirty="0"/>
          </a:p>
        </p:txBody>
      </p:sp>
      <p:sp>
        <p:nvSpPr>
          <p:cNvPr id="25" name="Text 23"/>
          <p:cNvSpPr/>
          <p:nvPr/>
        </p:nvSpPr>
        <p:spPr>
          <a:xfrm>
            <a:off x="5504688" y="2596896"/>
            <a:ext cx="1444752" cy="164592"/>
          </a:xfrm>
          <a:prstGeom prst="rect">
            <a:avLst/>
          </a:prstGeom>
          <a:noFill/>
          <a:ln/>
        </p:spPr>
        <p:txBody>
          <a:bodyPr wrap="square" lIns="0" tIns="0" rIns="0" bIns="0" rtlCol="0" anchor="ctr"/>
          <a:lstStyle/>
          <a:p>
            <a:pPr marL="0" indent="0" algn="ctr">
              <a:buNone/>
            </a:pPr>
            <a:r>
              <a:rPr lang="en-US" sz="650" dirty="0">
                <a:solidFill>
                  <a:srgbClr val="22C55E"/>
                </a:solidFill>
                <a:latin typeface="Courier New" pitchFamily="34" charset="0"/>
                <a:ea typeface="Courier New" pitchFamily="34" charset="-122"/>
                <a:cs typeface="Courier New" pitchFamily="34" charset="-120"/>
              </a:rPr>
              <a:t>Install: search Playwright in marketplace</a:t>
            </a:r>
            <a:endParaRPr lang="en-US" sz="650" dirty="0"/>
          </a:p>
        </p:txBody>
      </p:sp>
      <p:sp>
        <p:nvSpPr>
          <p:cNvPr id="26" name="Shape 24"/>
          <p:cNvSpPr/>
          <p:nvPr/>
        </p:nvSpPr>
        <p:spPr>
          <a:xfrm>
            <a:off x="7114032" y="1298448"/>
            <a:ext cx="1554480" cy="1481328"/>
          </a:xfrm>
          <a:prstGeom prst="roundRect">
            <a:avLst>
              <a:gd name="adj" fmla="val 4938"/>
            </a:avLst>
          </a:prstGeom>
          <a:solidFill>
            <a:srgbClr val="0D1F35"/>
          </a:solidFill>
          <a:ln/>
        </p:spPr>
      </p:sp>
      <p:sp>
        <p:nvSpPr>
          <p:cNvPr id="27" name="Text 25"/>
          <p:cNvSpPr/>
          <p:nvPr/>
        </p:nvSpPr>
        <p:spPr>
          <a:xfrm>
            <a:off x="7114032" y="1371600"/>
            <a:ext cx="1554480" cy="384048"/>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7187184" y="1783080"/>
            <a:ext cx="1408176"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UI Mode</a:t>
            </a:r>
            <a:endParaRPr lang="en-US" sz="900" dirty="0"/>
          </a:p>
        </p:txBody>
      </p:sp>
      <p:sp>
        <p:nvSpPr>
          <p:cNvPr id="29" name="Text 27"/>
          <p:cNvSpPr/>
          <p:nvPr/>
        </p:nvSpPr>
        <p:spPr>
          <a:xfrm>
            <a:off x="7187184" y="2075688"/>
            <a:ext cx="1408176" cy="475488"/>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Watch mode + time travel. Re-run steps, inspect state at any point.</a:t>
            </a:r>
            <a:endParaRPr lang="en-US" sz="750" dirty="0"/>
          </a:p>
        </p:txBody>
      </p:sp>
      <p:sp>
        <p:nvSpPr>
          <p:cNvPr id="30" name="Text 28"/>
          <p:cNvSpPr/>
          <p:nvPr/>
        </p:nvSpPr>
        <p:spPr>
          <a:xfrm>
            <a:off x="7168896" y="2596896"/>
            <a:ext cx="1444752" cy="164592"/>
          </a:xfrm>
          <a:prstGeom prst="rect">
            <a:avLst/>
          </a:prstGeom>
          <a:noFill/>
          <a:ln/>
        </p:spPr>
        <p:txBody>
          <a:bodyPr wrap="square" lIns="0" tIns="0" rIns="0" bIns="0" rtlCol="0" anchor="ctr"/>
          <a:lstStyle/>
          <a:p>
            <a:pPr marL="0" indent="0" algn="ctr">
              <a:buNone/>
            </a:pPr>
            <a:r>
              <a:rPr lang="en-US" sz="650" dirty="0">
                <a:solidFill>
                  <a:srgbClr val="22C55E"/>
                </a:solidFill>
                <a:latin typeface="Courier New" pitchFamily="34" charset="0"/>
                <a:ea typeface="Courier New" pitchFamily="34" charset="-122"/>
                <a:cs typeface="Courier New" pitchFamily="34" charset="-120"/>
              </a:rPr>
              <a:t>playwright test --ui</a:t>
            </a:r>
            <a:endParaRPr lang="en-US" sz="650" dirty="0"/>
          </a:p>
        </p:txBody>
      </p:sp>
      <p:sp>
        <p:nvSpPr>
          <p:cNvPr id="31" name="Text 29"/>
          <p:cNvSpPr/>
          <p:nvPr/>
        </p:nvSpPr>
        <p:spPr>
          <a:xfrm>
            <a:off x="457200" y="2907792"/>
            <a:ext cx="8229600" cy="274320"/>
          </a:xfrm>
          <a:prstGeom prst="rect">
            <a:avLst/>
          </a:prstGeom>
          <a:noFill/>
          <a:ln/>
        </p:spPr>
        <p:txBody>
          <a:bodyPr wrap="square" lIns="0" tIns="0" rIns="0" bIns="0" rtlCol="0" anchor="ctr"/>
          <a:lstStyle/>
          <a:p>
            <a:pPr marL="0" indent="0">
              <a:buNone/>
            </a:pPr>
            <a:r>
              <a:rPr lang="en-US" sz="1100" b="1" dirty="0">
                <a:solidFill>
                  <a:srgbClr val="00B4D8"/>
                </a:solidFill>
                <a:latin typeface="Calibri" pitchFamily="34" charset="0"/>
                <a:ea typeface="Calibri" pitchFamily="34" charset="-122"/>
                <a:cs typeface="Calibri" pitchFamily="34" charset="-120"/>
              </a:rPr>
              <a:t>The 3 Playwright Products — At A Glance</a:t>
            </a:r>
            <a:endParaRPr lang="en-US" sz="1100" dirty="0"/>
          </a:p>
        </p:txBody>
      </p:sp>
      <p:sp>
        <p:nvSpPr>
          <p:cNvPr id="32" name="Shape 30"/>
          <p:cNvSpPr/>
          <p:nvPr/>
        </p:nvSpPr>
        <p:spPr>
          <a:xfrm>
            <a:off x="457200" y="3218688"/>
            <a:ext cx="2103120" cy="320040"/>
          </a:xfrm>
          <a:prstGeom prst="rect">
            <a:avLst/>
          </a:prstGeom>
          <a:solidFill>
            <a:srgbClr val="0D1F35"/>
          </a:solidFill>
          <a:ln/>
        </p:spPr>
      </p:sp>
      <p:sp>
        <p:nvSpPr>
          <p:cNvPr id="33" name="Text 31"/>
          <p:cNvSpPr/>
          <p:nvPr/>
        </p:nvSpPr>
        <p:spPr>
          <a:xfrm>
            <a:off x="457200" y="3218688"/>
            <a:ext cx="2103120" cy="320040"/>
          </a:xfrm>
          <a:prstGeom prst="rect">
            <a:avLst/>
          </a:prstGeom>
          <a:noFill/>
          <a:ln/>
        </p:spPr>
        <p:txBody>
          <a:bodyPr wrap="square" lIns="0" tIns="0" rIns="0" bIns="0" rtlCol="0" anchor="ctr"/>
          <a:lstStyle/>
          <a:p>
            <a:pPr marL="0" indent="0" algn="ctr">
              <a:buNone/>
            </a:pPr>
            <a:endParaRPr lang="en-US" sz="900" dirty="0"/>
          </a:p>
        </p:txBody>
      </p:sp>
      <p:sp>
        <p:nvSpPr>
          <p:cNvPr id="34" name="Shape 32"/>
          <p:cNvSpPr/>
          <p:nvPr/>
        </p:nvSpPr>
        <p:spPr>
          <a:xfrm>
            <a:off x="2633472" y="3218688"/>
            <a:ext cx="2103120" cy="320040"/>
          </a:xfrm>
          <a:prstGeom prst="rect">
            <a:avLst/>
          </a:prstGeom>
          <a:solidFill>
            <a:srgbClr val="028090"/>
          </a:solidFill>
          <a:ln/>
        </p:spPr>
      </p:sp>
      <p:sp>
        <p:nvSpPr>
          <p:cNvPr id="35" name="Text 33"/>
          <p:cNvSpPr/>
          <p:nvPr/>
        </p:nvSpPr>
        <p:spPr>
          <a:xfrm>
            <a:off x="2633472" y="3218688"/>
            <a:ext cx="21031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Playwright Test</a:t>
            </a:r>
            <a:endParaRPr lang="en-US" sz="900" dirty="0"/>
          </a:p>
        </p:txBody>
      </p:sp>
      <p:sp>
        <p:nvSpPr>
          <p:cNvPr id="36" name="Shape 34"/>
          <p:cNvSpPr/>
          <p:nvPr/>
        </p:nvSpPr>
        <p:spPr>
          <a:xfrm>
            <a:off x="4809744" y="3218688"/>
            <a:ext cx="2103120" cy="320040"/>
          </a:xfrm>
          <a:prstGeom prst="rect">
            <a:avLst/>
          </a:prstGeom>
          <a:solidFill>
            <a:srgbClr val="6D28D9"/>
          </a:solidFill>
          <a:ln/>
        </p:spPr>
      </p:sp>
      <p:sp>
        <p:nvSpPr>
          <p:cNvPr id="37" name="Text 35"/>
          <p:cNvSpPr/>
          <p:nvPr/>
        </p:nvSpPr>
        <p:spPr>
          <a:xfrm>
            <a:off x="4809744" y="3218688"/>
            <a:ext cx="21031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Playwright MCP</a:t>
            </a:r>
            <a:endParaRPr lang="en-US" sz="900" dirty="0"/>
          </a:p>
        </p:txBody>
      </p:sp>
      <p:sp>
        <p:nvSpPr>
          <p:cNvPr id="38" name="Shape 36"/>
          <p:cNvSpPr/>
          <p:nvPr/>
        </p:nvSpPr>
        <p:spPr>
          <a:xfrm>
            <a:off x="6986016" y="3218688"/>
            <a:ext cx="2103120" cy="320040"/>
          </a:xfrm>
          <a:prstGeom prst="rect">
            <a:avLst/>
          </a:prstGeom>
          <a:solidFill>
            <a:srgbClr val="B45309"/>
          </a:solidFill>
          <a:ln/>
        </p:spPr>
      </p:sp>
      <p:sp>
        <p:nvSpPr>
          <p:cNvPr id="39" name="Text 37"/>
          <p:cNvSpPr/>
          <p:nvPr/>
        </p:nvSpPr>
        <p:spPr>
          <a:xfrm>
            <a:off x="6986016" y="3218688"/>
            <a:ext cx="21031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Playwright CLI</a:t>
            </a:r>
            <a:endParaRPr lang="en-US" sz="900" dirty="0"/>
          </a:p>
        </p:txBody>
      </p:sp>
      <p:sp>
        <p:nvSpPr>
          <p:cNvPr id="40" name="Shape 38"/>
          <p:cNvSpPr/>
          <p:nvPr/>
        </p:nvSpPr>
        <p:spPr>
          <a:xfrm>
            <a:off x="457200" y="3566160"/>
            <a:ext cx="2103120" cy="192024"/>
          </a:xfrm>
          <a:prstGeom prst="rect">
            <a:avLst/>
          </a:prstGeom>
          <a:solidFill>
            <a:srgbClr val="0D1F35"/>
          </a:solidFill>
          <a:ln w="6350">
            <a:solidFill>
              <a:srgbClr val="1E3A5F"/>
            </a:solidFill>
            <a:prstDash val="solid"/>
          </a:ln>
        </p:spPr>
      </p:sp>
      <p:sp>
        <p:nvSpPr>
          <p:cNvPr id="41" name="Text 39"/>
          <p:cNvSpPr/>
          <p:nvPr/>
        </p:nvSpPr>
        <p:spPr>
          <a:xfrm>
            <a:off x="475488" y="3566160"/>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For who</a:t>
            </a:r>
            <a:endParaRPr lang="en-US" sz="800" dirty="0"/>
          </a:p>
        </p:txBody>
      </p:sp>
      <p:sp>
        <p:nvSpPr>
          <p:cNvPr id="42" name="Shape 40"/>
          <p:cNvSpPr/>
          <p:nvPr/>
        </p:nvSpPr>
        <p:spPr>
          <a:xfrm>
            <a:off x="2633472" y="3566160"/>
            <a:ext cx="2103120" cy="192024"/>
          </a:xfrm>
          <a:prstGeom prst="rect">
            <a:avLst/>
          </a:prstGeom>
          <a:solidFill>
            <a:srgbClr val="0D1F35"/>
          </a:solidFill>
          <a:ln w="6350">
            <a:solidFill>
              <a:srgbClr val="1E3A5F"/>
            </a:solidFill>
            <a:prstDash val="solid"/>
          </a:ln>
        </p:spPr>
      </p:sp>
      <p:sp>
        <p:nvSpPr>
          <p:cNvPr id="43" name="Text 41"/>
          <p:cNvSpPr/>
          <p:nvPr/>
        </p:nvSpPr>
        <p:spPr>
          <a:xfrm>
            <a:off x="2651760" y="3566160"/>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Developers / QA</a:t>
            </a:r>
            <a:endParaRPr lang="en-US" sz="750" dirty="0"/>
          </a:p>
        </p:txBody>
      </p:sp>
      <p:sp>
        <p:nvSpPr>
          <p:cNvPr id="44" name="Shape 42"/>
          <p:cNvSpPr/>
          <p:nvPr/>
        </p:nvSpPr>
        <p:spPr>
          <a:xfrm>
            <a:off x="4809744" y="3566160"/>
            <a:ext cx="2103120" cy="192024"/>
          </a:xfrm>
          <a:prstGeom prst="rect">
            <a:avLst/>
          </a:prstGeom>
          <a:solidFill>
            <a:srgbClr val="0D1F35"/>
          </a:solidFill>
          <a:ln w="6350">
            <a:solidFill>
              <a:srgbClr val="1E3A5F"/>
            </a:solidFill>
            <a:prstDash val="solid"/>
          </a:ln>
        </p:spPr>
      </p:sp>
      <p:sp>
        <p:nvSpPr>
          <p:cNvPr id="45" name="Text 43"/>
          <p:cNvSpPr/>
          <p:nvPr/>
        </p:nvSpPr>
        <p:spPr>
          <a:xfrm>
            <a:off x="4828032" y="3566160"/>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AI models &amp; agents</a:t>
            </a:r>
            <a:endParaRPr lang="en-US" sz="750" dirty="0"/>
          </a:p>
        </p:txBody>
      </p:sp>
      <p:sp>
        <p:nvSpPr>
          <p:cNvPr id="46" name="Shape 44"/>
          <p:cNvSpPr/>
          <p:nvPr/>
        </p:nvSpPr>
        <p:spPr>
          <a:xfrm>
            <a:off x="6986016" y="3566160"/>
            <a:ext cx="2103120" cy="192024"/>
          </a:xfrm>
          <a:prstGeom prst="rect">
            <a:avLst/>
          </a:prstGeom>
          <a:solidFill>
            <a:srgbClr val="0D1F35"/>
          </a:solidFill>
          <a:ln w="6350">
            <a:solidFill>
              <a:srgbClr val="1E3A5F"/>
            </a:solidFill>
            <a:prstDash val="solid"/>
          </a:ln>
        </p:spPr>
      </p:sp>
      <p:sp>
        <p:nvSpPr>
          <p:cNvPr id="47" name="Text 45"/>
          <p:cNvSpPr/>
          <p:nvPr/>
        </p:nvSpPr>
        <p:spPr>
          <a:xfrm>
            <a:off x="7004304" y="3566160"/>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AI coding agents</a:t>
            </a:r>
            <a:endParaRPr lang="en-US" sz="750" dirty="0"/>
          </a:p>
        </p:txBody>
      </p:sp>
      <p:sp>
        <p:nvSpPr>
          <p:cNvPr id="48" name="Shape 46"/>
          <p:cNvSpPr/>
          <p:nvPr/>
        </p:nvSpPr>
        <p:spPr>
          <a:xfrm>
            <a:off x="457200" y="3758184"/>
            <a:ext cx="2103120" cy="192024"/>
          </a:xfrm>
          <a:prstGeom prst="rect">
            <a:avLst/>
          </a:prstGeom>
          <a:solidFill>
            <a:srgbClr val="111E30"/>
          </a:solidFill>
          <a:ln w="6350">
            <a:solidFill>
              <a:srgbClr val="1E3A5F"/>
            </a:solidFill>
            <a:prstDash val="solid"/>
          </a:ln>
        </p:spPr>
      </p:sp>
      <p:sp>
        <p:nvSpPr>
          <p:cNvPr id="49" name="Text 47"/>
          <p:cNvSpPr/>
          <p:nvPr/>
        </p:nvSpPr>
        <p:spPr>
          <a:xfrm>
            <a:off x="475488" y="3758184"/>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Setup</a:t>
            </a:r>
            <a:endParaRPr lang="en-US" sz="800" dirty="0"/>
          </a:p>
        </p:txBody>
      </p:sp>
      <p:sp>
        <p:nvSpPr>
          <p:cNvPr id="50" name="Shape 48"/>
          <p:cNvSpPr/>
          <p:nvPr/>
        </p:nvSpPr>
        <p:spPr>
          <a:xfrm>
            <a:off x="2633472" y="3758184"/>
            <a:ext cx="2103120" cy="192024"/>
          </a:xfrm>
          <a:prstGeom prst="rect">
            <a:avLst/>
          </a:prstGeom>
          <a:solidFill>
            <a:srgbClr val="111E30"/>
          </a:solidFill>
          <a:ln w="6350">
            <a:solidFill>
              <a:srgbClr val="1E3A5F"/>
            </a:solidFill>
            <a:prstDash val="solid"/>
          </a:ln>
        </p:spPr>
      </p:sp>
      <p:sp>
        <p:nvSpPr>
          <p:cNvPr id="51" name="Text 49"/>
          <p:cNvSpPr/>
          <p:nvPr/>
        </p:nvSpPr>
        <p:spPr>
          <a:xfrm>
            <a:off x="2651760" y="3758184"/>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pip install playwright</a:t>
            </a:r>
            <a:endParaRPr lang="en-US" sz="750" dirty="0"/>
          </a:p>
        </p:txBody>
      </p:sp>
      <p:sp>
        <p:nvSpPr>
          <p:cNvPr id="52" name="Shape 50"/>
          <p:cNvSpPr/>
          <p:nvPr/>
        </p:nvSpPr>
        <p:spPr>
          <a:xfrm>
            <a:off x="4809744" y="3758184"/>
            <a:ext cx="2103120" cy="192024"/>
          </a:xfrm>
          <a:prstGeom prst="rect">
            <a:avLst/>
          </a:prstGeom>
          <a:solidFill>
            <a:srgbClr val="111E30"/>
          </a:solidFill>
          <a:ln w="6350">
            <a:solidFill>
              <a:srgbClr val="1E3A5F"/>
            </a:solidFill>
            <a:prstDash val="solid"/>
          </a:ln>
        </p:spPr>
      </p:sp>
      <p:sp>
        <p:nvSpPr>
          <p:cNvPr id="53" name="Text 51"/>
          <p:cNvSpPr/>
          <p:nvPr/>
        </p:nvSpPr>
        <p:spPr>
          <a:xfrm>
            <a:off x="4828032" y="3758184"/>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npx @playwright/mcp@latest</a:t>
            </a:r>
            <a:endParaRPr lang="en-US" sz="750" dirty="0"/>
          </a:p>
        </p:txBody>
      </p:sp>
      <p:sp>
        <p:nvSpPr>
          <p:cNvPr id="54" name="Shape 52"/>
          <p:cNvSpPr/>
          <p:nvPr/>
        </p:nvSpPr>
        <p:spPr>
          <a:xfrm>
            <a:off x="6986016" y="3758184"/>
            <a:ext cx="2103120" cy="192024"/>
          </a:xfrm>
          <a:prstGeom prst="rect">
            <a:avLst/>
          </a:prstGeom>
          <a:solidFill>
            <a:srgbClr val="111E30"/>
          </a:solidFill>
          <a:ln w="6350">
            <a:solidFill>
              <a:srgbClr val="1E3A5F"/>
            </a:solidFill>
            <a:prstDash val="solid"/>
          </a:ln>
        </p:spPr>
      </p:sp>
      <p:sp>
        <p:nvSpPr>
          <p:cNvPr id="55" name="Text 53"/>
          <p:cNvSpPr/>
          <p:nvPr/>
        </p:nvSpPr>
        <p:spPr>
          <a:xfrm>
            <a:off x="7004304" y="3758184"/>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npm i -g @playwright/cli</a:t>
            </a:r>
            <a:endParaRPr lang="en-US" sz="750" dirty="0"/>
          </a:p>
        </p:txBody>
      </p:sp>
      <p:sp>
        <p:nvSpPr>
          <p:cNvPr id="56" name="Shape 54"/>
          <p:cNvSpPr/>
          <p:nvPr/>
        </p:nvSpPr>
        <p:spPr>
          <a:xfrm>
            <a:off x="457200" y="3950208"/>
            <a:ext cx="2103120" cy="192024"/>
          </a:xfrm>
          <a:prstGeom prst="rect">
            <a:avLst/>
          </a:prstGeom>
          <a:solidFill>
            <a:srgbClr val="0D1F35"/>
          </a:solidFill>
          <a:ln w="6350">
            <a:solidFill>
              <a:srgbClr val="1E3A5F"/>
            </a:solidFill>
            <a:prstDash val="solid"/>
          </a:ln>
        </p:spPr>
      </p:sp>
      <p:sp>
        <p:nvSpPr>
          <p:cNvPr id="57" name="Text 55"/>
          <p:cNvSpPr/>
          <p:nvPr/>
        </p:nvSpPr>
        <p:spPr>
          <a:xfrm>
            <a:off x="475488" y="3950208"/>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Interface</a:t>
            </a:r>
            <a:endParaRPr lang="en-US" sz="800" dirty="0"/>
          </a:p>
        </p:txBody>
      </p:sp>
      <p:sp>
        <p:nvSpPr>
          <p:cNvPr id="58" name="Shape 56"/>
          <p:cNvSpPr/>
          <p:nvPr/>
        </p:nvSpPr>
        <p:spPr>
          <a:xfrm>
            <a:off x="2633472" y="3950208"/>
            <a:ext cx="2103120" cy="192024"/>
          </a:xfrm>
          <a:prstGeom prst="rect">
            <a:avLst/>
          </a:prstGeom>
          <a:solidFill>
            <a:srgbClr val="0D1F35"/>
          </a:solidFill>
          <a:ln w="6350">
            <a:solidFill>
              <a:srgbClr val="1E3A5F"/>
            </a:solidFill>
            <a:prstDash val="solid"/>
          </a:ln>
        </p:spPr>
      </p:sp>
      <p:sp>
        <p:nvSpPr>
          <p:cNvPr id="59" name="Text 57"/>
          <p:cNvSpPr/>
          <p:nvPr/>
        </p:nvSpPr>
        <p:spPr>
          <a:xfrm>
            <a:off x="2651760" y="3950208"/>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Python / JS / Java / .NET</a:t>
            </a:r>
            <a:endParaRPr lang="en-US" sz="750" dirty="0"/>
          </a:p>
        </p:txBody>
      </p:sp>
      <p:sp>
        <p:nvSpPr>
          <p:cNvPr id="60" name="Shape 58"/>
          <p:cNvSpPr/>
          <p:nvPr/>
        </p:nvSpPr>
        <p:spPr>
          <a:xfrm>
            <a:off x="4809744" y="3950208"/>
            <a:ext cx="2103120" cy="192024"/>
          </a:xfrm>
          <a:prstGeom prst="rect">
            <a:avLst/>
          </a:prstGeom>
          <a:solidFill>
            <a:srgbClr val="0D1F35"/>
          </a:solidFill>
          <a:ln w="6350">
            <a:solidFill>
              <a:srgbClr val="1E3A5F"/>
            </a:solidFill>
            <a:prstDash val="solid"/>
          </a:ln>
        </p:spPr>
      </p:sp>
      <p:sp>
        <p:nvSpPr>
          <p:cNvPr id="61" name="Text 59"/>
          <p:cNvSpPr/>
          <p:nvPr/>
        </p:nvSpPr>
        <p:spPr>
          <a:xfrm>
            <a:off x="4828032" y="3950208"/>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MCP protocol tools</a:t>
            </a:r>
            <a:endParaRPr lang="en-US" sz="750" dirty="0"/>
          </a:p>
        </p:txBody>
      </p:sp>
      <p:sp>
        <p:nvSpPr>
          <p:cNvPr id="62" name="Shape 60"/>
          <p:cNvSpPr/>
          <p:nvPr/>
        </p:nvSpPr>
        <p:spPr>
          <a:xfrm>
            <a:off x="6986016" y="3950208"/>
            <a:ext cx="2103120" cy="192024"/>
          </a:xfrm>
          <a:prstGeom prst="rect">
            <a:avLst/>
          </a:prstGeom>
          <a:solidFill>
            <a:srgbClr val="0D1F35"/>
          </a:solidFill>
          <a:ln w="6350">
            <a:solidFill>
              <a:srgbClr val="1E3A5F"/>
            </a:solidFill>
            <a:prstDash val="solid"/>
          </a:ln>
        </p:spPr>
      </p:sp>
      <p:sp>
        <p:nvSpPr>
          <p:cNvPr id="63" name="Text 61"/>
          <p:cNvSpPr/>
          <p:nvPr/>
        </p:nvSpPr>
        <p:spPr>
          <a:xfrm>
            <a:off x="7004304" y="3950208"/>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CLI commands</a:t>
            </a:r>
            <a:endParaRPr lang="en-US" sz="750" dirty="0"/>
          </a:p>
        </p:txBody>
      </p:sp>
      <p:sp>
        <p:nvSpPr>
          <p:cNvPr id="64" name="Shape 62"/>
          <p:cNvSpPr/>
          <p:nvPr/>
        </p:nvSpPr>
        <p:spPr>
          <a:xfrm>
            <a:off x="457200" y="4142232"/>
            <a:ext cx="2103120" cy="192024"/>
          </a:xfrm>
          <a:prstGeom prst="rect">
            <a:avLst/>
          </a:prstGeom>
          <a:solidFill>
            <a:srgbClr val="111E30"/>
          </a:solidFill>
          <a:ln w="6350">
            <a:solidFill>
              <a:srgbClr val="1E3A5F"/>
            </a:solidFill>
            <a:prstDash val="solid"/>
          </a:ln>
        </p:spPr>
      </p:sp>
      <p:sp>
        <p:nvSpPr>
          <p:cNvPr id="65" name="Text 63"/>
          <p:cNvSpPr/>
          <p:nvPr/>
        </p:nvSpPr>
        <p:spPr>
          <a:xfrm>
            <a:off x="475488" y="4142232"/>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Browser view</a:t>
            </a:r>
            <a:endParaRPr lang="en-US" sz="800" dirty="0"/>
          </a:p>
        </p:txBody>
      </p:sp>
      <p:sp>
        <p:nvSpPr>
          <p:cNvPr id="66" name="Shape 64"/>
          <p:cNvSpPr/>
          <p:nvPr/>
        </p:nvSpPr>
        <p:spPr>
          <a:xfrm>
            <a:off x="2633472" y="4142232"/>
            <a:ext cx="2103120" cy="192024"/>
          </a:xfrm>
          <a:prstGeom prst="rect">
            <a:avLst/>
          </a:prstGeom>
          <a:solidFill>
            <a:srgbClr val="111E30"/>
          </a:solidFill>
          <a:ln w="6350">
            <a:solidFill>
              <a:srgbClr val="1E3A5F"/>
            </a:solidFill>
            <a:prstDash val="solid"/>
          </a:ln>
        </p:spPr>
      </p:sp>
      <p:sp>
        <p:nvSpPr>
          <p:cNvPr id="67" name="Text 65"/>
          <p:cNvSpPr/>
          <p:nvPr/>
        </p:nvSpPr>
        <p:spPr>
          <a:xfrm>
            <a:off x="2651760" y="4142232"/>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Full DOM + JS execution</a:t>
            </a:r>
            <a:endParaRPr lang="en-US" sz="750" dirty="0"/>
          </a:p>
        </p:txBody>
      </p:sp>
      <p:sp>
        <p:nvSpPr>
          <p:cNvPr id="68" name="Shape 66"/>
          <p:cNvSpPr/>
          <p:nvPr/>
        </p:nvSpPr>
        <p:spPr>
          <a:xfrm>
            <a:off x="4809744" y="4142232"/>
            <a:ext cx="2103120" cy="192024"/>
          </a:xfrm>
          <a:prstGeom prst="rect">
            <a:avLst/>
          </a:prstGeom>
          <a:solidFill>
            <a:srgbClr val="111E30"/>
          </a:solidFill>
          <a:ln w="6350">
            <a:solidFill>
              <a:srgbClr val="1E3A5F"/>
            </a:solidFill>
            <a:prstDash val="solid"/>
          </a:ln>
        </p:spPr>
      </p:sp>
      <p:sp>
        <p:nvSpPr>
          <p:cNvPr id="69" name="Text 67"/>
          <p:cNvSpPr/>
          <p:nvPr/>
        </p:nvSpPr>
        <p:spPr>
          <a:xfrm>
            <a:off x="4828032" y="4142232"/>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Accessibility snapshots</a:t>
            </a:r>
            <a:endParaRPr lang="en-US" sz="750" dirty="0"/>
          </a:p>
        </p:txBody>
      </p:sp>
      <p:sp>
        <p:nvSpPr>
          <p:cNvPr id="70" name="Shape 68"/>
          <p:cNvSpPr/>
          <p:nvPr/>
        </p:nvSpPr>
        <p:spPr>
          <a:xfrm>
            <a:off x="6986016" y="4142232"/>
            <a:ext cx="2103120" cy="192024"/>
          </a:xfrm>
          <a:prstGeom prst="rect">
            <a:avLst/>
          </a:prstGeom>
          <a:solidFill>
            <a:srgbClr val="111E30"/>
          </a:solidFill>
          <a:ln w="6350">
            <a:solidFill>
              <a:srgbClr val="1E3A5F"/>
            </a:solidFill>
            <a:prstDash val="solid"/>
          </a:ln>
        </p:spPr>
      </p:sp>
      <p:sp>
        <p:nvSpPr>
          <p:cNvPr id="71" name="Text 69"/>
          <p:cNvSpPr/>
          <p:nvPr/>
        </p:nvSpPr>
        <p:spPr>
          <a:xfrm>
            <a:off x="7004304" y="4142232"/>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Accessibility snapshots</a:t>
            </a:r>
            <a:endParaRPr lang="en-US" sz="750" dirty="0"/>
          </a:p>
        </p:txBody>
      </p:sp>
      <p:sp>
        <p:nvSpPr>
          <p:cNvPr id="72" name="Shape 70"/>
          <p:cNvSpPr/>
          <p:nvPr/>
        </p:nvSpPr>
        <p:spPr>
          <a:xfrm>
            <a:off x="457200" y="4334256"/>
            <a:ext cx="2103120" cy="192024"/>
          </a:xfrm>
          <a:prstGeom prst="rect">
            <a:avLst/>
          </a:prstGeom>
          <a:solidFill>
            <a:srgbClr val="0D1F35"/>
          </a:solidFill>
          <a:ln w="6350">
            <a:solidFill>
              <a:srgbClr val="1E3A5F"/>
            </a:solidFill>
            <a:prstDash val="solid"/>
          </a:ln>
        </p:spPr>
      </p:sp>
      <p:sp>
        <p:nvSpPr>
          <p:cNvPr id="73" name="Text 71"/>
          <p:cNvSpPr/>
          <p:nvPr/>
        </p:nvSpPr>
        <p:spPr>
          <a:xfrm>
            <a:off x="475488" y="4334256"/>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Tokens</a:t>
            </a:r>
            <a:endParaRPr lang="en-US" sz="800" dirty="0"/>
          </a:p>
        </p:txBody>
      </p:sp>
      <p:sp>
        <p:nvSpPr>
          <p:cNvPr id="74" name="Shape 72"/>
          <p:cNvSpPr/>
          <p:nvPr/>
        </p:nvSpPr>
        <p:spPr>
          <a:xfrm>
            <a:off x="2633472" y="4334256"/>
            <a:ext cx="2103120" cy="192024"/>
          </a:xfrm>
          <a:prstGeom prst="rect">
            <a:avLst/>
          </a:prstGeom>
          <a:solidFill>
            <a:srgbClr val="0D1F35"/>
          </a:solidFill>
          <a:ln w="6350">
            <a:solidFill>
              <a:srgbClr val="1E3A5F"/>
            </a:solidFill>
            <a:prstDash val="solid"/>
          </a:ln>
        </p:spPr>
      </p:sp>
      <p:sp>
        <p:nvSpPr>
          <p:cNvPr id="75" name="Text 73"/>
          <p:cNvSpPr/>
          <p:nvPr/>
        </p:nvSpPr>
        <p:spPr>
          <a:xfrm>
            <a:off x="2651760" y="4334256"/>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Not applicable</a:t>
            </a:r>
            <a:endParaRPr lang="en-US" sz="750" dirty="0"/>
          </a:p>
        </p:txBody>
      </p:sp>
      <p:sp>
        <p:nvSpPr>
          <p:cNvPr id="76" name="Shape 74"/>
          <p:cNvSpPr/>
          <p:nvPr/>
        </p:nvSpPr>
        <p:spPr>
          <a:xfrm>
            <a:off x="4809744" y="4334256"/>
            <a:ext cx="2103120" cy="192024"/>
          </a:xfrm>
          <a:prstGeom prst="rect">
            <a:avLst/>
          </a:prstGeom>
          <a:solidFill>
            <a:srgbClr val="0D1F35"/>
          </a:solidFill>
          <a:ln w="6350">
            <a:solidFill>
              <a:srgbClr val="1E3A5F"/>
            </a:solidFill>
            <a:prstDash val="solid"/>
          </a:ln>
        </p:spPr>
      </p:sp>
      <p:sp>
        <p:nvSpPr>
          <p:cNvPr id="77" name="Text 75"/>
          <p:cNvSpPr/>
          <p:nvPr/>
        </p:nvSpPr>
        <p:spPr>
          <a:xfrm>
            <a:off x="4828032" y="4334256"/>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200-400 per snapshot</a:t>
            </a:r>
            <a:endParaRPr lang="en-US" sz="750" dirty="0"/>
          </a:p>
        </p:txBody>
      </p:sp>
      <p:sp>
        <p:nvSpPr>
          <p:cNvPr id="78" name="Shape 76"/>
          <p:cNvSpPr/>
          <p:nvPr/>
        </p:nvSpPr>
        <p:spPr>
          <a:xfrm>
            <a:off x="6986016" y="4334256"/>
            <a:ext cx="2103120" cy="192024"/>
          </a:xfrm>
          <a:prstGeom prst="rect">
            <a:avLst/>
          </a:prstGeom>
          <a:solidFill>
            <a:srgbClr val="0D1F35"/>
          </a:solidFill>
          <a:ln w="6350">
            <a:solidFill>
              <a:srgbClr val="1E3A5F"/>
            </a:solidFill>
            <a:prstDash val="solid"/>
          </a:ln>
        </p:spPr>
      </p:sp>
      <p:sp>
        <p:nvSpPr>
          <p:cNvPr id="79" name="Text 77"/>
          <p:cNvSpPr/>
          <p:nvPr/>
        </p:nvSpPr>
        <p:spPr>
          <a:xfrm>
            <a:off x="7004304" y="4334256"/>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200-400 per snapshot</a:t>
            </a:r>
            <a:endParaRPr lang="en-US" sz="750" dirty="0"/>
          </a:p>
        </p:txBody>
      </p:sp>
      <p:sp>
        <p:nvSpPr>
          <p:cNvPr id="80" name="Shape 78"/>
          <p:cNvSpPr/>
          <p:nvPr/>
        </p:nvSpPr>
        <p:spPr>
          <a:xfrm>
            <a:off x="457200" y="4526280"/>
            <a:ext cx="2103120" cy="192024"/>
          </a:xfrm>
          <a:prstGeom prst="rect">
            <a:avLst/>
          </a:prstGeom>
          <a:solidFill>
            <a:srgbClr val="111E30"/>
          </a:solidFill>
          <a:ln w="6350">
            <a:solidFill>
              <a:srgbClr val="1E3A5F"/>
            </a:solidFill>
            <a:prstDash val="solid"/>
          </a:ln>
        </p:spPr>
      </p:sp>
      <p:sp>
        <p:nvSpPr>
          <p:cNvPr id="81" name="Text 79"/>
          <p:cNvSpPr/>
          <p:nvPr/>
        </p:nvSpPr>
        <p:spPr>
          <a:xfrm>
            <a:off x="475488" y="4526280"/>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Works with</a:t>
            </a:r>
            <a:endParaRPr lang="en-US" sz="800" dirty="0"/>
          </a:p>
        </p:txBody>
      </p:sp>
      <p:sp>
        <p:nvSpPr>
          <p:cNvPr id="82" name="Shape 80"/>
          <p:cNvSpPr/>
          <p:nvPr/>
        </p:nvSpPr>
        <p:spPr>
          <a:xfrm>
            <a:off x="2633472" y="4526280"/>
            <a:ext cx="2103120" cy="192024"/>
          </a:xfrm>
          <a:prstGeom prst="rect">
            <a:avLst/>
          </a:prstGeom>
          <a:solidFill>
            <a:srgbClr val="111E30"/>
          </a:solidFill>
          <a:ln w="6350">
            <a:solidFill>
              <a:srgbClr val="1E3A5F"/>
            </a:solidFill>
            <a:prstDash val="solid"/>
          </a:ln>
        </p:spPr>
      </p:sp>
      <p:sp>
        <p:nvSpPr>
          <p:cNvPr id="83" name="Text 81"/>
          <p:cNvSpPr/>
          <p:nvPr/>
        </p:nvSpPr>
        <p:spPr>
          <a:xfrm>
            <a:off x="2651760" y="4526280"/>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Any test runner</a:t>
            </a:r>
            <a:endParaRPr lang="en-US" sz="750" dirty="0"/>
          </a:p>
        </p:txBody>
      </p:sp>
      <p:sp>
        <p:nvSpPr>
          <p:cNvPr id="84" name="Shape 82"/>
          <p:cNvSpPr/>
          <p:nvPr/>
        </p:nvSpPr>
        <p:spPr>
          <a:xfrm>
            <a:off x="4809744" y="4526280"/>
            <a:ext cx="2103120" cy="192024"/>
          </a:xfrm>
          <a:prstGeom prst="rect">
            <a:avLst/>
          </a:prstGeom>
          <a:solidFill>
            <a:srgbClr val="111E30"/>
          </a:solidFill>
          <a:ln w="6350">
            <a:solidFill>
              <a:srgbClr val="1E3A5F"/>
            </a:solidFill>
            <a:prstDash val="solid"/>
          </a:ln>
        </p:spPr>
      </p:sp>
      <p:sp>
        <p:nvSpPr>
          <p:cNvPr id="85" name="Text 83"/>
          <p:cNvSpPr/>
          <p:nvPr/>
        </p:nvSpPr>
        <p:spPr>
          <a:xfrm>
            <a:off x="4828032" y="4526280"/>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Claude, Copilot, Cursor</a:t>
            </a:r>
            <a:endParaRPr lang="en-US" sz="750" dirty="0"/>
          </a:p>
        </p:txBody>
      </p:sp>
      <p:sp>
        <p:nvSpPr>
          <p:cNvPr id="86" name="Shape 84"/>
          <p:cNvSpPr/>
          <p:nvPr/>
        </p:nvSpPr>
        <p:spPr>
          <a:xfrm>
            <a:off x="6986016" y="4526280"/>
            <a:ext cx="2103120" cy="192024"/>
          </a:xfrm>
          <a:prstGeom prst="rect">
            <a:avLst/>
          </a:prstGeom>
          <a:solidFill>
            <a:srgbClr val="111E30"/>
          </a:solidFill>
          <a:ln w="6350">
            <a:solidFill>
              <a:srgbClr val="1E3A5F"/>
            </a:solidFill>
            <a:prstDash val="solid"/>
          </a:ln>
        </p:spPr>
      </p:sp>
      <p:sp>
        <p:nvSpPr>
          <p:cNvPr id="87" name="Text 85"/>
          <p:cNvSpPr/>
          <p:nvPr/>
        </p:nvSpPr>
        <p:spPr>
          <a:xfrm>
            <a:off x="7004304" y="4526280"/>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Claude Code, Copilot</a:t>
            </a:r>
            <a:endParaRPr lang="en-US" sz="750" dirty="0"/>
          </a:p>
        </p:txBody>
      </p:sp>
      <p:sp>
        <p:nvSpPr>
          <p:cNvPr id="88" name="Shape 86"/>
          <p:cNvSpPr/>
          <p:nvPr/>
        </p:nvSpPr>
        <p:spPr>
          <a:xfrm>
            <a:off x="457200" y="4718304"/>
            <a:ext cx="2103120" cy="192024"/>
          </a:xfrm>
          <a:prstGeom prst="rect">
            <a:avLst/>
          </a:prstGeom>
          <a:solidFill>
            <a:srgbClr val="0D1F35"/>
          </a:solidFill>
          <a:ln w="6350">
            <a:solidFill>
              <a:srgbClr val="1E3A5F"/>
            </a:solidFill>
            <a:prstDash val="solid"/>
          </a:ln>
        </p:spPr>
      </p:sp>
      <p:sp>
        <p:nvSpPr>
          <p:cNvPr id="89" name="Text 87"/>
          <p:cNvSpPr/>
          <p:nvPr/>
        </p:nvSpPr>
        <p:spPr>
          <a:xfrm>
            <a:off x="475488" y="4718304"/>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MCP needed</a:t>
            </a:r>
            <a:endParaRPr lang="en-US" sz="800" dirty="0"/>
          </a:p>
        </p:txBody>
      </p:sp>
      <p:sp>
        <p:nvSpPr>
          <p:cNvPr id="90" name="Shape 88"/>
          <p:cNvSpPr/>
          <p:nvPr/>
        </p:nvSpPr>
        <p:spPr>
          <a:xfrm>
            <a:off x="2633472" y="4718304"/>
            <a:ext cx="2103120" cy="192024"/>
          </a:xfrm>
          <a:prstGeom prst="rect">
            <a:avLst/>
          </a:prstGeom>
          <a:solidFill>
            <a:srgbClr val="0D1F35"/>
          </a:solidFill>
          <a:ln w="6350">
            <a:solidFill>
              <a:srgbClr val="1E3A5F"/>
            </a:solidFill>
            <a:prstDash val="solid"/>
          </a:ln>
        </p:spPr>
      </p:sp>
      <p:sp>
        <p:nvSpPr>
          <p:cNvPr id="91" name="Text 89"/>
          <p:cNvSpPr/>
          <p:nvPr/>
        </p:nvSpPr>
        <p:spPr>
          <a:xfrm>
            <a:off x="2651760" y="4718304"/>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No</a:t>
            </a:r>
            <a:endParaRPr lang="en-US" sz="750" dirty="0"/>
          </a:p>
        </p:txBody>
      </p:sp>
      <p:sp>
        <p:nvSpPr>
          <p:cNvPr id="92" name="Shape 90"/>
          <p:cNvSpPr/>
          <p:nvPr/>
        </p:nvSpPr>
        <p:spPr>
          <a:xfrm>
            <a:off x="4809744" y="4718304"/>
            <a:ext cx="2103120" cy="192024"/>
          </a:xfrm>
          <a:prstGeom prst="rect">
            <a:avLst/>
          </a:prstGeom>
          <a:solidFill>
            <a:srgbClr val="0D1F35"/>
          </a:solidFill>
          <a:ln w="6350">
            <a:solidFill>
              <a:srgbClr val="1E3A5F"/>
            </a:solidFill>
            <a:prstDash val="solid"/>
          </a:ln>
        </p:spPr>
      </p:sp>
      <p:sp>
        <p:nvSpPr>
          <p:cNvPr id="93" name="Text 91"/>
          <p:cNvSpPr/>
          <p:nvPr/>
        </p:nvSpPr>
        <p:spPr>
          <a:xfrm>
            <a:off x="4828032" y="4718304"/>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Yes</a:t>
            </a:r>
            <a:endParaRPr lang="en-US" sz="750" dirty="0"/>
          </a:p>
        </p:txBody>
      </p:sp>
      <p:sp>
        <p:nvSpPr>
          <p:cNvPr id="94" name="Shape 92"/>
          <p:cNvSpPr/>
          <p:nvPr/>
        </p:nvSpPr>
        <p:spPr>
          <a:xfrm>
            <a:off x="6986016" y="4718304"/>
            <a:ext cx="2103120" cy="192024"/>
          </a:xfrm>
          <a:prstGeom prst="rect">
            <a:avLst/>
          </a:prstGeom>
          <a:solidFill>
            <a:srgbClr val="0D1F35"/>
          </a:solidFill>
          <a:ln w="6350">
            <a:solidFill>
              <a:srgbClr val="1E3A5F"/>
            </a:solidFill>
            <a:prstDash val="solid"/>
          </a:ln>
        </p:spPr>
      </p:sp>
      <p:sp>
        <p:nvSpPr>
          <p:cNvPr id="95" name="Text 93"/>
          <p:cNvSpPr/>
          <p:nvPr/>
        </p:nvSpPr>
        <p:spPr>
          <a:xfrm>
            <a:off x="7004304" y="4718304"/>
            <a:ext cx="2066544" cy="192024"/>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No</a:t>
            </a:r>
            <a:endParaRPr lang="en-US" sz="750" dirty="0"/>
          </a:p>
        </p:txBody>
      </p:sp>
      <p:sp>
        <p:nvSpPr>
          <p:cNvPr id="96" name="Shape 94"/>
          <p:cNvSpPr/>
          <p:nvPr/>
        </p:nvSpPr>
        <p:spPr>
          <a:xfrm>
            <a:off x="457200" y="4910328"/>
            <a:ext cx="2103120" cy="192024"/>
          </a:xfrm>
          <a:prstGeom prst="rect">
            <a:avLst/>
          </a:prstGeom>
          <a:solidFill>
            <a:srgbClr val="111E30"/>
          </a:solidFill>
          <a:ln w="6350">
            <a:solidFill>
              <a:srgbClr val="1E3A5F"/>
            </a:solidFill>
            <a:prstDash val="solid"/>
          </a:ln>
        </p:spPr>
      </p:sp>
      <p:sp>
        <p:nvSpPr>
          <p:cNvPr id="97" name="Text 95"/>
          <p:cNvSpPr/>
          <p:nvPr/>
        </p:nvSpPr>
        <p:spPr>
          <a:xfrm>
            <a:off x="475488" y="4910328"/>
            <a:ext cx="2066544" cy="192024"/>
          </a:xfrm>
          <a:prstGeom prst="rect">
            <a:avLst/>
          </a:prstGeom>
          <a:noFill/>
          <a:ln/>
        </p:spPr>
        <p:txBody>
          <a:bodyPr wrap="square" lIns="0" tIns="0" rIns="0" bIns="0" rtlCol="0" anchor="ctr"/>
          <a:lstStyle/>
          <a:p>
            <a:pPr marL="0" indent="0" algn="l">
              <a:buNone/>
            </a:pPr>
            <a:r>
              <a:rPr lang="en-US" sz="800" b="1" dirty="0">
                <a:solidFill>
                  <a:srgbClr val="00B4D8"/>
                </a:solidFill>
                <a:latin typeface="Calibri" pitchFamily="34" charset="0"/>
                <a:ea typeface="Calibri" pitchFamily="34" charset="-122"/>
                <a:cs typeface="Calibri" pitchFamily="34" charset="-120"/>
              </a:rPr>
              <a:t>We use this</a:t>
            </a:r>
            <a:endParaRPr lang="en-US" sz="800" dirty="0"/>
          </a:p>
        </p:txBody>
      </p:sp>
      <p:sp>
        <p:nvSpPr>
          <p:cNvPr id="98" name="Shape 96"/>
          <p:cNvSpPr/>
          <p:nvPr/>
        </p:nvSpPr>
        <p:spPr>
          <a:xfrm>
            <a:off x="2633472" y="4910328"/>
            <a:ext cx="2103120" cy="192024"/>
          </a:xfrm>
          <a:prstGeom prst="rect">
            <a:avLst/>
          </a:prstGeom>
          <a:solidFill>
            <a:srgbClr val="111E30"/>
          </a:solidFill>
          <a:ln w="6350">
            <a:solidFill>
              <a:srgbClr val="1E3A5F"/>
            </a:solidFill>
            <a:prstDash val="solid"/>
          </a:ln>
        </p:spPr>
      </p:sp>
      <p:sp>
        <p:nvSpPr>
          <p:cNvPr id="99" name="Text 97"/>
          <p:cNvSpPr/>
          <p:nvPr/>
        </p:nvSpPr>
        <p:spPr>
          <a:xfrm>
            <a:off x="2651760" y="4910328"/>
            <a:ext cx="2066544" cy="192024"/>
          </a:xfrm>
          <a:prstGeom prst="rect">
            <a:avLst/>
          </a:prstGeom>
          <a:noFill/>
          <a:ln/>
        </p:spPr>
        <p:txBody>
          <a:bodyPr wrap="square" lIns="0" tIns="0" rIns="0" bIns="0" rtlCol="0" anchor="ctr"/>
          <a:lstStyle/>
          <a:p>
            <a:pPr marL="0" indent="0" algn="ctr">
              <a:buNone/>
            </a:pPr>
            <a:r>
              <a:rPr lang="en-US" sz="750" dirty="0">
                <a:solidFill>
                  <a:srgbClr val="22C55E"/>
                </a:solidFill>
                <a:latin typeface="Calibri" pitchFamily="34" charset="0"/>
                <a:ea typeface="Calibri" pitchFamily="34" charset="-122"/>
                <a:cs typeface="Calibri" pitchFamily="34" charset="-120"/>
              </a:rPr>
              <a:t>✅ Yes</a:t>
            </a:r>
            <a:endParaRPr lang="en-US" sz="750" dirty="0"/>
          </a:p>
        </p:txBody>
      </p:sp>
      <p:sp>
        <p:nvSpPr>
          <p:cNvPr id="100" name="Shape 98"/>
          <p:cNvSpPr/>
          <p:nvPr/>
        </p:nvSpPr>
        <p:spPr>
          <a:xfrm>
            <a:off x="4809744" y="4910328"/>
            <a:ext cx="2103120" cy="192024"/>
          </a:xfrm>
          <a:prstGeom prst="rect">
            <a:avLst/>
          </a:prstGeom>
          <a:solidFill>
            <a:srgbClr val="111E30"/>
          </a:solidFill>
          <a:ln w="6350">
            <a:solidFill>
              <a:srgbClr val="1E3A5F"/>
            </a:solidFill>
            <a:prstDash val="solid"/>
          </a:ln>
        </p:spPr>
      </p:sp>
      <p:sp>
        <p:nvSpPr>
          <p:cNvPr id="101" name="Text 99"/>
          <p:cNvSpPr/>
          <p:nvPr/>
        </p:nvSpPr>
        <p:spPr>
          <a:xfrm>
            <a:off x="4828032" y="4910328"/>
            <a:ext cx="2066544" cy="192024"/>
          </a:xfrm>
          <a:prstGeom prst="rect">
            <a:avLst/>
          </a:prstGeom>
          <a:noFill/>
          <a:ln/>
        </p:spPr>
        <p:txBody>
          <a:bodyPr wrap="square" lIns="0" tIns="0" rIns="0" bIns="0" rtlCol="0" anchor="ctr"/>
          <a:lstStyle/>
          <a:p>
            <a:pPr marL="0" indent="0" algn="ctr">
              <a:buNone/>
            </a:pPr>
            <a:r>
              <a:rPr lang="en-US" sz="750" dirty="0">
                <a:solidFill>
                  <a:srgbClr val="EF4444"/>
                </a:solidFill>
                <a:latin typeface="Calibri" pitchFamily="34" charset="0"/>
                <a:ea typeface="Calibri" pitchFamily="34" charset="-122"/>
                <a:cs typeface="Calibri" pitchFamily="34" charset="-120"/>
              </a:rPr>
              <a:t>❌ (MCP disabled for us)</a:t>
            </a:r>
            <a:endParaRPr lang="en-US" sz="750" dirty="0"/>
          </a:p>
        </p:txBody>
      </p:sp>
      <p:sp>
        <p:nvSpPr>
          <p:cNvPr id="102" name="Shape 100"/>
          <p:cNvSpPr/>
          <p:nvPr/>
        </p:nvSpPr>
        <p:spPr>
          <a:xfrm>
            <a:off x="6986016" y="4910328"/>
            <a:ext cx="2103120" cy="192024"/>
          </a:xfrm>
          <a:prstGeom prst="rect">
            <a:avLst/>
          </a:prstGeom>
          <a:solidFill>
            <a:srgbClr val="111E30"/>
          </a:solidFill>
          <a:ln w="6350">
            <a:solidFill>
              <a:srgbClr val="1E3A5F"/>
            </a:solidFill>
            <a:prstDash val="solid"/>
          </a:ln>
        </p:spPr>
      </p:sp>
      <p:sp>
        <p:nvSpPr>
          <p:cNvPr id="103" name="Text 101"/>
          <p:cNvSpPr/>
          <p:nvPr/>
        </p:nvSpPr>
        <p:spPr>
          <a:xfrm>
            <a:off x="7004304" y="4910328"/>
            <a:ext cx="2066544" cy="192024"/>
          </a:xfrm>
          <a:prstGeom prst="rect">
            <a:avLst/>
          </a:prstGeom>
          <a:noFill/>
          <a:ln/>
        </p:spPr>
        <p:txBody>
          <a:bodyPr wrap="square" lIns="0" tIns="0" rIns="0" bIns="0" rtlCol="0" anchor="ctr"/>
          <a:lstStyle/>
          <a:p>
            <a:pPr marL="0" indent="0" algn="ctr">
              <a:buNone/>
            </a:pPr>
            <a:r>
              <a:rPr lang="en-US" sz="750" dirty="0">
                <a:solidFill>
                  <a:srgbClr val="EF4444"/>
                </a:solidFill>
                <a:latin typeface="Calibri" pitchFamily="34" charset="0"/>
                <a:ea typeface="Calibri" pitchFamily="34" charset="-122"/>
                <a:cs typeface="Calibri" pitchFamily="34" charset="-120"/>
              </a:rPr>
              <a:t>❌ Not applicable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5573</Words>
  <Application>Microsoft Office PowerPoint</Application>
  <PresentationFormat>On-screen Show (16:9)</PresentationFormat>
  <Paragraphs>549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UI Validation using Playwright</dc:title>
  <dc:subject>PptxGenJS Presentation</dc:subject>
  <dc:creator>PptxGenJS</dc:creator>
  <cp:lastModifiedBy>Mahantesh Pujar</cp:lastModifiedBy>
  <cp:revision>2</cp:revision>
  <dcterms:created xsi:type="dcterms:W3CDTF">2026-06-17T10:59:55Z</dcterms:created>
  <dcterms:modified xsi:type="dcterms:W3CDTF">2026-06-17T13:08:17Z</dcterms:modified>
</cp:coreProperties>
</file>