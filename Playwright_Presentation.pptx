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587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joining today's tech session. My name is Mahantesh, I am part of the EA GenAI team. Today I am going to talk about something very practical — a problem we faced with our internal dashboards and how we solved it using Playwright. This is not a deep expert session on Playwright. Think of it as — here is a problem we had, here is what we tried, and here is what worked. I hope by the end of it some of you find it useful for your own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will cover today. We will start with the problem — why we needed this in the first place. Then I will quickly explain what Playwright is for those who are new to it. A quick comparison with Selenium since many of you in the QA space will have that question. Then I will show you what we actually built, walk through some code, show you the report output, and finally talk about where we plan to take this next. We have about 30 minutes so let us get started.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talk about the problem, let me give you quick context about the dashboard we are working with. This is the GHCP Rollout Dashboard — it tracks how the GenAI SDLC initiative is being rolled out across teams. PMs and DRs update an Excel file every day. Our Python script reads that Excel and generates a single HTML file. That HTML is then deployed to our internal server where managers and leads can view it. Simple flow — Excel in, HTML out. But this simplicity brought its own challenges.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problem. Every single day after the dashboard is generated, someone on the team had to manually open the browser, go through each tab, click each filter, check each table, verify the drawer opens correctly — and this was taking anywhere from 30 to 45 minutes every day. Different developers check differently. There is no standard. There is no record of what was checked on which day. And if the person who usually does this is on leave — it either does not get done, or someone else does it inconsistently. This is not sustainable.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Playwright? Playwright is a browser automation tool built by Microsoft. It was released in 2020 and it is completely open source and free. The simplest way to think about it is — imagine a robot sitting at your computer. You give it instructions — open this page, click this button, check if this element exists. It does it automatically and tells you pass or fail. Some of you might be thinking — is this not what Selenium does? Yes, exactly the same concept. Playwright is just newer, simpler to set up, faster, and more stable.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quickly on Playwright versus Selenium — since many of you in the QA space will have this question. Both do the same job. The key difference is setup and stability. Selenium requires you to download a separate browser driver and keep it in sync with your Chrome version. Anyone who has hit the ChromeDriver version mismatch error knows how frustrating that is. Playwright handles all of that for you. The other big advantage is auto-wait. In Selenium you often have to manually add sleep statements. Playwright waits automatically until an element is ready. This makes tests much more stable.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we built. One command — python run.py --dashboard rollout. That is all the developer runs. Behind the scenes, Playwright opens the dashboard in a real Chromium browser, runs 64 checks across 10 sections, takes 2 to 3 minutes, saves a report, and saves a screenshot. Same checks every single day. Same standard every time. No dependency on which developer is available.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what those 64 checks cover. We have 10 sections. Page load — does the dashboard open without JavaScript errors? Page structure — are all tab panels present? Overview tab — are all KPI cards visible? Then we check each of the 3 initiative tabs individually. Filters — we actually click each filter and verify the table responds. The drawer — we click the detail button and verify it opens with content. Collapsible section, timeline tab, security checks, and finally a screenshot saved as visual proof.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the actual code looks like. The pattern is very simple and consistent throughout the entire file. Every check follows the same three things — the section name, the actual check, and a description of what was checked. First example — check element exists. Second — we test interactions — click the timeline tab button, wait half a second, then check if the panel is visible. Third — how we test a filter — select Completed from the status dropdown, count the visible rows, record the result. Every single one of the 64 checks follows this exact same pattern. Anyone on this team who knows basic Python can read this, understand it, and add new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report looks like after running the validation. Each section shows every check with a green tick for pass or red cross for fail. At the bottom — one clear line. All passed — safe to deploy. Or failed — fix before deploying. The report is also saved as a text file with the timestamp. So if someone asks — was the dashboard validated on Tuesday 29th April? You can open the report file and show exactly what was checked and what passed. This is something we never had before.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fits into our daily process. Before — Excel gets updated, Python generates the HTML, then someone spends 45 minutes checking manually, and if all is well the HTML gets deployed. After — same first two steps, then one command runs, 2-3 minutes later the report says all passed, and we deploy. That is it. 45 minutes reduced to 3 minutes. And we deploy with confidence every single time because we know exactly what was checked.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talk about where we plan to take this. Right now we are in Phase 1 — the developer manually runs the command after generating the dashboard. Phase 2 is extending this to all 5 dashboards we currently have. Phase 3 is where this becomes truly automated — running as part of the daily sync pipeline. No one has to remember to run it. It runs automatically, the report goes to our Teams channel, and if anything fails the deployment is blocked. Our manager's vision is to make this an organisation-wide standard.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the key takeaways. For the QA team — Playwright is worth exploring. Two commands to set up, gentle learning curve from Selenium. For developers — one file per dashboard, same pattern throughout, easy to add new checks. For managers — 45 minutes reduced to 3 minutes with a saved record every time. For everyone — this is not a QA specialist tool. Any developer can write and maintain these checks. Low effort, high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all from my side. Thank you for your time. I am happy to take questions. If you want to explore Playwright for your own work — the documentation at playwright.dev is excellent and very beginner friendly. If you want to look at our code or contribute — reach out to me directly. I am happy to do a separate walkthrough with anyone interested.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E3A5F"/>
          </a:solidFill>
          <a:ln/>
        </p:spPr>
      </p:sp>
      <p:sp>
        <p:nvSpPr>
          <p:cNvPr id="3" name="Shape 1"/>
          <p:cNvSpPr/>
          <p:nvPr/>
        </p:nvSpPr>
        <p:spPr>
          <a:xfrm>
            <a:off x="0" y="4389120"/>
            <a:ext cx="9144000" cy="754380"/>
          </a:xfrm>
          <a:prstGeom prst="rect">
            <a:avLst/>
          </a:prstGeom>
          <a:solidFill>
            <a:srgbClr val="0D1F35"/>
          </a:solidFill>
          <a:ln/>
        </p:spPr>
      </p:sp>
      <p:sp>
        <p:nvSpPr>
          <p:cNvPr id="4" name="Shape 2"/>
          <p:cNvSpPr/>
          <p:nvPr/>
        </p:nvSpPr>
        <p:spPr>
          <a:xfrm>
            <a:off x="6858000" y="914400"/>
            <a:ext cx="3200400" cy="3200400"/>
          </a:xfrm>
          <a:prstGeom prst="ellipse">
            <a:avLst/>
          </a:prstGeom>
          <a:solidFill>
            <a:srgbClr val="00B4D8">
              <a:alpha val="12000"/>
            </a:srgbClr>
          </a:solidFill>
          <a:ln w="6350">
            <a:solidFill>
              <a:srgbClr val="00B4D8">
                <a:alpha val="40000"/>
              </a:srgbClr>
            </a:solidFill>
            <a:prstDash val="solid"/>
          </a:ln>
        </p:spPr>
      </p:sp>
      <p:sp>
        <p:nvSpPr>
          <p:cNvPr id="5" name="Text 3"/>
          <p:cNvSpPr/>
          <p:nvPr/>
        </p:nvSpPr>
        <p:spPr>
          <a:xfrm>
            <a:off x="548640" y="274320"/>
            <a:ext cx="4572000" cy="45720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Tech Session</a:t>
            </a:r>
            <a:endParaRPr lang="en-US" sz="1300" dirty="0"/>
          </a:p>
        </p:txBody>
      </p:sp>
      <p:sp>
        <p:nvSpPr>
          <p:cNvPr id="6" name="Text 4"/>
          <p:cNvSpPr/>
          <p:nvPr/>
        </p:nvSpPr>
        <p:spPr>
          <a:xfrm>
            <a:off x="548640" y="1280160"/>
            <a:ext cx="73152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Automated UI Validation</a:t>
            </a:r>
            <a:endParaRPr lang="en-US" sz="3400" dirty="0"/>
          </a:p>
        </p:txBody>
      </p:sp>
      <p:sp>
        <p:nvSpPr>
          <p:cNvPr id="7" name="Text 5"/>
          <p:cNvSpPr/>
          <p:nvPr/>
        </p:nvSpPr>
        <p:spPr>
          <a:xfrm>
            <a:off x="548640" y="2057400"/>
            <a:ext cx="7315200" cy="640080"/>
          </a:xfrm>
          <a:prstGeom prst="rect">
            <a:avLst/>
          </a:prstGeom>
          <a:noFill/>
          <a:ln/>
        </p:spPr>
        <p:txBody>
          <a:bodyPr wrap="square" lIns="0" tIns="0" rIns="0" bIns="0" rtlCol="0" anchor="ctr"/>
          <a:lstStyle/>
          <a:p>
            <a:pPr marL="0" indent="0">
              <a:buNone/>
            </a:pPr>
            <a:r>
              <a:rPr lang="en-US" sz="2800" dirty="0">
                <a:solidFill>
                  <a:srgbClr val="00B4D8"/>
                </a:solidFill>
                <a:latin typeface="Calibri" pitchFamily="34" charset="0"/>
                <a:ea typeface="Calibri" pitchFamily="34" charset="-122"/>
                <a:cs typeface="Calibri" pitchFamily="34" charset="-120"/>
              </a:rPr>
              <a:t>using Playwright</a:t>
            </a:r>
            <a:endParaRPr lang="en-US" sz="2800" dirty="0"/>
          </a:p>
        </p:txBody>
      </p:sp>
      <p:sp>
        <p:nvSpPr>
          <p:cNvPr id="8" name="Text 6"/>
          <p:cNvSpPr/>
          <p:nvPr/>
        </p:nvSpPr>
        <p:spPr>
          <a:xfrm>
            <a:off x="548640" y="2834640"/>
            <a:ext cx="68580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GHCP Rollout Dashboard — A Practical Approach</a:t>
            </a:r>
            <a:endParaRPr lang="en-US" sz="1300" dirty="0"/>
          </a:p>
        </p:txBody>
      </p:sp>
      <p:sp>
        <p:nvSpPr>
          <p:cNvPr id="9" name="Text 7"/>
          <p:cNvSpPr/>
          <p:nvPr/>
        </p:nvSpPr>
        <p:spPr>
          <a:xfrm>
            <a:off x="548640" y="4480560"/>
            <a:ext cx="73152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Mahantesh  |  EA GenAI Team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We Will Cover Today</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30352" y="1014984"/>
            <a:ext cx="420624" cy="420624"/>
          </a:xfrm>
          <a:prstGeom prst="roundRect">
            <a:avLst>
              <a:gd name="adj" fmla="val 10870"/>
            </a:avLst>
          </a:prstGeom>
          <a:solidFill>
            <a:srgbClr val="00B4D8"/>
          </a:solidFill>
          <a:ln/>
        </p:spPr>
      </p:sp>
      <p:sp>
        <p:nvSpPr>
          <p:cNvPr id="8" name="Text 6"/>
          <p:cNvSpPr/>
          <p:nvPr/>
        </p:nvSpPr>
        <p:spPr>
          <a:xfrm>
            <a:off x="530352" y="101498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051560" y="96012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Problem Statement</a:t>
            </a:r>
            <a:endParaRPr lang="en-US" sz="1200" dirty="0"/>
          </a:p>
        </p:txBody>
      </p:sp>
      <p:sp>
        <p:nvSpPr>
          <p:cNvPr id="10" name="Text 8"/>
          <p:cNvSpPr/>
          <p:nvPr/>
        </p:nvSpPr>
        <p:spPr>
          <a:xfrm>
            <a:off x="1051560" y="127101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What problem we had with our dashboards</a:t>
            </a:r>
            <a:endParaRPr lang="en-US" sz="950" dirty="0"/>
          </a:p>
        </p:txBody>
      </p:sp>
      <p:sp>
        <p:nvSpPr>
          <p:cNvPr id="11" name="Shape 9"/>
          <p:cNvSpPr/>
          <p:nvPr/>
        </p:nvSpPr>
        <p:spPr>
          <a:xfrm>
            <a:off x="457200" y="182880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12" name="Shape 10"/>
          <p:cNvSpPr/>
          <p:nvPr/>
        </p:nvSpPr>
        <p:spPr>
          <a:xfrm>
            <a:off x="530352" y="1975104"/>
            <a:ext cx="420624" cy="420624"/>
          </a:xfrm>
          <a:prstGeom prst="roundRect">
            <a:avLst>
              <a:gd name="adj" fmla="val 10870"/>
            </a:avLst>
          </a:prstGeom>
          <a:solidFill>
            <a:srgbClr val="00B4D8"/>
          </a:solidFill>
          <a:ln/>
        </p:spPr>
      </p:sp>
      <p:sp>
        <p:nvSpPr>
          <p:cNvPr id="13" name="Text 11"/>
          <p:cNvSpPr/>
          <p:nvPr/>
        </p:nvSpPr>
        <p:spPr>
          <a:xfrm>
            <a:off x="530352" y="19751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1051560" y="192024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What is Playwright</a:t>
            </a:r>
            <a:endParaRPr lang="en-US" sz="1200" dirty="0"/>
          </a:p>
        </p:txBody>
      </p:sp>
      <p:sp>
        <p:nvSpPr>
          <p:cNvPr id="15" name="Text 13"/>
          <p:cNvSpPr/>
          <p:nvPr/>
        </p:nvSpPr>
        <p:spPr>
          <a:xfrm>
            <a:off x="1051560" y="223113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Simple explanation — no jargon</a:t>
            </a:r>
            <a:endParaRPr lang="en-US" sz="950" dirty="0"/>
          </a:p>
        </p:txBody>
      </p:sp>
      <p:sp>
        <p:nvSpPr>
          <p:cNvPr id="16" name="Shape 14"/>
          <p:cNvSpPr/>
          <p:nvPr/>
        </p:nvSpPr>
        <p:spPr>
          <a:xfrm>
            <a:off x="457200" y="278892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17" name="Shape 15"/>
          <p:cNvSpPr/>
          <p:nvPr/>
        </p:nvSpPr>
        <p:spPr>
          <a:xfrm>
            <a:off x="530352" y="2935224"/>
            <a:ext cx="420624" cy="420624"/>
          </a:xfrm>
          <a:prstGeom prst="roundRect">
            <a:avLst>
              <a:gd name="adj" fmla="val 10870"/>
            </a:avLst>
          </a:prstGeom>
          <a:solidFill>
            <a:srgbClr val="00B4D8"/>
          </a:solidFill>
          <a:ln/>
        </p:spPr>
      </p:sp>
      <p:sp>
        <p:nvSpPr>
          <p:cNvPr id="18" name="Text 16"/>
          <p:cNvSpPr/>
          <p:nvPr/>
        </p:nvSpPr>
        <p:spPr>
          <a:xfrm>
            <a:off x="530352" y="29352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051560" y="288036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Playwright vs Selenium</a:t>
            </a:r>
            <a:endParaRPr lang="en-US" sz="1200" dirty="0"/>
          </a:p>
        </p:txBody>
      </p:sp>
      <p:sp>
        <p:nvSpPr>
          <p:cNvPr id="20" name="Text 18"/>
          <p:cNvSpPr/>
          <p:nvPr/>
        </p:nvSpPr>
        <p:spPr>
          <a:xfrm>
            <a:off x="1051560" y="319125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Quick comparison for QA team</a:t>
            </a:r>
            <a:endParaRPr lang="en-US" sz="950" dirty="0"/>
          </a:p>
        </p:txBody>
      </p:sp>
      <p:sp>
        <p:nvSpPr>
          <p:cNvPr id="21" name="Shape 19"/>
          <p:cNvSpPr/>
          <p:nvPr/>
        </p:nvSpPr>
        <p:spPr>
          <a:xfrm>
            <a:off x="457200" y="374904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2" name="Shape 20"/>
          <p:cNvSpPr/>
          <p:nvPr/>
        </p:nvSpPr>
        <p:spPr>
          <a:xfrm>
            <a:off x="530352" y="3895344"/>
            <a:ext cx="420624" cy="420624"/>
          </a:xfrm>
          <a:prstGeom prst="roundRect">
            <a:avLst>
              <a:gd name="adj" fmla="val 10870"/>
            </a:avLst>
          </a:prstGeom>
          <a:solidFill>
            <a:srgbClr val="00B4D8"/>
          </a:solidFill>
          <a:ln/>
        </p:spPr>
      </p:sp>
      <p:sp>
        <p:nvSpPr>
          <p:cNvPr id="23" name="Text 21"/>
          <p:cNvSpPr/>
          <p:nvPr/>
        </p:nvSpPr>
        <p:spPr>
          <a:xfrm>
            <a:off x="530352" y="389534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1051560" y="384048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What We Built</a:t>
            </a:r>
            <a:endParaRPr lang="en-US" sz="1200" dirty="0"/>
          </a:p>
        </p:txBody>
      </p:sp>
      <p:sp>
        <p:nvSpPr>
          <p:cNvPr id="25" name="Text 23"/>
          <p:cNvSpPr/>
          <p:nvPr/>
        </p:nvSpPr>
        <p:spPr>
          <a:xfrm>
            <a:off x="1051560" y="415137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Our solution — one command, 64 checks</a:t>
            </a:r>
            <a:endParaRPr lang="en-US" sz="950" dirty="0"/>
          </a:p>
        </p:txBody>
      </p:sp>
      <p:sp>
        <p:nvSpPr>
          <p:cNvPr id="26" name="Shape 24"/>
          <p:cNvSpPr/>
          <p:nvPr/>
        </p:nvSpPr>
        <p:spPr>
          <a:xfrm>
            <a:off x="4846320" y="86868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7" name="Shape 25"/>
          <p:cNvSpPr/>
          <p:nvPr/>
        </p:nvSpPr>
        <p:spPr>
          <a:xfrm>
            <a:off x="4919472" y="1014984"/>
            <a:ext cx="420624" cy="420624"/>
          </a:xfrm>
          <a:prstGeom prst="roundRect">
            <a:avLst>
              <a:gd name="adj" fmla="val 10870"/>
            </a:avLst>
          </a:prstGeom>
          <a:solidFill>
            <a:srgbClr val="00B4D8"/>
          </a:solidFill>
          <a:ln/>
        </p:spPr>
      </p:sp>
      <p:sp>
        <p:nvSpPr>
          <p:cNvPr id="28" name="Text 26"/>
          <p:cNvSpPr/>
          <p:nvPr/>
        </p:nvSpPr>
        <p:spPr>
          <a:xfrm>
            <a:off x="4919472" y="101498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9" name="Text 27"/>
          <p:cNvSpPr/>
          <p:nvPr/>
        </p:nvSpPr>
        <p:spPr>
          <a:xfrm>
            <a:off x="5440680" y="96012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Code Walkthrough</a:t>
            </a:r>
            <a:endParaRPr lang="en-US" sz="1200" dirty="0"/>
          </a:p>
        </p:txBody>
      </p:sp>
      <p:sp>
        <p:nvSpPr>
          <p:cNvPr id="30" name="Text 28"/>
          <p:cNvSpPr/>
          <p:nvPr/>
        </p:nvSpPr>
        <p:spPr>
          <a:xfrm>
            <a:off x="5440680" y="127101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See how the checks are written</a:t>
            </a:r>
            <a:endParaRPr lang="en-US" sz="950" dirty="0"/>
          </a:p>
        </p:txBody>
      </p:sp>
      <p:sp>
        <p:nvSpPr>
          <p:cNvPr id="31" name="Shape 29"/>
          <p:cNvSpPr/>
          <p:nvPr/>
        </p:nvSpPr>
        <p:spPr>
          <a:xfrm>
            <a:off x="4846320" y="182880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2" name="Shape 30"/>
          <p:cNvSpPr/>
          <p:nvPr/>
        </p:nvSpPr>
        <p:spPr>
          <a:xfrm>
            <a:off x="4919472" y="1975104"/>
            <a:ext cx="420624" cy="420624"/>
          </a:xfrm>
          <a:prstGeom prst="roundRect">
            <a:avLst>
              <a:gd name="adj" fmla="val 10870"/>
            </a:avLst>
          </a:prstGeom>
          <a:solidFill>
            <a:srgbClr val="00B4D8"/>
          </a:solidFill>
          <a:ln/>
        </p:spPr>
      </p:sp>
      <p:sp>
        <p:nvSpPr>
          <p:cNvPr id="33" name="Text 31"/>
          <p:cNvSpPr/>
          <p:nvPr/>
        </p:nvSpPr>
        <p:spPr>
          <a:xfrm>
            <a:off x="4919472" y="19751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4" name="Text 32"/>
          <p:cNvSpPr/>
          <p:nvPr/>
        </p:nvSpPr>
        <p:spPr>
          <a:xfrm>
            <a:off x="5440680" y="192024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Report Output</a:t>
            </a:r>
            <a:endParaRPr lang="en-US" sz="1200" dirty="0"/>
          </a:p>
        </p:txBody>
      </p:sp>
      <p:sp>
        <p:nvSpPr>
          <p:cNvPr id="35" name="Text 33"/>
          <p:cNvSpPr/>
          <p:nvPr/>
        </p:nvSpPr>
        <p:spPr>
          <a:xfrm>
            <a:off x="5440680" y="223113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What pass and fail looks like</a:t>
            </a:r>
            <a:endParaRPr lang="en-US" sz="950" dirty="0"/>
          </a:p>
        </p:txBody>
      </p:sp>
      <p:sp>
        <p:nvSpPr>
          <p:cNvPr id="36" name="Shape 34"/>
          <p:cNvSpPr/>
          <p:nvPr/>
        </p:nvSpPr>
        <p:spPr>
          <a:xfrm>
            <a:off x="4846320" y="278892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7" name="Shape 35"/>
          <p:cNvSpPr/>
          <p:nvPr/>
        </p:nvSpPr>
        <p:spPr>
          <a:xfrm>
            <a:off x="4919472" y="2935224"/>
            <a:ext cx="420624" cy="420624"/>
          </a:xfrm>
          <a:prstGeom prst="roundRect">
            <a:avLst>
              <a:gd name="adj" fmla="val 10870"/>
            </a:avLst>
          </a:prstGeom>
          <a:solidFill>
            <a:srgbClr val="00B4D8"/>
          </a:solidFill>
          <a:ln/>
        </p:spPr>
      </p:sp>
      <p:sp>
        <p:nvSpPr>
          <p:cNvPr id="38" name="Text 36"/>
          <p:cNvSpPr/>
          <p:nvPr/>
        </p:nvSpPr>
        <p:spPr>
          <a:xfrm>
            <a:off x="4919472" y="29352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9" name="Text 37"/>
          <p:cNvSpPr/>
          <p:nvPr/>
        </p:nvSpPr>
        <p:spPr>
          <a:xfrm>
            <a:off x="5440680" y="288036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Future Plan</a:t>
            </a:r>
            <a:endParaRPr lang="en-US" sz="1200" dirty="0"/>
          </a:p>
        </p:txBody>
      </p:sp>
      <p:sp>
        <p:nvSpPr>
          <p:cNvPr id="40" name="Text 38"/>
          <p:cNvSpPr/>
          <p:nvPr/>
        </p:nvSpPr>
        <p:spPr>
          <a:xfrm>
            <a:off x="5440680" y="319125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Where we are taking this next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CONTEXT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GHCP Rollout Dashboard — What Is It?</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1737360" cy="1234440"/>
          </a:xfrm>
          <a:prstGeom prst="roundRect">
            <a:avLst>
              <a:gd name="adj" fmla="val 7407"/>
            </a:avLst>
          </a:prstGeom>
          <a:solidFill>
            <a:srgbClr val="1A2A4A"/>
          </a:solidFill>
          <a:ln/>
        </p:spPr>
      </p:sp>
      <p:sp>
        <p:nvSpPr>
          <p:cNvPr id="7" name="Text 5"/>
          <p:cNvSpPr/>
          <p:nvPr/>
        </p:nvSpPr>
        <p:spPr>
          <a:xfrm>
            <a:off x="457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Excel File</a:t>
            </a:r>
            <a:endParaRPr lang="en-US" sz="1100" dirty="0"/>
          </a:p>
        </p:txBody>
      </p:sp>
      <p:sp>
        <p:nvSpPr>
          <p:cNvPr id="8" name="Text 6"/>
          <p:cNvSpPr/>
          <p:nvPr/>
        </p:nvSpPr>
        <p:spPr>
          <a:xfrm>
            <a:off x="457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Updated by</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PMs &amp; DRs daily</a:t>
            </a:r>
            <a:endParaRPr lang="en-US" sz="900" dirty="0"/>
          </a:p>
        </p:txBody>
      </p:sp>
      <p:sp>
        <p:nvSpPr>
          <p:cNvPr id="9" name="Shape 7"/>
          <p:cNvSpPr/>
          <p:nvPr/>
        </p:nvSpPr>
        <p:spPr>
          <a:xfrm>
            <a:off x="2743200" y="868680"/>
            <a:ext cx="1737360" cy="1234440"/>
          </a:xfrm>
          <a:prstGeom prst="roundRect">
            <a:avLst>
              <a:gd name="adj" fmla="val 7407"/>
            </a:avLst>
          </a:prstGeom>
          <a:solidFill>
            <a:srgbClr val="1A2A4A"/>
          </a:solidFill>
          <a:ln/>
        </p:spPr>
      </p:sp>
      <p:sp>
        <p:nvSpPr>
          <p:cNvPr id="10" name="Text 8"/>
          <p:cNvSpPr/>
          <p:nvPr/>
        </p:nvSpPr>
        <p:spPr>
          <a:xfrm>
            <a:off x="2743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Python Script</a:t>
            </a:r>
            <a:endParaRPr lang="en-US" sz="1100" dirty="0"/>
          </a:p>
        </p:txBody>
      </p:sp>
      <p:sp>
        <p:nvSpPr>
          <p:cNvPr id="11" name="Text 9"/>
          <p:cNvSpPr/>
          <p:nvPr/>
        </p:nvSpPr>
        <p:spPr>
          <a:xfrm>
            <a:off x="2743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Reads Excel,</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generates HTML</a:t>
            </a:r>
            <a:endParaRPr lang="en-US" sz="900" dirty="0"/>
          </a:p>
        </p:txBody>
      </p:sp>
      <p:sp>
        <p:nvSpPr>
          <p:cNvPr id="12" name="Shape 10"/>
          <p:cNvSpPr/>
          <p:nvPr/>
        </p:nvSpPr>
        <p:spPr>
          <a:xfrm>
            <a:off x="5029200" y="868680"/>
            <a:ext cx="1737360" cy="1234440"/>
          </a:xfrm>
          <a:prstGeom prst="roundRect">
            <a:avLst>
              <a:gd name="adj" fmla="val 7407"/>
            </a:avLst>
          </a:prstGeom>
          <a:solidFill>
            <a:srgbClr val="1A2A4A"/>
          </a:solidFill>
          <a:ln/>
        </p:spPr>
      </p:sp>
      <p:sp>
        <p:nvSpPr>
          <p:cNvPr id="13" name="Text 11"/>
          <p:cNvSpPr/>
          <p:nvPr/>
        </p:nvSpPr>
        <p:spPr>
          <a:xfrm>
            <a:off x="5029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HTML Dashboard</a:t>
            </a:r>
            <a:endParaRPr lang="en-US" sz="1100" dirty="0"/>
          </a:p>
        </p:txBody>
      </p:sp>
      <p:sp>
        <p:nvSpPr>
          <p:cNvPr id="14" name="Text 12"/>
          <p:cNvSpPr/>
          <p:nvPr/>
        </p:nvSpPr>
        <p:spPr>
          <a:xfrm>
            <a:off x="5029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Deployed to</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internal server</a:t>
            </a:r>
            <a:endParaRPr lang="en-US" sz="900" dirty="0"/>
          </a:p>
        </p:txBody>
      </p:sp>
      <p:sp>
        <p:nvSpPr>
          <p:cNvPr id="15" name="Shape 13"/>
          <p:cNvSpPr/>
          <p:nvPr/>
        </p:nvSpPr>
        <p:spPr>
          <a:xfrm>
            <a:off x="7315200" y="868680"/>
            <a:ext cx="1737360" cy="1234440"/>
          </a:xfrm>
          <a:prstGeom prst="roundRect">
            <a:avLst>
              <a:gd name="adj" fmla="val 7407"/>
            </a:avLst>
          </a:prstGeom>
          <a:solidFill>
            <a:srgbClr val="1A2A4A"/>
          </a:solidFill>
          <a:ln/>
        </p:spPr>
      </p:sp>
      <p:sp>
        <p:nvSpPr>
          <p:cNvPr id="16" name="Text 14"/>
          <p:cNvSpPr/>
          <p:nvPr/>
        </p:nvSpPr>
        <p:spPr>
          <a:xfrm>
            <a:off x="7315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Managers / DRs</a:t>
            </a:r>
            <a:endParaRPr lang="en-US" sz="1100" dirty="0"/>
          </a:p>
        </p:txBody>
      </p:sp>
      <p:sp>
        <p:nvSpPr>
          <p:cNvPr id="17" name="Text 15"/>
          <p:cNvSpPr/>
          <p:nvPr/>
        </p:nvSpPr>
        <p:spPr>
          <a:xfrm>
            <a:off x="7315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View on browser</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daily</a:t>
            </a:r>
            <a:endParaRPr lang="en-US" sz="900" dirty="0"/>
          </a:p>
        </p:txBody>
      </p:sp>
      <p:sp>
        <p:nvSpPr>
          <p:cNvPr id="18" name="Shape 16"/>
          <p:cNvSpPr/>
          <p:nvPr/>
        </p:nvSpPr>
        <p:spPr>
          <a:xfrm>
            <a:off x="2057400" y="1485900"/>
            <a:ext cx="274320" cy="0"/>
          </a:xfrm>
          <a:prstGeom prst="line">
            <a:avLst/>
          </a:prstGeom>
          <a:noFill/>
          <a:ln w="25400">
            <a:solidFill>
              <a:srgbClr val="00B4D8"/>
            </a:solidFill>
            <a:prstDash val="solid"/>
          </a:ln>
        </p:spPr>
      </p:sp>
      <p:sp>
        <p:nvSpPr>
          <p:cNvPr id="19" name="Text 17"/>
          <p:cNvSpPr/>
          <p:nvPr/>
        </p:nvSpPr>
        <p:spPr>
          <a:xfrm>
            <a:off x="2075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343400" y="1485900"/>
            <a:ext cx="274320" cy="0"/>
          </a:xfrm>
          <a:prstGeom prst="line">
            <a:avLst/>
          </a:prstGeom>
          <a:noFill/>
          <a:ln w="25400">
            <a:solidFill>
              <a:srgbClr val="00B4D8"/>
            </a:solidFill>
            <a:prstDash val="solid"/>
          </a:ln>
        </p:spPr>
      </p:sp>
      <p:sp>
        <p:nvSpPr>
          <p:cNvPr id="21" name="Text 19"/>
          <p:cNvSpPr/>
          <p:nvPr/>
        </p:nvSpPr>
        <p:spPr>
          <a:xfrm>
            <a:off x="4361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629400" y="1485900"/>
            <a:ext cx="274320" cy="0"/>
          </a:xfrm>
          <a:prstGeom prst="line">
            <a:avLst/>
          </a:prstGeom>
          <a:noFill/>
          <a:ln w="25400">
            <a:solidFill>
              <a:srgbClr val="00B4D8"/>
            </a:solidFill>
            <a:prstDash val="solid"/>
          </a:ln>
        </p:spPr>
      </p:sp>
      <p:sp>
        <p:nvSpPr>
          <p:cNvPr id="23" name="Text 21"/>
          <p:cNvSpPr/>
          <p:nvPr/>
        </p:nvSpPr>
        <p:spPr>
          <a:xfrm>
            <a:off x="6647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457200" y="242316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5" name="Text 23"/>
          <p:cNvSpPr/>
          <p:nvPr/>
        </p:nvSpPr>
        <p:spPr>
          <a:xfrm>
            <a:off x="640080" y="251460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Purpose</a:t>
            </a:r>
            <a:endParaRPr lang="en-US" sz="1000" dirty="0"/>
          </a:p>
        </p:txBody>
      </p:sp>
      <p:sp>
        <p:nvSpPr>
          <p:cNvPr id="26" name="Text 24"/>
          <p:cNvSpPr/>
          <p:nvPr/>
        </p:nvSpPr>
        <p:spPr>
          <a:xfrm>
            <a:off x="640080" y="280720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Track GenAI SDLC Phase 1 rollout across all teams</a:t>
            </a:r>
            <a:endParaRPr lang="en-US" sz="1000" dirty="0"/>
          </a:p>
        </p:txBody>
      </p:sp>
      <p:sp>
        <p:nvSpPr>
          <p:cNvPr id="27" name="Shape 25"/>
          <p:cNvSpPr/>
          <p:nvPr/>
        </p:nvSpPr>
        <p:spPr>
          <a:xfrm>
            <a:off x="457200" y="342900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8" name="Text 26"/>
          <p:cNvSpPr/>
          <p:nvPr/>
        </p:nvSpPr>
        <p:spPr>
          <a:xfrm>
            <a:off x="640080" y="352044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Data Source</a:t>
            </a:r>
            <a:endParaRPr lang="en-US" sz="1000" dirty="0"/>
          </a:p>
        </p:txBody>
      </p:sp>
      <p:sp>
        <p:nvSpPr>
          <p:cNvPr id="29" name="Text 27"/>
          <p:cNvSpPr/>
          <p:nvPr/>
        </p:nvSpPr>
        <p:spPr>
          <a:xfrm>
            <a:off x="640080" y="381304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Excel file — updated by PMs and DRs</a:t>
            </a:r>
            <a:endParaRPr lang="en-US" sz="1000" dirty="0"/>
          </a:p>
        </p:txBody>
      </p:sp>
      <p:sp>
        <p:nvSpPr>
          <p:cNvPr id="30" name="Shape 28"/>
          <p:cNvSpPr/>
          <p:nvPr/>
        </p:nvSpPr>
        <p:spPr>
          <a:xfrm>
            <a:off x="4754880" y="242316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1" name="Text 29"/>
          <p:cNvSpPr/>
          <p:nvPr/>
        </p:nvSpPr>
        <p:spPr>
          <a:xfrm>
            <a:off x="4937760" y="251460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Refresh</a:t>
            </a:r>
            <a:endParaRPr lang="en-US" sz="1000" dirty="0"/>
          </a:p>
        </p:txBody>
      </p:sp>
      <p:sp>
        <p:nvSpPr>
          <p:cNvPr id="32" name="Text 30"/>
          <p:cNvSpPr/>
          <p:nvPr/>
        </p:nvSpPr>
        <p:spPr>
          <a:xfrm>
            <a:off x="4937760" y="280720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Daily — Python reads Excel, generates HTML</a:t>
            </a:r>
            <a:endParaRPr lang="en-US" sz="1000" dirty="0"/>
          </a:p>
        </p:txBody>
      </p:sp>
      <p:sp>
        <p:nvSpPr>
          <p:cNvPr id="33" name="Shape 31"/>
          <p:cNvSpPr/>
          <p:nvPr/>
        </p:nvSpPr>
        <p:spPr>
          <a:xfrm>
            <a:off x="4754880" y="342900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4" name="Text 32"/>
          <p:cNvSpPr/>
          <p:nvPr/>
        </p:nvSpPr>
        <p:spPr>
          <a:xfrm>
            <a:off x="4937760" y="352044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Users</a:t>
            </a:r>
            <a:endParaRPr lang="en-US" sz="1000" dirty="0"/>
          </a:p>
        </p:txBody>
      </p:sp>
      <p:sp>
        <p:nvSpPr>
          <p:cNvPr id="35" name="Text 33"/>
          <p:cNvSpPr/>
          <p:nvPr/>
        </p:nvSpPr>
        <p:spPr>
          <a:xfrm>
            <a:off x="4937760" y="381304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Managers, DRs, PMs, EA Team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PROBLEM</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 With Manual Validation</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Text 4"/>
          <p:cNvSpPr/>
          <p:nvPr/>
        </p:nvSpPr>
        <p:spPr>
          <a:xfrm>
            <a:off x="457200" y="914400"/>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914400" y="914400"/>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open browser — check each tab opens</a:t>
            </a:r>
            <a:endParaRPr lang="en-US" sz="1200" dirty="0"/>
          </a:p>
        </p:txBody>
      </p:sp>
      <p:sp>
        <p:nvSpPr>
          <p:cNvPr id="8" name="Text 6"/>
          <p:cNvSpPr/>
          <p:nvPr/>
        </p:nvSpPr>
        <p:spPr>
          <a:xfrm>
            <a:off x="457200" y="1536192"/>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14400" y="1536192"/>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click every filter — verify it responds</a:t>
            </a:r>
            <a:endParaRPr lang="en-US" sz="1200" dirty="0"/>
          </a:p>
        </p:txBody>
      </p:sp>
      <p:sp>
        <p:nvSpPr>
          <p:cNvPr id="10" name="Text 8"/>
          <p:cNvSpPr/>
          <p:nvPr/>
        </p:nvSpPr>
        <p:spPr>
          <a:xfrm>
            <a:off x="457200" y="2157984"/>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14400" y="2157984"/>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click detail buttons — verify drawer opens</a:t>
            </a:r>
            <a:endParaRPr lang="en-US" sz="1200" dirty="0"/>
          </a:p>
        </p:txBody>
      </p:sp>
      <p:sp>
        <p:nvSpPr>
          <p:cNvPr id="12" name="Text 10"/>
          <p:cNvSpPr/>
          <p:nvPr/>
        </p:nvSpPr>
        <p:spPr>
          <a:xfrm>
            <a:off x="457200" y="2779776"/>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14400" y="2779776"/>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check all tables have data rows</a:t>
            </a:r>
            <a:endParaRPr lang="en-US" sz="1200" dirty="0"/>
          </a:p>
        </p:txBody>
      </p:sp>
      <p:sp>
        <p:nvSpPr>
          <p:cNvPr id="14" name="Text 12"/>
          <p:cNvSpPr/>
          <p:nvPr/>
        </p:nvSpPr>
        <p:spPr>
          <a:xfrm>
            <a:off x="457200" y="3401568"/>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14400" y="3401568"/>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verify no broken UI elements</a:t>
            </a:r>
            <a:endParaRPr lang="en-US" sz="1200" dirty="0"/>
          </a:p>
        </p:txBody>
      </p:sp>
      <p:sp>
        <p:nvSpPr>
          <p:cNvPr id="16" name="Text 14"/>
          <p:cNvSpPr/>
          <p:nvPr/>
        </p:nvSpPr>
        <p:spPr>
          <a:xfrm>
            <a:off x="457200" y="4023360"/>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914400" y="4023360"/>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check security headers are present</a:t>
            </a:r>
            <a:endParaRPr lang="en-US" sz="1200" dirty="0"/>
          </a:p>
        </p:txBody>
      </p:sp>
      <p:sp>
        <p:nvSpPr>
          <p:cNvPr id="18" name="Shape 16"/>
          <p:cNvSpPr/>
          <p:nvPr/>
        </p:nvSpPr>
        <p:spPr>
          <a:xfrm>
            <a:off x="6217920" y="914400"/>
            <a:ext cx="2468880" cy="3749040"/>
          </a:xfrm>
          <a:prstGeom prst="roundRect">
            <a:avLst>
              <a:gd name="adj" fmla="val 3704"/>
            </a:avLst>
          </a:prstGeom>
          <a:solidFill>
            <a:srgbClr val="0D1F35"/>
          </a:solidFill>
          <a:ln/>
        </p:spPr>
      </p:sp>
      <p:sp>
        <p:nvSpPr>
          <p:cNvPr id="19" name="Text 17"/>
          <p:cNvSpPr/>
          <p:nvPr/>
        </p:nvSpPr>
        <p:spPr>
          <a:xfrm>
            <a:off x="6309360" y="10058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45 mins</a:t>
            </a:r>
            <a:endParaRPr lang="en-US" sz="2200" dirty="0"/>
          </a:p>
        </p:txBody>
      </p:sp>
      <p:sp>
        <p:nvSpPr>
          <p:cNvPr id="20" name="Text 18"/>
          <p:cNvSpPr/>
          <p:nvPr/>
        </p:nvSpPr>
        <p:spPr>
          <a:xfrm>
            <a:off x="6309360" y="14447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Every day</a:t>
            </a:r>
            <a:endParaRPr lang="en-US" sz="1000" dirty="0"/>
          </a:p>
        </p:txBody>
      </p:sp>
      <p:sp>
        <p:nvSpPr>
          <p:cNvPr id="21" name="Text 19"/>
          <p:cNvSpPr/>
          <p:nvPr/>
        </p:nvSpPr>
        <p:spPr>
          <a:xfrm>
            <a:off x="6309360" y="19202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No record</a:t>
            </a:r>
            <a:endParaRPr lang="en-US" sz="2200" dirty="0"/>
          </a:p>
        </p:txBody>
      </p:sp>
      <p:sp>
        <p:nvSpPr>
          <p:cNvPr id="22" name="Text 20"/>
          <p:cNvSpPr/>
          <p:nvPr/>
        </p:nvSpPr>
        <p:spPr>
          <a:xfrm>
            <a:off x="6309360" y="23591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What was checked</a:t>
            </a:r>
            <a:endParaRPr lang="en-US" sz="1000" dirty="0"/>
          </a:p>
        </p:txBody>
      </p:sp>
      <p:sp>
        <p:nvSpPr>
          <p:cNvPr id="23" name="Text 21"/>
          <p:cNvSpPr/>
          <p:nvPr/>
        </p:nvSpPr>
        <p:spPr>
          <a:xfrm>
            <a:off x="6309360" y="28346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Different</a:t>
            </a:r>
            <a:endParaRPr lang="en-US" sz="2200" dirty="0"/>
          </a:p>
        </p:txBody>
      </p:sp>
      <p:sp>
        <p:nvSpPr>
          <p:cNvPr id="24" name="Text 22"/>
          <p:cNvSpPr/>
          <p:nvPr/>
        </p:nvSpPr>
        <p:spPr>
          <a:xfrm>
            <a:off x="6309360" y="32735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Every developer</a:t>
            </a:r>
            <a:endParaRPr lang="en-US" sz="1000" dirty="0"/>
          </a:p>
        </p:txBody>
      </p:sp>
      <p:sp>
        <p:nvSpPr>
          <p:cNvPr id="25" name="Text 23"/>
          <p:cNvSpPr/>
          <p:nvPr/>
        </p:nvSpPr>
        <p:spPr>
          <a:xfrm>
            <a:off x="6309360" y="37490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1 person</a:t>
            </a:r>
            <a:endParaRPr lang="en-US" sz="2200" dirty="0"/>
          </a:p>
        </p:txBody>
      </p:sp>
      <p:sp>
        <p:nvSpPr>
          <p:cNvPr id="26" name="Text 24"/>
          <p:cNvSpPr/>
          <p:nvPr/>
        </p:nvSpPr>
        <p:spPr>
          <a:xfrm>
            <a:off x="6309360" y="41879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Dependency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PLAYWRIGHT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Is Playwright?</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8229600" cy="1005840"/>
          </a:xfrm>
          <a:prstGeom prst="roundRect">
            <a:avLst>
              <a:gd name="adj" fmla="val 9091"/>
            </a:avLst>
          </a:prstGeom>
          <a:solidFill>
            <a:srgbClr val="1A2A4A"/>
          </a:solidFill>
          <a:ln/>
        </p:spPr>
      </p:sp>
      <p:sp>
        <p:nvSpPr>
          <p:cNvPr id="7" name="Text 5"/>
          <p:cNvSpPr/>
          <p:nvPr/>
        </p:nvSpPr>
        <p:spPr>
          <a:xfrm>
            <a:off x="640080" y="868680"/>
            <a:ext cx="78638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browser automation tool by Microsoft that controls a real browser automatically.</a:t>
            </a:r>
            <a:endParaRPr lang="en-US" sz="1400" dirty="0"/>
          </a:p>
        </p:txBody>
      </p:sp>
      <p:sp>
        <p:nvSpPr>
          <p:cNvPr id="8" name="Text 6"/>
          <p:cNvSpPr/>
          <p:nvPr/>
        </p:nvSpPr>
        <p:spPr>
          <a:xfrm>
            <a:off x="640080" y="1371600"/>
            <a:ext cx="7863840" cy="365760"/>
          </a:xfrm>
          <a:prstGeom prst="rect">
            <a:avLst/>
          </a:prstGeom>
          <a:noFill/>
          <a:ln/>
        </p:spPr>
        <p:txBody>
          <a:bodyPr wrap="square" lIns="0" tIns="0" rIns="0" bIns="0"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Think of it as a robot that opens a browser, clicks things, checks if they work, and tells you pass or fail.</a:t>
            </a:r>
            <a:endParaRPr lang="en-US" sz="1100" dirty="0"/>
          </a:p>
        </p:txBody>
      </p:sp>
      <p:sp>
        <p:nvSpPr>
          <p:cNvPr id="9" name="Shape 7"/>
          <p:cNvSpPr/>
          <p:nvPr/>
        </p:nvSpPr>
        <p:spPr>
          <a:xfrm>
            <a:off x="457200" y="2011680"/>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0" name="Text 8"/>
          <p:cNvSpPr/>
          <p:nvPr/>
        </p:nvSpPr>
        <p:spPr>
          <a:xfrm>
            <a:off x="594360" y="2194560"/>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32688" y="2103120"/>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By Microsoft</a:t>
            </a:r>
            <a:endParaRPr lang="en-US" sz="1100" dirty="0"/>
          </a:p>
        </p:txBody>
      </p:sp>
      <p:sp>
        <p:nvSpPr>
          <p:cNvPr id="12" name="Text 10"/>
          <p:cNvSpPr/>
          <p:nvPr/>
        </p:nvSpPr>
        <p:spPr>
          <a:xfrm>
            <a:off x="932688" y="2395728"/>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Released 2020 — actively developed</a:t>
            </a:r>
            <a:endParaRPr lang="en-US" sz="950" dirty="0"/>
          </a:p>
        </p:txBody>
      </p:sp>
      <p:sp>
        <p:nvSpPr>
          <p:cNvPr id="13" name="Shape 11"/>
          <p:cNvSpPr/>
          <p:nvPr/>
        </p:nvSpPr>
        <p:spPr>
          <a:xfrm>
            <a:off x="457200" y="2907792"/>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4" name="Text 12"/>
          <p:cNvSpPr/>
          <p:nvPr/>
        </p:nvSpPr>
        <p:spPr>
          <a:xfrm>
            <a:off x="594360" y="3090672"/>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32688" y="2999232"/>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Free &amp; Open Source</a:t>
            </a:r>
            <a:endParaRPr lang="en-US" sz="1100" dirty="0"/>
          </a:p>
        </p:txBody>
      </p:sp>
      <p:sp>
        <p:nvSpPr>
          <p:cNvPr id="16" name="Text 14"/>
          <p:cNvSpPr/>
          <p:nvPr/>
        </p:nvSpPr>
        <p:spPr>
          <a:xfrm>
            <a:off x="932688" y="3291840"/>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No licence cost — works on any machine</a:t>
            </a:r>
            <a:endParaRPr lang="en-US" sz="950" dirty="0"/>
          </a:p>
        </p:txBody>
      </p:sp>
      <p:sp>
        <p:nvSpPr>
          <p:cNvPr id="17" name="Shape 15"/>
          <p:cNvSpPr/>
          <p:nvPr/>
        </p:nvSpPr>
        <p:spPr>
          <a:xfrm>
            <a:off x="457200" y="3803904"/>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8" name="Text 16"/>
          <p:cNvSpPr/>
          <p:nvPr/>
        </p:nvSpPr>
        <p:spPr>
          <a:xfrm>
            <a:off x="594360" y="3986784"/>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932688" y="3895344"/>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Python support</a:t>
            </a:r>
            <a:endParaRPr lang="en-US" sz="1100" dirty="0"/>
          </a:p>
        </p:txBody>
      </p:sp>
      <p:sp>
        <p:nvSpPr>
          <p:cNvPr id="20" name="Text 18"/>
          <p:cNvSpPr/>
          <p:nvPr/>
        </p:nvSpPr>
        <p:spPr>
          <a:xfrm>
            <a:off x="932688" y="4187952"/>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pip install playwright — two commands to set up</a:t>
            </a:r>
            <a:endParaRPr lang="en-US" sz="950" dirty="0"/>
          </a:p>
        </p:txBody>
      </p:sp>
      <p:sp>
        <p:nvSpPr>
          <p:cNvPr id="21" name="Shape 19"/>
          <p:cNvSpPr/>
          <p:nvPr/>
        </p:nvSpPr>
        <p:spPr>
          <a:xfrm>
            <a:off x="4709160" y="2011680"/>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22" name="Text 20"/>
          <p:cNvSpPr/>
          <p:nvPr/>
        </p:nvSpPr>
        <p:spPr>
          <a:xfrm>
            <a:off x="4846320" y="2194560"/>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5184648" y="2103120"/>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Real browser</a:t>
            </a:r>
            <a:endParaRPr lang="en-US" sz="1100" dirty="0"/>
          </a:p>
        </p:txBody>
      </p:sp>
      <p:sp>
        <p:nvSpPr>
          <p:cNvPr id="24" name="Text 22"/>
          <p:cNvSpPr/>
          <p:nvPr/>
        </p:nvSpPr>
        <p:spPr>
          <a:xfrm>
            <a:off x="5184648" y="2395728"/>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Uses actual Chromium — not a simulation</a:t>
            </a:r>
            <a:endParaRPr lang="en-US" sz="950" dirty="0"/>
          </a:p>
        </p:txBody>
      </p:sp>
      <p:sp>
        <p:nvSpPr>
          <p:cNvPr id="25" name="Shape 23"/>
          <p:cNvSpPr/>
          <p:nvPr/>
        </p:nvSpPr>
        <p:spPr>
          <a:xfrm>
            <a:off x="4709160" y="2907792"/>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26" name="Text 24"/>
          <p:cNvSpPr/>
          <p:nvPr/>
        </p:nvSpPr>
        <p:spPr>
          <a:xfrm>
            <a:off x="4846320" y="3090672"/>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5184648" y="2999232"/>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Auto-wait</a:t>
            </a:r>
            <a:endParaRPr lang="en-US" sz="1100" dirty="0"/>
          </a:p>
        </p:txBody>
      </p:sp>
      <p:sp>
        <p:nvSpPr>
          <p:cNvPr id="28" name="Text 26"/>
          <p:cNvSpPr/>
          <p:nvPr/>
        </p:nvSpPr>
        <p:spPr>
          <a:xfrm>
            <a:off x="5184648" y="3291840"/>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Waits for elements automatically — no manual sleep()</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COMPARISON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Playwright vs Selenium</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22960"/>
            <a:ext cx="2560320" cy="457200"/>
          </a:xfrm>
          <a:prstGeom prst="roundRect">
            <a:avLst>
              <a:gd name="adj" fmla="val 10000"/>
            </a:avLst>
          </a:prstGeom>
          <a:solidFill>
            <a:srgbClr val="1A2A4A"/>
          </a:solidFill>
          <a:ln/>
        </p:spPr>
      </p:sp>
      <p:sp>
        <p:nvSpPr>
          <p:cNvPr id="7" name="Text 5"/>
          <p:cNvSpPr/>
          <p:nvPr/>
        </p:nvSpPr>
        <p:spPr>
          <a:xfrm>
            <a:off x="457200" y="822960"/>
            <a:ext cx="2560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8" name="Shape 6"/>
          <p:cNvSpPr/>
          <p:nvPr/>
        </p:nvSpPr>
        <p:spPr>
          <a:xfrm>
            <a:off x="3200400" y="822960"/>
            <a:ext cx="2743200" cy="457200"/>
          </a:xfrm>
          <a:prstGeom prst="roundRect">
            <a:avLst>
              <a:gd name="adj" fmla="val 10000"/>
            </a:avLst>
          </a:prstGeom>
          <a:solidFill>
            <a:srgbClr val="E53E3E"/>
          </a:solidFill>
          <a:ln/>
        </p:spPr>
      </p:sp>
      <p:sp>
        <p:nvSpPr>
          <p:cNvPr id="9" name="Text 7"/>
          <p:cNvSpPr/>
          <p:nvPr/>
        </p:nvSpPr>
        <p:spPr>
          <a:xfrm>
            <a:off x="3200400" y="822960"/>
            <a:ext cx="2743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Selenium</a:t>
            </a:r>
            <a:endParaRPr lang="en-US" sz="1200" dirty="0"/>
          </a:p>
        </p:txBody>
      </p:sp>
      <p:sp>
        <p:nvSpPr>
          <p:cNvPr id="10" name="Shape 8"/>
          <p:cNvSpPr/>
          <p:nvPr/>
        </p:nvSpPr>
        <p:spPr>
          <a:xfrm>
            <a:off x="6172200" y="822960"/>
            <a:ext cx="2743200" cy="457200"/>
          </a:xfrm>
          <a:prstGeom prst="roundRect">
            <a:avLst>
              <a:gd name="adj" fmla="val 10000"/>
            </a:avLst>
          </a:prstGeom>
          <a:solidFill>
            <a:srgbClr val="0D9488"/>
          </a:solidFill>
          <a:ln/>
        </p:spPr>
      </p:sp>
      <p:sp>
        <p:nvSpPr>
          <p:cNvPr id="11" name="Text 9"/>
          <p:cNvSpPr/>
          <p:nvPr/>
        </p:nvSpPr>
        <p:spPr>
          <a:xfrm>
            <a:off x="6172200" y="822960"/>
            <a:ext cx="2743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Playwright</a:t>
            </a:r>
            <a:endParaRPr lang="en-US" sz="1200" dirty="0"/>
          </a:p>
        </p:txBody>
      </p:sp>
      <p:sp>
        <p:nvSpPr>
          <p:cNvPr id="12" name="Shape 10"/>
          <p:cNvSpPr/>
          <p:nvPr/>
        </p:nvSpPr>
        <p:spPr>
          <a:xfrm>
            <a:off x="457200" y="1417320"/>
            <a:ext cx="8458200" cy="621792"/>
          </a:xfrm>
          <a:prstGeom prst="rect">
            <a:avLst/>
          </a:prstGeom>
          <a:solidFill>
            <a:srgbClr val="F8FAFC"/>
          </a:solidFill>
          <a:ln w="6350">
            <a:solidFill>
              <a:srgbClr val="E2E8F0"/>
            </a:solidFill>
            <a:prstDash val="solid"/>
          </a:ln>
        </p:spPr>
      </p:sp>
      <p:sp>
        <p:nvSpPr>
          <p:cNvPr id="13" name="Text 11"/>
          <p:cNvSpPr/>
          <p:nvPr/>
        </p:nvSpPr>
        <p:spPr>
          <a:xfrm>
            <a:off x="594360" y="1581912"/>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Setup</a:t>
            </a:r>
            <a:endParaRPr lang="en-US" sz="1100" dirty="0"/>
          </a:p>
        </p:txBody>
      </p:sp>
      <p:sp>
        <p:nvSpPr>
          <p:cNvPr id="14" name="Text 12"/>
          <p:cNvSpPr/>
          <p:nvPr/>
        </p:nvSpPr>
        <p:spPr>
          <a:xfrm>
            <a:off x="3246120" y="1581912"/>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Complex — manual driver per browser</a:t>
            </a:r>
            <a:endParaRPr lang="en-US" sz="1000" dirty="0"/>
          </a:p>
        </p:txBody>
      </p:sp>
      <p:sp>
        <p:nvSpPr>
          <p:cNvPr id="15" name="Text 13"/>
          <p:cNvSpPr/>
          <p:nvPr/>
        </p:nvSpPr>
        <p:spPr>
          <a:xfrm>
            <a:off x="6217920" y="1581912"/>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2 commands — done</a:t>
            </a:r>
            <a:endParaRPr lang="en-US" sz="1000" dirty="0"/>
          </a:p>
        </p:txBody>
      </p:sp>
      <p:sp>
        <p:nvSpPr>
          <p:cNvPr id="16" name="Shape 14"/>
          <p:cNvSpPr/>
          <p:nvPr/>
        </p:nvSpPr>
        <p:spPr>
          <a:xfrm>
            <a:off x="457200" y="2121408"/>
            <a:ext cx="8458200" cy="621792"/>
          </a:xfrm>
          <a:prstGeom prst="rect">
            <a:avLst/>
          </a:prstGeom>
          <a:solidFill>
            <a:srgbClr val="FFFFFF"/>
          </a:solidFill>
          <a:ln w="6350">
            <a:solidFill>
              <a:srgbClr val="E2E8F0"/>
            </a:solidFill>
            <a:prstDash val="solid"/>
          </a:ln>
        </p:spPr>
      </p:sp>
      <p:sp>
        <p:nvSpPr>
          <p:cNvPr id="17" name="Text 15"/>
          <p:cNvSpPr/>
          <p:nvPr/>
        </p:nvSpPr>
        <p:spPr>
          <a:xfrm>
            <a:off x="594360" y="2286000"/>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Auto-wait</a:t>
            </a:r>
            <a:endParaRPr lang="en-US" sz="1100" dirty="0"/>
          </a:p>
        </p:txBody>
      </p:sp>
      <p:sp>
        <p:nvSpPr>
          <p:cNvPr id="18" name="Text 16"/>
          <p:cNvSpPr/>
          <p:nvPr/>
        </p:nvSpPr>
        <p:spPr>
          <a:xfrm>
            <a:off x="3246120" y="2286000"/>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Manual sleep() everywhere</a:t>
            </a:r>
            <a:endParaRPr lang="en-US" sz="1000" dirty="0"/>
          </a:p>
        </p:txBody>
      </p:sp>
      <p:sp>
        <p:nvSpPr>
          <p:cNvPr id="19" name="Text 17"/>
          <p:cNvSpPr/>
          <p:nvPr/>
        </p:nvSpPr>
        <p:spPr>
          <a:xfrm>
            <a:off x="6217920" y="2286000"/>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Built in automatically</a:t>
            </a:r>
            <a:endParaRPr lang="en-US" sz="1000" dirty="0"/>
          </a:p>
        </p:txBody>
      </p:sp>
      <p:sp>
        <p:nvSpPr>
          <p:cNvPr id="20" name="Shape 18"/>
          <p:cNvSpPr/>
          <p:nvPr/>
        </p:nvSpPr>
        <p:spPr>
          <a:xfrm>
            <a:off x="457200" y="2825496"/>
            <a:ext cx="8458200" cy="621792"/>
          </a:xfrm>
          <a:prstGeom prst="rect">
            <a:avLst/>
          </a:prstGeom>
          <a:solidFill>
            <a:srgbClr val="F8FAFC"/>
          </a:solidFill>
          <a:ln w="6350">
            <a:solidFill>
              <a:srgbClr val="E2E8F0"/>
            </a:solidFill>
            <a:prstDash val="solid"/>
          </a:ln>
        </p:spPr>
      </p:sp>
      <p:sp>
        <p:nvSpPr>
          <p:cNvPr id="21" name="Text 19"/>
          <p:cNvSpPr/>
          <p:nvPr/>
        </p:nvSpPr>
        <p:spPr>
          <a:xfrm>
            <a:off x="594360" y="2990088"/>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Stability</a:t>
            </a:r>
            <a:endParaRPr lang="en-US" sz="1100" dirty="0"/>
          </a:p>
        </p:txBody>
      </p:sp>
      <p:sp>
        <p:nvSpPr>
          <p:cNvPr id="22" name="Text 20"/>
          <p:cNvSpPr/>
          <p:nvPr/>
        </p:nvSpPr>
        <p:spPr>
          <a:xfrm>
            <a:off x="3246120" y="2990088"/>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Flaky tests common</a:t>
            </a:r>
            <a:endParaRPr lang="en-US" sz="1000" dirty="0"/>
          </a:p>
        </p:txBody>
      </p:sp>
      <p:sp>
        <p:nvSpPr>
          <p:cNvPr id="23" name="Text 21"/>
          <p:cNvSpPr/>
          <p:nvPr/>
        </p:nvSpPr>
        <p:spPr>
          <a:xfrm>
            <a:off x="6217920" y="2990088"/>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More reliable</a:t>
            </a:r>
            <a:endParaRPr lang="en-US" sz="1000" dirty="0"/>
          </a:p>
        </p:txBody>
      </p:sp>
      <p:sp>
        <p:nvSpPr>
          <p:cNvPr id="24" name="Shape 22"/>
          <p:cNvSpPr/>
          <p:nvPr/>
        </p:nvSpPr>
        <p:spPr>
          <a:xfrm>
            <a:off x="457200" y="3529584"/>
            <a:ext cx="8458200" cy="621792"/>
          </a:xfrm>
          <a:prstGeom prst="rect">
            <a:avLst/>
          </a:prstGeom>
          <a:solidFill>
            <a:srgbClr val="FFFFFF"/>
          </a:solidFill>
          <a:ln w="6350">
            <a:solidFill>
              <a:srgbClr val="E2E8F0"/>
            </a:solidFill>
            <a:prstDash val="solid"/>
          </a:ln>
        </p:spPr>
      </p:sp>
      <p:sp>
        <p:nvSpPr>
          <p:cNvPr id="25" name="Text 23"/>
          <p:cNvSpPr/>
          <p:nvPr/>
        </p:nvSpPr>
        <p:spPr>
          <a:xfrm>
            <a:off x="594360" y="3694176"/>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Speed</a:t>
            </a:r>
            <a:endParaRPr lang="en-US" sz="1100" dirty="0"/>
          </a:p>
        </p:txBody>
      </p:sp>
      <p:sp>
        <p:nvSpPr>
          <p:cNvPr id="26" name="Text 24"/>
          <p:cNvSpPr/>
          <p:nvPr/>
        </p:nvSpPr>
        <p:spPr>
          <a:xfrm>
            <a:off x="3246120" y="3694176"/>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Slower</a:t>
            </a:r>
            <a:endParaRPr lang="en-US" sz="1000" dirty="0"/>
          </a:p>
        </p:txBody>
      </p:sp>
      <p:sp>
        <p:nvSpPr>
          <p:cNvPr id="27" name="Text 25"/>
          <p:cNvSpPr/>
          <p:nvPr/>
        </p:nvSpPr>
        <p:spPr>
          <a:xfrm>
            <a:off x="6217920" y="3694176"/>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Faster</a:t>
            </a:r>
            <a:endParaRPr lang="en-US" sz="1000" dirty="0"/>
          </a:p>
        </p:txBody>
      </p:sp>
      <p:sp>
        <p:nvSpPr>
          <p:cNvPr id="28" name="Shape 26"/>
          <p:cNvSpPr/>
          <p:nvPr/>
        </p:nvSpPr>
        <p:spPr>
          <a:xfrm>
            <a:off x="457200" y="4233672"/>
            <a:ext cx="8458200" cy="621792"/>
          </a:xfrm>
          <a:prstGeom prst="rect">
            <a:avLst/>
          </a:prstGeom>
          <a:solidFill>
            <a:srgbClr val="F8FAFC"/>
          </a:solidFill>
          <a:ln w="6350">
            <a:solidFill>
              <a:srgbClr val="E2E8F0"/>
            </a:solidFill>
            <a:prstDash val="solid"/>
          </a:ln>
        </p:spPr>
      </p:sp>
      <p:sp>
        <p:nvSpPr>
          <p:cNvPr id="29" name="Text 27"/>
          <p:cNvSpPr/>
          <p:nvPr/>
        </p:nvSpPr>
        <p:spPr>
          <a:xfrm>
            <a:off x="594360" y="4398264"/>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Age</a:t>
            </a:r>
            <a:endParaRPr lang="en-US" sz="1100" dirty="0"/>
          </a:p>
        </p:txBody>
      </p:sp>
      <p:sp>
        <p:nvSpPr>
          <p:cNvPr id="30" name="Text 28"/>
          <p:cNvSpPr/>
          <p:nvPr/>
        </p:nvSpPr>
        <p:spPr>
          <a:xfrm>
            <a:off x="3246120" y="4398264"/>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2004 — 20+ years</a:t>
            </a:r>
            <a:endParaRPr lang="en-US" sz="1000" dirty="0"/>
          </a:p>
        </p:txBody>
      </p:sp>
      <p:sp>
        <p:nvSpPr>
          <p:cNvPr id="31" name="Text 29"/>
          <p:cNvSpPr/>
          <p:nvPr/>
        </p:nvSpPr>
        <p:spPr>
          <a:xfrm>
            <a:off x="6217920" y="4398264"/>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2020 — modern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8229600" cy="777240"/>
          </a:xfrm>
          <a:prstGeom prst="roundRect">
            <a:avLst>
              <a:gd name="adj" fmla="val 11765"/>
            </a:avLst>
          </a:prstGeom>
          <a:solidFill>
            <a:srgbClr val="0D1F35"/>
          </a:solidFill>
          <a:ln/>
        </p:spPr>
      </p:sp>
      <p:sp>
        <p:nvSpPr>
          <p:cNvPr id="7" name="Text 5"/>
          <p:cNvSpPr/>
          <p:nvPr/>
        </p:nvSpPr>
        <p:spPr>
          <a:xfrm>
            <a:off x="640080" y="960120"/>
            <a:ext cx="7863840" cy="502920"/>
          </a:xfrm>
          <a:prstGeom prst="rect">
            <a:avLst/>
          </a:prstGeom>
          <a:noFill/>
          <a:ln/>
        </p:spPr>
        <p:txBody>
          <a:bodyPr wrap="square" lIns="0" tIns="0" rIns="0" bIns="0" rtlCol="0" anchor="ctr"/>
          <a:lstStyle/>
          <a:p>
            <a:pPr marL="0" indent="0" algn="ctr">
              <a:buNone/>
            </a:pPr>
            <a:r>
              <a:rPr lang="en-US" sz="1800" b="1" dirty="0">
                <a:solidFill>
                  <a:srgbClr val="22C55E"/>
                </a:solidFill>
                <a:latin typeface="Courier New" pitchFamily="34" charset="0"/>
                <a:ea typeface="Courier New" pitchFamily="34" charset="-122"/>
                <a:cs typeface="Courier New" pitchFamily="34" charset="-120"/>
              </a:rPr>
              <a:t>python run.py --dashboard rollout</a:t>
            </a:r>
            <a:endParaRPr lang="en-US" sz="1800" dirty="0"/>
          </a:p>
        </p:txBody>
      </p:sp>
      <p:sp>
        <p:nvSpPr>
          <p:cNvPr id="8" name="Text 6"/>
          <p:cNvSpPr/>
          <p:nvPr/>
        </p:nvSpPr>
        <p:spPr>
          <a:xfrm>
            <a:off x="457200" y="1755648"/>
            <a:ext cx="8229600" cy="320040"/>
          </a:xfrm>
          <a:prstGeom prst="rect">
            <a:avLst/>
          </a:prstGeom>
          <a:noFill/>
          <a:ln/>
        </p:spPr>
        <p:txBody>
          <a:bodyPr wrap="square" lIns="0" tIns="0" rIns="0" bIns="0" rtlCol="0" anchor="ctr"/>
          <a:lstStyle/>
          <a:p>
            <a:pPr marL="0" indent="0" algn="ctr">
              <a:buNone/>
            </a:pPr>
            <a:r>
              <a:rPr lang="en-US" sz="1200" i="1" dirty="0">
                <a:solidFill>
                  <a:srgbClr val="CBD5E1"/>
                </a:solidFill>
                <a:latin typeface="Calibri" pitchFamily="34" charset="0"/>
                <a:ea typeface="Calibri" pitchFamily="34" charset="-122"/>
                <a:cs typeface="Calibri" pitchFamily="34" charset="-120"/>
              </a:rPr>
              <a:t>One command replaces 45 minutes of manual work</a:t>
            </a:r>
            <a:endParaRPr lang="en-US" sz="1200" dirty="0"/>
          </a:p>
        </p:txBody>
      </p:sp>
      <p:sp>
        <p:nvSpPr>
          <p:cNvPr id="9" name="Shape 7"/>
          <p:cNvSpPr/>
          <p:nvPr/>
        </p:nvSpPr>
        <p:spPr>
          <a:xfrm>
            <a:off x="457200" y="2240280"/>
            <a:ext cx="2560320" cy="896112"/>
          </a:xfrm>
          <a:prstGeom prst="roundRect">
            <a:avLst>
              <a:gd name="adj" fmla="val 8163"/>
            </a:avLst>
          </a:prstGeom>
          <a:solidFill>
            <a:srgbClr val="0D1F35"/>
          </a:solidFill>
          <a:ln/>
        </p:spPr>
      </p:sp>
      <p:sp>
        <p:nvSpPr>
          <p:cNvPr id="10" name="Shape 8"/>
          <p:cNvSpPr/>
          <p:nvPr/>
        </p:nvSpPr>
        <p:spPr>
          <a:xfrm>
            <a:off x="594360" y="2423160"/>
            <a:ext cx="347472" cy="347472"/>
          </a:xfrm>
          <a:prstGeom prst="ellipse">
            <a:avLst/>
          </a:prstGeom>
          <a:solidFill>
            <a:srgbClr val="00B4D8"/>
          </a:solidFill>
          <a:ln/>
        </p:spPr>
      </p:sp>
      <p:sp>
        <p:nvSpPr>
          <p:cNvPr id="11" name="Text 9"/>
          <p:cNvSpPr/>
          <p:nvPr/>
        </p:nvSpPr>
        <p:spPr>
          <a:xfrm>
            <a:off x="59436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p:nvPr/>
        </p:nvSpPr>
        <p:spPr>
          <a:xfrm>
            <a:off x="102412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Opens</a:t>
            </a:r>
            <a:endParaRPr lang="en-US" sz="1200" dirty="0"/>
          </a:p>
        </p:txBody>
      </p:sp>
      <p:sp>
        <p:nvSpPr>
          <p:cNvPr id="13" name="Text 11"/>
          <p:cNvSpPr/>
          <p:nvPr/>
        </p:nvSpPr>
        <p:spPr>
          <a:xfrm>
            <a:off x="102412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Real Chromium browser silently</a:t>
            </a:r>
            <a:endParaRPr lang="en-US" sz="950" dirty="0"/>
          </a:p>
        </p:txBody>
      </p:sp>
      <p:sp>
        <p:nvSpPr>
          <p:cNvPr id="14" name="Shape 12"/>
          <p:cNvSpPr/>
          <p:nvPr/>
        </p:nvSpPr>
        <p:spPr>
          <a:xfrm>
            <a:off x="3291840" y="2240280"/>
            <a:ext cx="2560320" cy="896112"/>
          </a:xfrm>
          <a:prstGeom prst="roundRect">
            <a:avLst>
              <a:gd name="adj" fmla="val 8163"/>
            </a:avLst>
          </a:prstGeom>
          <a:solidFill>
            <a:srgbClr val="0D1F35"/>
          </a:solidFill>
          <a:ln/>
        </p:spPr>
      </p:sp>
      <p:sp>
        <p:nvSpPr>
          <p:cNvPr id="15" name="Shape 13"/>
          <p:cNvSpPr/>
          <p:nvPr/>
        </p:nvSpPr>
        <p:spPr>
          <a:xfrm>
            <a:off x="3429000" y="2423160"/>
            <a:ext cx="347472" cy="347472"/>
          </a:xfrm>
          <a:prstGeom prst="ellipse">
            <a:avLst/>
          </a:prstGeom>
          <a:solidFill>
            <a:srgbClr val="00B4D8"/>
          </a:solidFill>
          <a:ln/>
        </p:spPr>
      </p:sp>
      <p:sp>
        <p:nvSpPr>
          <p:cNvPr id="16" name="Text 14"/>
          <p:cNvSpPr/>
          <p:nvPr/>
        </p:nvSpPr>
        <p:spPr>
          <a:xfrm>
            <a:off x="342900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385876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Runs</a:t>
            </a:r>
            <a:endParaRPr lang="en-US" sz="1200" dirty="0"/>
          </a:p>
        </p:txBody>
      </p:sp>
      <p:sp>
        <p:nvSpPr>
          <p:cNvPr id="18" name="Text 16"/>
          <p:cNvSpPr/>
          <p:nvPr/>
        </p:nvSpPr>
        <p:spPr>
          <a:xfrm>
            <a:off x="385876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64 checks across 10 sections</a:t>
            </a:r>
            <a:endParaRPr lang="en-US" sz="950" dirty="0"/>
          </a:p>
        </p:txBody>
      </p:sp>
      <p:sp>
        <p:nvSpPr>
          <p:cNvPr id="19" name="Shape 17"/>
          <p:cNvSpPr/>
          <p:nvPr/>
        </p:nvSpPr>
        <p:spPr>
          <a:xfrm>
            <a:off x="6126480" y="2240280"/>
            <a:ext cx="2560320" cy="896112"/>
          </a:xfrm>
          <a:prstGeom prst="roundRect">
            <a:avLst>
              <a:gd name="adj" fmla="val 8163"/>
            </a:avLst>
          </a:prstGeom>
          <a:solidFill>
            <a:srgbClr val="0D1F35"/>
          </a:solidFill>
          <a:ln/>
        </p:spPr>
      </p:sp>
      <p:sp>
        <p:nvSpPr>
          <p:cNvPr id="20" name="Shape 18"/>
          <p:cNvSpPr/>
          <p:nvPr/>
        </p:nvSpPr>
        <p:spPr>
          <a:xfrm>
            <a:off x="6263640" y="2423160"/>
            <a:ext cx="347472" cy="347472"/>
          </a:xfrm>
          <a:prstGeom prst="ellipse">
            <a:avLst/>
          </a:prstGeom>
          <a:solidFill>
            <a:srgbClr val="00B4D8"/>
          </a:solidFill>
          <a:ln/>
        </p:spPr>
      </p:sp>
      <p:sp>
        <p:nvSpPr>
          <p:cNvPr id="21" name="Text 19"/>
          <p:cNvSpPr/>
          <p:nvPr/>
        </p:nvSpPr>
        <p:spPr>
          <a:xfrm>
            <a:off x="626364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669340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Takes</a:t>
            </a:r>
            <a:endParaRPr lang="en-US" sz="1200" dirty="0"/>
          </a:p>
        </p:txBody>
      </p:sp>
      <p:sp>
        <p:nvSpPr>
          <p:cNvPr id="23" name="Text 21"/>
          <p:cNvSpPr/>
          <p:nvPr/>
        </p:nvSpPr>
        <p:spPr>
          <a:xfrm>
            <a:off x="669340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2-3 minutes total</a:t>
            </a:r>
            <a:endParaRPr lang="en-US" sz="950" dirty="0"/>
          </a:p>
        </p:txBody>
      </p:sp>
      <p:sp>
        <p:nvSpPr>
          <p:cNvPr id="24" name="Shape 22"/>
          <p:cNvSpPr/>
          <p:nvPr/>
        </p:nvSpPr>
        <p:spPr>
          <a:xfrm>
            <a:off x="1463040" y="3337560"/>
            <a:ext cx="2560320" cy="896112"/>
          </a:xfrm>
          <a:prstGeom prst="roundRect">
            <a:avLst>
              <a:gd name="adj" fmla="val 8163"/>
            </a:avLst>
          </a:prstGeom>
          <a:solidFill>
            <a:srgbClr val="0D1F35"/>
          </a:solidFill>
          <a:ln/>
        </p:spPr>
      </p:sp>
      <p:sp>
        <p:nvSpPr>
          <p:cNvPr id="25" name="Shape 23"/>
          <p:cNvSpPr/>
          <p:nvPr/>
        </p:nvSpPr>
        <p:spPr>
          <a:xfrm>
            <a:off x="1600200" y="3520440"/>
            <a:ext cx="347472" cy="347472"/>
          </a:xfrm>
          <a:prstGeom prst="ellipse">
            <a:avLst/>
          </a:prstGeom>
          <a:solidFill>
            <a:srgbClr val="00B4D8"/>
          </a:solidFill>
          <a:ln/>
        </p:spPr>
      </p:sp>
      <p:sp>
        <p:nvSpPr>
          <p:cNvPr id="26" name="Text 24"/>
          <p:cNvSpPr/>
          <p:nvPr/>
        </p:nvSpPr>
        <p:spPr>
          <a:xfrm>
            <a:off x="1600200" y="35204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2029968" y="347472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Saves</a:t>
            </a:r>
            <a:endParaRPr lang="en-US" sz="1200" dirty="0"/>
          </a:p>
        </p:txBody>
      </p:sp>
      <p:sp>
        <p:nvSpPr>
          <p:cNvPr id="28" name="Text 26"/>
          <p:cNvSpPr/>
          <p:nvPr/>
        </p:nvSpPr>
        <p:spPr>
          <a:xfrm>
            <a:off x="2029968" y="379476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Pass/fail report with timestamp</a:t>
            </a:r>
            <a:endParaRPr lang="en-US" sz="950" dirty="0"/>
          </a:p>
        </p:txBody>
      </p:sp>
      <p:sp>
        <p:nvSpPr>
          <p:cNvPr id="29" name="Shape 27"/>
          <p:cNvSpPr/>
          <p:nvPr/>
        </p:nvSpPr>
        <p:spPr>
          <a:xfrm>
            <a:off x="4297680" y="3337560"/>
            <a:ext cx="2560320" cy="896112"/>
          </a:xfrm>
          <a:prstGeom prst="roundRect">
            <a:avLst>
              <a:gd name="adj" fmla="val 8163"/>
            </a:avLst>
          </a:prstGeom>
          <a:solidFill>
            <a:srgbClr val="0D1F35"/>
          </a:solidFill>
          <a:ln/>
        </p:spPr>
      </p:sp>
      <p:sp>
        <p:nvSpPr>
          <p:cNvPr id="30" name="Shape 28"/>
          <p:cNvSpPr/>
          <p:nvPr/>
        </p:nvSpPr>
        <p:spPr>
          <a:xfrm>
            <a:off x="4434840" y="3520440"/>
            <a:ext cx="347472" cy="347472"/>
          </a:xfrm>
          <a:prstGeom prst="ellipse">
            <a:avLst/>
          </a:prstGeom>
          <a:solidFill>
            <a:srgbClr val="00B4D8"/>
          </a:solidFill>
          <a:ln/>
        </p:spPr>
      </p:sp>
      <p:sp>
        <p:nvSpPr>
          <p:cNvPr id="31" name="Text 29"/>
          <p:cNvSpPr/>
          <p:nvPr/>
        </p:nvSpPr>
        <p:spPr>
          <a:xfrm>
            <a:off x="4434840" y="35204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4864608" y="347472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Saves</a:t>
            </a:r>
            <a:endParaRPr lang="en-US" sz="1200" dirty="0"/>
          </a:p>
        </p:txBody>
      </p:sp>
      <p:sp>
        <p:nvSpPr>
          <p:cNvPr id="33" name="Text 31"/>
          <p:cNvSpPr/>
          <p:nvPr/>
        </p:nvSpPr>
        <p:spPr>
          <a:xfrm>
            <a:off x="4864608" y="379476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Screenshot as visual proof</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64 CHECKS</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10 Sections — Everything That Gets Checked</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48640" y="1033272"/>
            <a:ext cx="402336" cy="402336"/>
          </a:xfrm>
          <a:prstGeom prst="roundRect">
            <a:avLst>
              <a:gd name="adj" fmla="val 11364"/>
            </a:avLst>
          </a:prstGeom>
          <a:solidFill>
            <a:srgbClr val="028090"/>
          </a:solidFill>
          <a:ln/>
        </p:spPr>
      </p:sp>
      <p:sp>
        <p:nvSpPr>
          <p:cNvPr id="8" name="Text 6"/>
          <p:cNvSpPr/>
          <p:nvPr/>
        </p:nvSpPr>
        <p:spPr>
          <a:xfrm>
            <a:off x="548640" y="10332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1051560" y="9601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Page Load</a:t>
            </a:r>
            <a:endParaRPr lang="en-US" sz="1100" dirty="0"/>
          </a:p>
        </p:txBody>
      </p:sp>
      <p:sp>
        <p:nvSpPr>
          <p:cNvPr id="10" name="Text 8"/>
          <p:cNvSpPr/>
          <p:nvPr/>
        </p:nvSpPr>
        <p:spPr>
          <a:xfrm>
            <a:off x="1051560" y="12344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No JS errors, page has content, title present</a:t>
            </a:r>
            <a:endParaRPr lang="en-US" sz="900" dirty="0"/>
          </a:p>
        </p:txBody>
      </p:sp>
      <p:sp>
        <p:nvSpPr>
          <p:cNvPr id="11" name="Shape 9"/>
          <p:cNvSpPr/>
          <p:nvPr/>
        </p:nvSpPr>
        <p:spPr>
          <a:xfrm>
            <a:off x="4754880" y="8686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12" name="Shape 10"/>
          <p:cNvSpPr/>
          <p:nvPr/>
        </p:nvSpPr>
        <p:spPr>
          <a:xfrm>
            <a:off x="4846320" y="1033272"/>
            <a:ext cx="402336" cy="402336"/>
          </a:xfrm>
          <a:prstGeom prst="roundRect">
            <a:avLst>
              <a:gd name="adj" fmla="val 11364"/>
            </a:avLst>
          </a:prstGeom>
          <a:solidFill>
            <a:srgbClr val="0D9488"/>
          </a:solidFill>
          <a:ln/>
        </p:spPr>
      </p:sp>
      <p:sp>
        <p:nvSpPr>
          <p:cNvPr id="13" name="Text 11"/>
          <p:cNvSpPr/>
          <p:nvPr/>
        </p:nvSpPr>
        <p:spPr>
          <a:xfrm>
            <a:off x="4846320" y="10332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5349240" y="9601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Page Structure</a:t>
            </a:r>
            <a:endParaRPr lang="en-US" sz="1100" dirty="0"/>
          </a:p>
        </p:txBody>
      </p:sp>
      <p:sp>
        <p:nvSpPr>
          <p:cNvPr id="15" name="Text 13"/>
          <p:cNvSpPr/>
          <p:nvPr/>
        </p:nvSpPr>
        <p:spPr>
          <a:xfrm>
            <a:off x="5349240" y="12344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All tab panels exist, CSP tag, overview active</a:t>
            </a:r>
            <a:endParaRPr lang="en-US" sz="900" dirty="0"/>
          </a:p>
        </p:txBody>
      </p:sp>
      <p:sp>
        <p:nvSpPr>
          <p:cNvPr id="16" name="Shape 14"/>
          <p:cNvSpPr/>
          <p:nvPr/>
        </p:nvSpPr>
        <p:spPr>
          <a:xfrm>
            <a:off x="457200" y="17830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17" name="Shape 15"/>
          <p:cNvSpPr/>
          <p:nvPr/>
        </p:nvSpPr>
        <p:spPr>
          <a:xfrm>
            <a:off x="548640" y="1947672"/>
            <a:ext cx="402336" cy="402336"/>
          </a:xfrm>
          <a:prstGeom prst="roundRect">
            <a:avLst>
              <a:gd name="adj" fmla="val 11364"/>
            </a:avLst>
          </a:prstGeom>
          <a:solidFill>
            <a:srgbClr val="22C55E"/>
          </a:solidFill>
          <a:ln/>
        </p:spPr>
      </p:sp>
      <p:sp>
        <p:nvSpPr>
          <p:cNvPr id="18" name="Text 16"/>
          <p:cNvSpPr/>
          <p:nvPr/>
        </p:nvSpPr>
        <p:spPr>
          <a:xfrm>
            <a:off x="548640" y="19476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p:nvPr/>
        </p:nvSpPr>
        <p:spPr>
          <a:xfrm>
            <a:off x="1051560" y="18745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Overview Tab</a:t>
            </a:r>
            <a:endParaRPr lang="en-US" sz="1100" dirty="0"/>
          </a:p>
        </p:txBody>
      </p:sp>
      <p:sp>
        <p:nvSpPr>
          <p:cNvPr id="20" name="Text 18"/>
          <p:cNvSpPr/>
          <p:nvPr/>
        </p:nvSpPr>
        <p:spPr>
          <a:xfrm>
            <a:off x="1051560" y="21488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7 KPI cards, initiative cards, donut charts</a:t>
            </a:r>
            <a:endParaRPr lang="en-US" sz="900" dirty="0"/>
          </a:p>
        </p:txBody>
      </p:sp>
      <p:sp>
        <p:nvSpPr>
          <p:cNvPr id="21" name="Shape 19"/>
          <p:cNvSpPr/>
          <p:nvPr/>
        </p:nvSpPr>
        <p:spPr>
          <a:xfrm>
            <a:off x="4754880" y="17830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22" name="Shape 20"/>
          <p:cNvSpPr/>
          <p:nvPr/>
        </p:nvSpPr>
        <p:spPr>
          <a:xfrm>
            <a:off x="4846320" y="1947672"/>
            <a:ext cx="402336" cy="402336"/>
          </a:xfrm>
          <a:prstGeom prst="roundRect">
            <a:avLst>
              <a:gd name="adj" fmla="val 11364"/>
            </a:avLst>
          </a:prstGeom>
          <a:solidFill>
            <a:srgbClr val="16A34A"/>
          </a:solidFill>
          <a:ln/>
        </p:spPr>
      </p:sp>
      <p:sp>
        <p:nvSpPr>
          <p:cNvPr id="23" name="Text 21"/>
          <p:cNvSpPr/>
          <p:nvPr/>
        </p:nvSpPr>
        <p:spPr>
          <a:xfrm>
            <a:off x="4846320" y="19476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5349240" y="18745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Initiative Tabs</a:t>
            </a:r>
            <a:endParaRPr lang="en-US" sz="1100" dirty="0"/>
          </a:p>
        </p:txBody>
      </p:sp>
      <p:sp>
        <p:nvSpPr>
          <p:cNvPr id="25" name="Text 23"/>
          <p:cNvSpPr/>
          <p:nvPr/>
        </p:nvSpPr>
        <p:spPr>
          <a:xfrm>
            <a:off x="5349240" y="21488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3 sheets — phase cards, tables, filters, buttons</a:t>
            </a:r>
            <a:endParaRPr lang="en-US" sz="900" dirty="0"/>
          </a:p>
        </p:txBody>
      </p:sp>
      <p:sp>
        <p:nvSpPr>
          <p:cNvPr id="26" name="Shape 24"/>
          <p:cNvSpPr/>
          <p:nvPr/>
        </p:nvSpPr>
        <p:spPr>
          <a:xfrm>
            <a:off x="457200" y="26974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27" name="Shape 25"/>
          <p:cNvSpPr/>
          <p:nvPr/>
        </p:nvSpPr>
        <p:spPr>
          <a:xfrm>
            <a:off x="548640" y="2862072"/>
            <a:ext cx="402336" cy="402336"/>
          </a:xfrm>
          <a:prstGeom prst="roundRect">
            <a:avLst>
              <a:gd name="adj" fmla="val 11364"/>
            </a:avLst>
          </a:prstGeom>
          <a:solidFill>
            <a:srgbClr val="065A82"/>
          </a:solidFill>
          <a:ln/>
        </p:spPr>
      </p:sp>
      <p:sp>
        <p:nvSpPr>
          <p:cNvPr id="28" name="Text 26"/>
          <p:cNvSpPr/>
          <p:nvPr/>
        </p:nvSpPr>
        <p:spPr>
          <a:xfrm>
            <a:off x="548640" y="28620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9" name="Text 27"/>
          <p:cNvSpPr/>
          <p:nvPr/>
        </p:nvSpPr>
        <p:spPr>
          <a:xfrm>
            <a:off x="1051560" y="27889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Filters</a:t>
            </a:r>
            <a:endParaRPr lang="en-US" sz="1100" dirty="0"/>
          </a:p>
        </p:txBody>
      </p:sp>
      <p:sp>
        <p:nvSpPr>
          <p:cNvPr id="30" name="Text 28"/>
          <p:cNvSpPr/>
          <p:nvPr/>
        </p:nvSpPr>
        <p:spPr>
          <a:xfrm>
            <a:off x="1051560" y="30632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Org, DR, PM, Status, Overdue, Search, Reset</a:t>
            </a:r>
            <a:endParaRPr lang="en-US" sz="900" dirty="0"/>
          </a:p>
        </p:txBody>
      </p:sp>
      <p:sp>
        <p:nvSpPr>
          <p:cNvPr id="31" name="Shape 29"/>
          <p:cNvSpPr/>
          <p:nvPr/>
        </p:nvSpPr>
        <p:spPr>
          <a:xfrm>
            <a:off x="4754880" y="26974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32" name="Shape 30"/>
          <p:cNvSpPr/>
          <p:nvPr/>
        </p:nvSpPr>
        <p:spPr>
          <a:xfrm>
            <a:off x="4846320" y="2862072"/>
            <a:ext cx="402336" cy="402336"/>
          </a:xfrm>
          <a:prstGeom prst="roundRect">
            <a:avLst>
              <a:gd name="adj" fmla="val 11364"/>
            </a:avLst>
          </a:prstGeom>
          <a:solidFill>
            <a:srgbClr val="1C7293"/>
          </a:solidFill>
          <a:ln/>
        </p:spPr>
      </p:sp>
      <p:sp>
        <p:nvSpPr>
          <p:cNvPr id="33" name="Text 31"/>
          <p:cNvSpPr/>
          <p:nvPr/>
        </p:nvSpPr>
        <p:spPr>
          <a:xfrm>
            <a:off x="4846320" y="28620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4" name="Text 32"/>
          <p:cNvSpPr/>
          <p:nvPr/>
        </p:nvSpPr>
        <p:spPr>
          <a:xfrm>
            <a:off x="5349240" y="27889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Drawer</a:t>
            </a:r>
            <a:endParaRPr lang="en-US" sz="1100" dirty="0"/>
          </a:p>
        </p:txBody>
      </p:sp>
      <p:sp>
        <p:nvSpPr>
          <p:cNvPr id="35" name="Text 33"/>
          <p:cNvSpPr/>
          <p:nvPr/>
        </p:nvSpPr>
        <p:spPr>
          <a:xfrm>
            <a:off x="5349240" y="30632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Detail button opens — PM, DR, Phase info visible</a:t>
            </a:r>
            <a:endParaRPr lang="en-US" sz="900" dirty="0"/>
          </a:p>
        </p:txBody>
      </p:sp>
      <p:sp>
        <p:nvSpPr>
          <p:cNvPr id="36" name="Shape 34"/>
          <p:cNvSpPr/>
          <p:nvPr/>
        </p:nvSpPr>
        <p:spPr>
          <a:xfrm>
            <a:off x="457200" y="36118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37" name="Shape 35"/>
          <p:cNvSpPr/>
          <p:nvPr/>
        </p:nvSpPr>
        <p:spPr>
          <a:xfrm>
            <a:off x="548640" y="3776472"/>
            <a:ext cx="402336" cy="402336"/>
          </a:xfrm>
          <a:prstGeom prst="roundRect">
            <a:avLst>
              <a:gd name="adj" fmla="val 11364"/>
            </a:avLst>
          </a:prstGeom>
          <a:solidFill>
            <a:srgbClr val="6D28D9"/>
          </a:solidFill>
          <a:ln/>
        </p:spPr>
      </p:sp>
      <p:sp>
        <p:nvSpPr>
          <p:cNvPr id="38" name="Text 36"/>
          <p:cNvSpPr/>
          <p:nvPr/>
        </p:nvSpPr>
        <p:spPr>
          <a:xfrm>
            <a:off x="548640" y="37764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9" name="Text 37"/>
          <p:cNvSpPr/>
          <p:nvPr/>
        </p:nvSpPr>
        <p:spPr>
          <a:xfrm>
            <a:off x="1051560" y="37033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Collapsible</a:t>
            </a:r>
            <a:endParaRPr lang="en-US" sz="1100" dirty="0"/>
          </a:p>
        </p:txBody>
      </p:sp>
      <p:sp>
        <p:nvSpPr>
          <p:cNvPr id="40" name="Text 38"/>
          <p:cNvSpPr/>
          <p:nvPr/>
        </p:nvSpPr>
        <p:spPr>
          <a:xfrm>
            <a:off x="1051560" y="39776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Org breakdown section toggles correctly</a:t>
            </a:r>
            <a:endParaRPr lang="en-US" sz="900" dirty="0"/>
          </a:p>
        </p:txBody>
      </p:sp>
      <p:sp>
        <p:nvSpPr>
          <p:cNvPr id="41" name="Shape 39"/>
          <p:cNvSpPr/>
          <p:nvPr/>
        </p:nvSpPr>
        <p:spPr>
          <a:xfrm>
            <a:off x="4754880" y="36118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42" name="Shape 40"/>
          <p:cNvSpPr/>
          <p:nvPr/>
        </p:nvSpPr>
        <p:spPr>
          <a:xfrm>
            <a:off x="4846320" y="3776472"/>
            <a:ext cx="402336" cy="402336"/>
          </a:xfrm>
          <a:prstGeom prst="roundRect">
            <a:avLst>
              <a:gd name="adj" fmla="val 11364"/>
            </a:avLst>
          </a:prstGeom>
          <a:solidFill>
            <a:srgbClr val="7C3AED"/>
          </a:solidFill>
          <a:ln/>
        </p:spPr>
      </p:sp>
      <p:sp>
        <p:nvSpPr>
          <p:cNvPr id="43" name="Text 41"/>
          <p:cNvSpPr/>
          <p:nvPr/>
        </p:nvSpPr>
        <p:spPr>
          <a:xfrm>
            <a:off x="4846320" y="37764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4" name="Text 42"/>
          <p:cNvSpPr/>
          <p:nvPr/>
        </p:nvSpPr>
        <p:spPr>
          <a:xfrm>
            <a:off x="5349240" y="37033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Timeline Tab</a:t>
            </a:r>
            <a:endParaRPr lang="en-US" sz="1100" dirty="0"/>
          </a:p>
        </p:txBody>
      </p:sp>
      <p:sp>
        <p:nvSpPr>
          <p:cNvPr id="45" name="Text 43"/>
          <p:cNvSpPr/>
          <p:nvPr/>
        </p:nvSpPr>
        <p:spPr>
          <a:xfrm>
            <a:off x="5349240" y="39776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Opens, all filters work, grid has content</a:t>
            </a:r>
            <a:endParaRPr lang="en-US" sz="900" dirty="0"/>
          </a:p>
        </p:txBody>
      </p:sp>
      <p:sp>
        <p:nvSpPr>
          <p:cNvPr id="46" name="Shape 44"/>
          <p:cNvSpPr/>
          <p:nvPr/>
        </p:nvSpPr>
        <p:spPr>
          <a:xfrm>
            <a:off x="457200" y="45262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47" name="Shape 45"/>
          <p:cNvSpPr/>
          <p:nvPr/>
        </p:nvSpPr>
        <p:spPr>
          <a:xfrm>
            <a:off x="548640" y="4690872"/>
            <a:ext cx="402336" cy="402336"/>
          </a:xfrm>
          <a:prstGeom prst="roundRect">
            <a:avLst>
              <a:gd name="adj" fmla="val 11364"/>
            </a:avLst>
          </a:prstGeom>
          <a:solidFill>
            <a:srgbClr val="DC2626"/>
          </a:solidFill>
          <a:ln/>
        </p:spPr>
      </p:sp>
      <p:sp>
        <p:nvSpPr>
          <p:cNvPr id="48" name="Text 46"/>
          <p:cNvSpPr/>
          <p:nvPr/>
        </p:nvSpPr>
        <p:spPr>
          <a:xfrm>
            <a:off x="548640" y="46908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9" name="Text 47"/>
          <p:cNvSpPr/>
          <p:nvPr/>
        </p:nvSpPr>
        <p:spPr>
          <a:xfrm>
            <a:off x="1051560" y="46177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Security</a:t>
            </a:r>
            <a:endParaRPr lang="en-US" sz="1100" dirty="0"/>
          </a:p>
        </p:txBody>
      </p:sp>
      <p:sp>
        <p:nvSpPr>
          <p:cNvPr id="50" name="Text 48"/>
          <p:cNvSpPr/>
          <p:nvPr/>
        </p:nvSpPr>
        <p:spPr>
          <a:xfrm>
            <a:off x="1051560" y="48920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CSP, XSS, no eval, script hash, frame-ancestors</a:t>
            </a:r>
            <a:endParaRPr lang="en-US" sz="900" dirty="0"/>
          </a:p>
        </p:txBody>
      </p:sp>
      <p:sp>
        <p:nvSpPr>
          <p:cNvPr id="51" name="Shape 49"/>
          <p:cNvSpPr/>
          <p:nvPr/>
        </p:nvSpPr>
        <p:spPr>
          <a:xfrm>
            <a:off x="4754880" y="45262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52" name="Shape 50"/>
          <p:cNvSpPr/>
          <p:nvPr/>
        </p:nvSpPr>
        <p:spPr>
          <a:xfrm>
            <a:off x="4846320" y="4690872"/>
            <a:ext cx="402336" cy="402336"/>
          </a:xfrm>
          <a:prstGeom prst="roundRect">
            <a:avLst>
              <a:gd name="adj" fmla="val 11364"/>
            </a:avLst>
          </a:prstGeom>
          <a:solidFill>
            <a:srgbClr val="D97706"/>
          </a:solidFill>
          <a:ln/>
        </p:spPr>
      </p:sp>
      <p:sp>
        <p:nvSpPr>
          <p:cNvPr id="53" name="Text 51"/>
          <p:cNvSpPr/>
          <p:nvPr/>
        </p:nvSpPr>
        <p:spPr>
          <a:xfrm>
            <a:off x="4846320" y="46908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4" name="Text 52"/>
          <p:cNvSpPr/>
          <p:nvPr/>
        </p:nvSpPr>
        <p:spPr>
          <a:xfrm>
            <a:off x="5349240" y="46177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Screenshot</a:t>
            </a:r>
            <a:endParaRPr lang="en-US" sz="1100" dirty="0"/>
          </a:p>
        </p:txBody>
      </p:sp>
      <p:sp>
        <p:nvSpPr>
          <p:cNvPr id="55" name="Text 53"/>
          <p:cNvSpPr/>
          <p:nvPr/>
        </p:nvSpPr>
        <p:spPr>
          <a:xfrm>
            <a:off x="5349240" y="48920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Visual proof saved with timestamp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CODE</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Pattern Is Always The Same</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8229600" cy="1005840"/>
          </a:xfrm>
          <a:prstGeom prst="roundRect">
            <a:avLst>
              <a:gd name="adj" fmla="val 7273"/>
            </a:avLst>
          </a:prstGeom>
          <a:solidFill>
            <a:srgbClr val="0D1F35"/>
          </a:solidFill>
          <a:ln/>
        </p:spPr>
      </p:sp>
      <p:sp>
        <p:nvSpPr>
          <p:cNvPr id="7" name="Text 5"/>
          <p:cNvSpPr/>
          <p:nvPr/>
        </p:nvSpPr>
        <p:spPr>
          <a:xfrm>
            <a:off x="640080" y="960120"/>
            <a:ext cx="786384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Check element exists</a:t>
            </a:r>
            <a:endParaRPr lang="en-US" sz="900" dirty="0"/>
          </a:p>
        </p:txBody>
      </p:sp>
      <p:sp>
        <p:nvSpPr>
          <p:cNvPr id="8" name="Text 6"/>
          <p:cNvSpPr/>
          <p:nvPr/>
        </p:nvSpPr>
        <p:spPr>
          <a:xfrm>
            <a:off x="640080" y="1216152"/>
            <a:ext cx="7863840" cy="50292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report.add_result(</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"3 — Overview Tab",</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page.locator(".kpi-box").count() &gt;= 7,</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"KPI cards: 7 found"</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457200" y="2057400"/>
            <a:ext cx="8229600" cy="1280160"/>
          </a:xfrm>
          <a:prstGeom prst="roundRect">
            <a:avLst>
              <a:gd name="adj" fmla="val 5714"/>
            </a:avLst>
          </a:prstGeom>
          <a:solidFill>
            <a:srgbClr val="0D1F35"/>
          </a:solidFill>
          <a:ln/>
        </p:spPr>
      </p:sp>
      <p:sp>
        <p:nvSpPr>
          <p:cNvPr id="10" name="Text 8"/>
          <p:cNvSpPr/>
          <p:nvPr/>
        </p:nvSpPr>
        <p:spPr>
          <a:xfrm>
            <a:off x="640080" y="2148840"/>
            <a:ext cx="786384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Click and verify</a:t>
            </a:r>
            <a:endParaRPr lang="en-US" sz="900" dirty="0"/>
          </a:p>
        </p:txBody>
      </p:sp>
      <p:sp>
        <p:nvSpPr>
          <p:cNvPr id="11" name="Text 9"/>
          <p:cNvSpPr/>
          <p:nvPr/>
        </p:nvSpPr>
        <p:spPr>
          <a:xfrm>
            <a:off x="640080" y="2404872"/>
            <a:ext cx="7863840" cy="77724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page.locator(".tab-btn[data-tab='timeline']")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.click()</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page.wait_for_timeout(500)</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report.add_result("8 — Timeline",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page.locator("#tab-timeline").is_visible(),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"Timeline opens on click")</a:t>
            </a:r>
            <a:endParaRPr lang="en-US" sz="950" dirty="0"/>
          </a:p>
        </p:txBody>
      </p:sp>
      <p:sp>
        <p:nvSpPr>
          <p:cNvPr id="12" name="Shape 10"/>
          <p:cNvSpPr/>
          <p:nvPr/>
        </p:nvSpPr>
        <p:spPr>
          <a:xfrm>
            <a:off x="4572000" y="868680"/>
            <a:ext cx="4297680" cy="1463040"/>
          </a:xfrm>
          <a:prstGeom prst="roundRect">
            <a:avLst>
              <a:gd name="adj" fmla="val 5000"/>
            </a:avLst>
          </a:prstGeom>
          <a:solidFill>
            <a:srgbClr val="0D1F35"/>
          </a:solidFill>
          <a:ln/>
        </p:spPr>
      </p:sp>
      <p:sp>
        <p:nvSpPr>
          <p:cNvPr id="13" name="Text 11"/>
          <p:cNvSpPr/>
          <p:nvPr/>
        </p:nvSpPr>
        <p:spPr>
          <a:xfrm>
            <a:off x="4754880" y="960120"/>
            <a:ext cx="393192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Filter interaction</a:t>
            </a:r>
            <a:endParaRPr lang="en-US" sz="900" dirty="0"/>
          </a:p>
        </p:txBody>
      </p:sp>
      <p:sp>
        <p:nvSpPr>
          <p:cNvPr id="14" name="Text 12"/>
          <p:cNvSpPr/>
          <p:nvPr/>
        </p:nvSpPr>
        <p:spPr>
          <a:xfrm>
            <a:off x="4754880" y="1216152"/>
            <a:ext cx="3931920" cy="96012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page.locator(".f-sel[data-attr='status']")</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.select_option(value="Completed")</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page.wait_for_timeout(400)</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rows = page.locator("tbody tr:visible").count()</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report.add_result("5 — Filters", True,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f"Status filter: {rows} rows visible")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The Report Looks Like</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937760" cy="3931920"/>
          </a:xfrm>
          <a:prstGeom prst="roundRect">
            <a:avLst>
              <a:gd name="adj" fmla="val 2326"/>
            </a:avLst>
          </a:prstGeom>
          <a:solidFill>
            <a:srgbClr val="1A2A4A"/>
          </a:solidFill>
          <a:ln/>
        </p:spPr>
      </p:sp>
      <p:sp>
        <p:nvSpPr>
          <p:cNvPr id="7" name="Text 5"/>
          <p:cNvSpPr/>
          <p:nvPr/>
        </p:nvSpPr>
        <p:spPr>
          <a:xfrm>
            <a:off x="548640" y="88696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548640" y="1069848"/>
            <a:ext cx="4754880" cy="201168"/>
          </a:xfrm>
          <a:prstGeom prst="rect">
            <a:avLst/>
          </a:prstGeom>
          <a:noFill/>
          <a:ln/>
        </p:spPr>
        <p:txBody>
          <a:bodyPr wrap="square" lIns="0" tIns="0" rIns="0" bIns="0" rtlCol="0" anchor="ctr"/>
          <a:lstStyle/>
          <a:p>
            <a:pPr marL="0" indent="0">
              <a:buNone/>
            </a:pPr>
            <a:r>
              <a:rPr lang="en-US" sz="800" b="1" dirty="0">
                <a:solidFill>
                  <a:srgbClr val="FFFFFF"/>
                </a:solidFill>
                <a:latin typeface="Courier New" pitchFamily="34" charset="0"/>
                <a:ea typeface="Courier New" pitchFamily="34" charset="-122"/>
                <a:cs typeface="Courier New" pitchFamily="34" charset="-120"/>
              </a:rPr>
              <a:t>  VALIDATION REPORT — GHCP ROLLOUT</a:t>
            </a:r>
            <a:endParaRPr lang="en-US" sz="800" dirty="0"/>
          </a:p>
        </p:txBody>
      </p:sp>
      <p:sp>
        <p:nvSpPr>
          <p:cNvPr id="9" name="Text 7"/>
          <p:cNvSpPr/>
          <p:nvPr/>
        </p:nvSpPr>
        <p:spPr>
          <a:xfrm>
            <a:off x="548640" y="1252728"/>
            <a:ext cx="4754880" cy="201168"/>
          </a:xfrm>
          <a:prstGeom prst="rect">
            <a:avLst/>
          </a:prstGeom>
          <a:noFill/>
          <a:ln/>
        </p:spPr>
        <p:txBody>
          <a:bodyPr wrap="square" lIns="0" tIns="0" rIns="0" bIns="0" rtlCol="0" anchor="ctr"/>
          <a:lstStyle/>
          <a:p>
            <a:pPr marL="0" indent="0">
              <a:buNone/>
            </a:pPr>
            <a:r>
              <a:rPr lang="en-US" sz="800" dirty="0">
                <a:solidFill>
                  <a:srgbClr val="6B7280"/>
                </a:solidFill>
                <a:latin typeface="Courier New" pitchFamily="34" charset="0"/>
                <a:ea typeface="Courier New" pitchFamily="34" charset="-122"/>
                <a:cs typeface="Courier New" pitchFamily="34" charset="-120"/>
              </a:rPr>
              <a:t>  2026-04-29  11:03</a:t>
            </a:r>
            <a:endParaRPr lang="en-US" sz="800" dirty="0"/>
          </a:p>
        </p:txBody>
      </p:sp>
      <p:sp>
        <p:nvSpPr>
          <p:cNvPr id="10" name="Text 8"/>
          <p:cNvSpPr/>
          <p:nvPr/>
        </p:nvSpPr>
        <p:spPr>
          <a:xfrm>
            <a:off x="548640" y="143560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11" name="Text 9"/>
          <p:cNvSpPr/>
          <p:nvPr/>
        </p:nvSpPr>
        <p:spPr>
          <a:xfrm>
            <a:off x="548640" y="1618488"/>
            <a:ext cx="4754880" cy="201168"/>
          </a:xfrm>
          <a:prstGeom prst="rect">
            <a:avLst/>
          </a:prstGeom>
          <a:noFill/>
          <a:ln/>
        </p:spPr>
        <p:txBody>
          <a:bodyPr wrap="square" lIns="0" tIns="0" rIns="0" bIns="0" rtlCol="0" anchor="ctr"/>
          <a:lstStyle/>
          <a:p>
            <a:pPr marL="0" indent="0">
              <a:buNone/>
            </a:pPr>
            <a:endParaRPr lang="en-US" sz="800" dirty="0"/>
          </a:p>
        </p:txBody>
      </p:sp>
      <p:sp>
        <p:nvSpPr>
          <p:cNvPr id="12" name="Text 10"/>
          <p:cNvSpPr/>
          <p:nvPr/>
        </p:nvSpPr>
        <p:spPr>
          <a:xfrm>
            <a:off x="548640" y="1801368"/>
            <a:ext cx="4754880" cy="201168"/>
          </a:xfrm>
          <a:prstGeom prst="rect">
            <a:avLst/>
          </a:prstGeom>
          <a:noFill/>
          <a:ln/>
        </p:spPr>
        <p:txBody>
          <a:bodyPr wrap="square" lIns="0" tIns="0" rIns="0" bIns="0" rtlCol="0" anchor="ctr"/>
          <a:lstStyle/>
          <a:p>
            <a:pPr marL="0" indent="0">
              <a:buNone/>
            </a:pPr>
            <a:r>
              <a:rPr lang="en-US" sz="800" b="1" dirty="0">
                <a:solidFill>
                  <a:srgbClr val="22C55E"/>
                </a:solidFill>
                <a:latin typeface="Courier New" pitchFamily="34" charset="0"/>
                <a:ea typeface="Courier New" pitchFamily="34" charset="-122"/>
                <a:cs typeface="Courier New" pitchFamily="34" charset="-120"/>
              </a:rPr>
              <a:t>  ✅  1 — Page Load</a:t>
            </a:r>
            <a:endParaRPr lang="en-US" sz="800" dirty="0"/>
          </a:p>
        </p:txBody>
      </p:sp>
      <p:sp>
        <p:nvSpPr>
          <p:cNvPr id="13" name="Text 11"/>
          <p:cNvSpPr/>
          <p:nvPr/>
        </p:nvSpPr>
        <p:spPr>
          <a:xfrm>
            <a:off x="548640" y="198424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No JS errors on load</a:t>
            </a:r>
            <a:endParaRPr lang="en-US" sz="800" dirty="0"/>
          </a:p>
        </p:txBody>
      </p:sp>
      <p:sp>
        <p:nvSpPr>
          <p:cNvPr id="14" name="Text 12"/>
          <p:cNvSpPr/>
          <p:nvPr/>
        </p:nvSpPr>
        <p:spPr>
          <a:xfrm>
            <a:off x="548640" y="216712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Page has content</a:t>
            </a:r>
            <a:endParaRPr lang="en-US" sz="800" dirty="0"/>
          </a:p>
        </p:txBody>
      </p:sp>
      <p:sp>
        <p:nvSpPr>
          <p:cNvPr id="15" name="Text 13"/>
          <p:cNvSpPr/>
          <p:nvPr/>
        </p:nvSpPr>
        <p:spPr>
          <a:xfrm>
            <a:off x="548640" y="2350008"/>
            <a:ext cx="4754880" cy="201168"/>
          </a:xfrm>
          <a:prstGeom prst="rect">
            <a:avLst/>
          </a:prstGeom>
          <a:noFill/>
          <a:ln/>
        </p:spPr>
        <p:txBody>
          <a:bodyPr wrap="square" lIns="0" tIns="0" rIns="0" bIns="0" rtlCol="0" anchor="ctr"/>
          <a:lstStyle/>
          <a:p>
            <a:pPr marL="0" indent="0">
              <a:buNone/>
            </a:pPr>
            <a:endParaRPr lang="en-US" sz="800" dirty="0"/>
          </a:p>
        </p:txBody>
      </p:sp>
      <p:sp>
        <p:nvSpPr>
          <p:cNvPr id="16" name="Text 14"/>
          <p:cNvSpPr/>
          <p:nvPr/>
        </p:nvSpPr>
        <p:spPr>
          <a:xfrm>
            <a:off x="548640" y="2532888"/>
            <a:ext cx="4754880" cy="201168"/>
          </a:xfrm>
          <a:prstGeom prst="rect">
            <a:avLst/>
          </a:prstGeom>
          <a:noFill/>
          <a:ln/>
        </p:spPr>
        <p:txBody>
          <a:bodyPr wrap="square" lIns="0" tIns="0" rIns="0" bIns="0" rtlCol="0" anchor="ctr"/>
          <a:lstStyle/>
          <a:p>
            <a:pPr marL="0" indent="0">
              <a:buNone/>
            </a:pPr>
            <a:r>
              <a:rPr lang="en-US" sz="800" b="1" dirty="0">
                <a:solidFill>
                  <a:srgbClr val="22C55E"/>
                </a:solidFill>
                <a:latin typeface="Courier New" pitchFamily="34" charset="0"/>
                <a:ea typeface="Courier New" pitchFamily="34" charset="-122"/>
                <a:cs typeface="Courier New" pitchFamily="34" charset="-120"/>
              </a:rPr>
              <a:t>  ✅  3 — Overview Tab</a:t>
            </a:r>
            <a:endParaRPr lang="en-US" sz="800" dirty="0"/>
          </a:p>
        </p:txBody>
      </p:sp>
      <p:sp>
        <p:nvSpPr>
          <p:cNvPr id="17" name="Text 15"/>
          <p:cNvSpPr/>
          <p:nvPr/>
        </p:nvSpPr>
        <p:spPr>
          <a:xfrm>
            <a:off x="548640" y="271576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KPI cards: 7</a:t>
            </a:r>
            <a:endParaRPr lang="en-US" sz="800" dirty="0"/>
          </a:p>
        </p:txBody>
      </p:sp>
      <p:sp>
        <p:nvSpPr>
          <p:cNvPr id="18" name="Text 16"/>
          <p:cNvSpPr/>
          <p:nvPr/>
        </p:nvSpPr>
        <p:spPr>
          <a:xfrm>
            <a:off x="548640" y="289864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All KPI values populated</a:t>
            </a:r>
            <a:endParaRPr lang="en-US" sz="800" dirty="0"/>
          </a:p>
        </p:txBody>
      </p:sp>
      <p:sp>
        <p:nvSpPr>
          <p:cNvPr id="19" name="Text 17"/>
          <p:cNvSpPr/>
          <p:nvPr/>
        </p:nvSpPr>
        <p:spPr>
          <a:xfrm>
            <a:off x="548640" y="3081528"/>
            <a:ext cx="4754880" cy="201168"/>
          </a:xfrm>
          <a:prstGeom prst="rect">
            <a:avLst/>
          </a:prstGeom>
          <a:noFill/>
          <a:ln/>
        </p:spPr>
        <p:txBody>
          <a:bodyPr wrap="square" lIns="0" tIns="0" rIns="0" bIns="0" rtlCol="0" anchor="ctr"/>
          <a:lstStyle/>
          <a:p>
            <a:pPr marL="0" indent="0">
              <a:buNone/>
            </a:pPr>
            <a:endParaRPr lang="en-US" sz="800" dirty="0"/>
          </a:p>
        </p:txBody>
      </p:sp>
      <p:sp>
        <p:nvSpPr>
          <p:cNvPr id="20" name="Text 18"/>
          <p:cNvSpPr/>
          <p:nvPr/>
        </p:nvSpPr>
        <p:spPr>
          <a:xfrm>
            <a:off x="548640" y="3264408"/>
            <a:ext cx="4754880" cy="201168"/>
          </a:xfrm>
          <a:prstGeom prst="rect">
            <a:avLst/>
          </a:prstGeom>
          <a:noFill/>
          <a:ln/>
        </p:spPr>
        <p:txBody>
          <a:bodyPr wrap="square" lIns="0" tIns="0" rIns="0" bIns="0" rtlCol="0" anchor="ctr"/>
          <a:lstStyle/>
          <a:p>
            <a:pPr marL="0" indent="0">
              <a:buNone/>
            </a:pPr>
            <a:r>
              <a:rPr lang="en-US" sz="800" b="1" dirty="0">
                <a:solidFill>
                  <a:srgbClr val="EF4444"/>
                </a:solidFill>
                <a:latin typeface="Courier New" pitchFamily="34" charset="0"/>
                <a:ea typeface="Courier New" pitchFamily="34" charset="-122"/>
                <a:cs typeface="Courier New" pitchFamily="34" charset="-120"/>
              </a:rPr>
              <a:t>  ❌  5 — Filters</a:t>
            </a:r>
            <a:endParaRPr lang="en-US" sz="800" dirty="0"/>
          </a:p>
        </p:txBody>
      </p:sp>
      <p:sp>
        <p:nvSpPr>
          <p:cNvPr id="21" name="Text 19"/>
          <p:cNvSpPr/>
          <p:nvPr/>
        </p:nvSpPr>
        <p:spPr>
          <a:xfrm>
            <a:off x="548640" y="3447288"/>
            <a:ext cx="4754880" cy="201168"/>
          </a:xfrm>
          <a:prstGeom prst="rect">
            <a:avLst/>
          </a:prstGeom>
          <a:noFill/>
          <a:ln/>
        </p:spPr>
        <p:txBody>
          <a:bodyPr wrap="square" lIns="0" tIns="0" rIns="0" bIns="0" rtlCol="0" anchor="ctr"/>
          <a:lstStyle/>
          <a:p>
            <a:pPr marL="0" indent="0">
              <a:buNone/>
            </a:pPr>
            <a:r>
              <a:rPr lang="en-US" sz="800" dirty="0">
                <a:solidFill>
                  <a:srgbClr val="EF4444"/>
                </a:solidFill>
                <a:latin typeface="Courier New" pitchFamily="34" charset="0"/>
                <a:ea typeface="Courier New" pitchFamily="34" charset="-122"/>
                <a:cs typeface="Courier New" pitchFamily="34" charset="-120"/>
              </a:rPr>
              <a:t>     ❌  DR filter: 0 rows visible</a:t>
            </a:r>
            <a:endParaRPr lang="en-US" sz="800" dirty="0"/>
          </a:p>
        </p:txBody>
      </p:sp>
      <p:sp>
        <p:nvSpPr>
          <p:cNvPr id="22" name="Text 20"/>
          <p:cNvSpPr/>
          <p:nvPr/>
        </p:nvSpPr>
        <p:spPr>
          <a:xfrm>
            <a:off x="548640" y="3630168"/>
            <a:ext cx="4754880" cy="201168"/>
          </a:xfrm>
          <a:prstGeom prst="rect">
            <a:avLst/>
          </a:prstGeom>
          <a:noFill/>
          <a:ln/>
        </p:spPr>
        <p:txBody>
          <a:bodyPr wrap="square" lIns="0" tIns="0" rIns="0" bIns="0" rtlCol="0" anchor="ctr"/>
          <a:lstStyle/>
          <a:p>
            <a:pPr marL="0" indent="0">
              <a:buNone/>
            </a:pPr>
            <a:endParaRPr lang="en-US" sz="800" dirty="0"/>
          </a:p>
        </p:txBody>
      </p:sp>
      <p:sp>
        <p:nvSpPr>
          <p:cNvPr id="23" name="Text 21"/>
          <p:cNvSpPr/>
          <p:nvPr/>
        </p:nvSpPr>
        <p:spPr>
          <a:xfrm>
            <a:off x="548640" y="381304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24" name="Text 22"/>
          <p:cNvSpPr/>
          <p:nvPr/>
        </p:nvSpPr>
        <p:spPr>
          <a:xfrm>
            <a:off x="548640" y="3995928"/>
            <a:ext cx="4754880" cy="201168"/>
          </a:xfrm>
          <a:prstGeom prst="rect">
            <a:avLst/>
          </a:prstGeom>
          <a:noFill/>
          <a:ln/>
        </p:spPr>
        <p:txBody>
          <a:bodyPr wrap="square" lIns="0" tIns="0" rIns="0" bIns="0" rtlCol="0" anchor="ctr"/>
          <a:lstStyle/>
          <a:p>
            <a:pPr marL="0" indent="0">
              <a:buNone/>
            </a:pPr>
            <a:r>
              <a:rPr lang="en-US" sz="800" b="1" dirty="0">
                <a:solidFill>
                  <a:srgbClr val="EF4444"/>
                </a:solidFill>
                <a:latin typeface="Courier New" pitchFamily="34" charset="0"/>
                <a:ea typeface="Courier New" pitchFamily="34" charset="-122"/>
                <a:cs typeface="Courier New" pitchFamily="34" charset="-120"/>
              </a:rPr>
              <a:t>  ❌  FAILED — Fix before deploying</a:t>
            </a:r>
            <a:endParaRPr lang="en-US" sz="800" dirty="0"/>
          </a:p>
        </p:txBody>
      </p:sp>
      <p:sp>
        <p:nvSpPr>
          <p:cNvPr id="25" name="Text 23"/>
          <p:cNvSpPr/>
          <p:nvPr/>
        </p:nvSpPr>
        <p:spPr>
          <a:xfrm>
            <a:off x="548640" y="417880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26" name="Shape 24"/>
          <p:cNvSpPr/>
          <p:nvPr/>
        </p:nvSpPr>
        <p:spPr>
          <a:xfrm>
            <a:off x="5577840" y="1005840"/>
            <a:ext cx="256032" cy="256032"/>
          </a:xfrm>
          <a:prstGeom prst="ellipse">
            <a:avLst/>
          </a:prstGeom>
          <a:solidFill>
            <a:srgbClr val="22C55E"/>
          </a:solidFill>
          <a:ln/>
        </p:spPr>
      </p:sp>
      <p:sp>
        <p:nvSpPr>
          <p:cNvPr id="27" name="Text 25"/>
          <p:cNvSpPr/>
          <p:nvPr/>
        </p:nvSpPr>
        <p:spPr>
          <a:xfrm>
            <a:off x="5989320" y="969264"/>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Every check labelled clearly</a:t>
            </a:r>
            <a:endParaRPr lang="en-US" sz="1100" dirty="0"/>
          </a:p>
        </p:txBody>
      </p:sp>
      <p:sp>
        <p:nvSpPr>
          <p:cNvPr id="28" name="Shape 26"/>
          <p:cNvSpPr/>
          <p:nvPr/>
        </p:nvSpPr>
        <p:spPr>
          <a:xfrm>
            <a:off x="5577840" y="1627632"/>
            <a:ext cx="256032" cy="256032"/>
          </a:xfrm>
          <a:prstGeom prst="ellipse">
            <a:avLst/>
          </a:prstGeom>
          <a:solidFill>
            <a:srgbClr val="22C55E"/>
          </a:solidFill>
          <a:ln/>
        </p:spPr>
      </p:sp>
      <p:sp>
        <p:nvSpPr>
          <p:cNvPr id="29" name="Text 27"/>
          <p:cNvSpPr/>
          <p:nvPr/>
        </p:nvSpPr>
        <p:spPr>
          <a:xfrm>
            <a:off x="5989320" y="1591056"/>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Section by section result</a:t>
            </a:r>
            <a:endParaRPr lang="en-US" sz="1100" dirty="0"/>
          </a:p>
        </p:txBody>
      </p:sp>
      <p:sp>
        <p:nvSpPr>
          <p:cNvPr id="30" name="Shape 28"/>
          <p:cNvSpPr/>
          <p:nvPr/>
        </p:nvSpPr>
        <p:spPr>
          <a:xfrm>
            <a:off x="5577840" y="2249424"/>
            <a:ext cx="256032" cy="256032"/>
          </a:xfrm>
          <a:prstGeom prst="ellipse">
            <a:avLst/>
          </a:prstGeom>
          <a:solidFill>
            <a:srgbClr val="EF4444"/>
          </a:solidFill>
          <a:ln/>
        </p:spPr>
      </p:sp>
      <p:sp>
        <p:nvSpPr>
          <p:cNvPr id="31" name="Text 29"/>
          <p:cNvSpPr/>
          <p:nvPr/>
        </p:nvSpPr>
        <p:spPr>
          <a:xfrm>
            <a:off x="5989320" y="2212848"/>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Failed check — exact detail</a:t>
            </a:r>
            <a:endParaRPr lang="en-US" sz="1100" dirty="0"/>
          </a:p>
        </p:txBody>
      </p:sp>
      <p:sp>
        <p:nvSpPr>
          <p:cNvPr id="32" name="Shape 30"/>
          <p:cNvSpPr/>
          <p:nvPr/>
        </p:nvSpPr>
        <p:spPr>
          <a:xfrm>
            <a:off x="5577840" y="2871216"/>
            <a:ext cx="256032" cy="256032"/>
          </a:xfrm>
          <a:prstGeom prst="ellipse">
            <a:avLst/>
          </a:prstGeom>
          <a:solidFill>
            <a:srgbClr val="00B4D8"/>
          </a:solidFill>
          <a:ln/>
        </p:spPr>
      </p:sp>
      <p:sp>
        <p:nvSpPr>
          <p:cNvPr id="33" name="Text 31"/>
          <p:cNvSpPr/>
          <p:nvPr/>
        </p:nvSpPr>
        <p:spPr>
          <a:xfrm>
            <a:off x="5989320" y="2834640"/>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Saved with timestamp always</a:t>
            </a:r>
            <a:endParaRPr lang="en-US" sz="1100" dirty="0"/>
          </a:p>
        </p:txBody>
      </p:sp>
      <p:sp>
        <p:nvSpPr>
          <p:cNvPr id="34" name="Shape 32"/>
          <p:cNvSpPr/>
          <p:nvPr/>
        </p:nvSpPr>
        <p:spPr>
          <a:xfrm>
            <a:off x="5577840" y="3493008"/>
            <a:ext cx="256032" cy="256032"/>
          </a:xfrm>
          <a:prstGeom prst="ellipse">
            <a:avLst/>
          </a:prstGeom>
          <a:solidFill>
            <a:srgbClr val="00B4D8"/>
          </a:solidFill>
          <a:ln/>
        </p:spPr>
      </p:sp>
      <p:sp>
        <p:nvSpPr>
          <p:cNvPr id="35" name="Text 33"/>
          <p:cNvSpPr/>
          <p:nvPr/>
        </p:nvSpPr>
        <p:spPr>
          <a:xfrm>
            <a:off x="5989320" y="3456432"/>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Screenshot saved alongside</a:t>
            </a:r>
            <a:endParaRPr lang="en-US" sz="1100" dirty="0"/>
          </a:p>
        </p:txBody>
      </p:sp>
      <p:sp>
        <p:nvSpPr>
          <p:cNvPr id="36" name="Shape 34"/>
          <p:cNvSpPr/>
          <p:nvPr/>
        </p:nvSpPr>
        <p:spPr>
          <a:xfrm>
            <a:off x="5577840" y="4114800"/>
            <a:ext cx="256032" cy="256032"/>
          </a:xfrm>
          <a:prstGeom prst="ellipse">
            <a:avLst/>
          </a:prstGeom>
          <a:solidFill>
            <a:srgbClr val="22C55E"/>
          </a:solidFill>
          <a:ln/>
        </p:spPr>
      </p:sp>
      <p:sp>
        <p:nvSpPr>
          <p:cNvPr id="37" name="Text 35"/>
          <p:cNvSpPr/>
          <p:nvPr/>
        </p:nvSpPr>
        <p:spPr>
          <a:xfrm>
            <a:off x="5989320" y="4078224"/>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One clear deploy decision</a:t>
            </a:r>
            <a:endParaRPr lang="en-US" sz="1100" dirty="0"/>
          </a:p>
        </p:txBody>
      </p:sp>
      <p:sp>
        <p:nvSpPr>
          <p:cNvPr id="38" name="Shape 36"/>
          <p:cNvSpPr/>
          <p:nvPr/>
        </p:nvSpPr>
        <p:spPr>
          <a:xfrm>
            <a:off x="5486400" y="4114800"/>
            <a:ext cx="3383280" cy="548640"/>
          </a:xfrm>
          <a:prstGeom prst="roundRect">
            <a:avLst>
              <a:gd name="adj" fmla="val 13333"/>
            </a:avLst>
          </a:prstGeom>
          <a:solidFill>
            <a:srgbClr val="14532D"/>
          </a:solidFill>
          <a:ln/>
        </p:spPr>
      </p:sp>
      <p:sp>
        <p:nvSpPr>
          <p:cNvPr id="39" name="Text 37"/>
          <p:cNvSpPr/>
          <p:nvPr/>
        </p:nvSpPr>
        <p:spPr>
          <a:xfrm>
            <a:off x="5486400" y="4114800"/>
            <a:ext cx="3383280" cy="548640"/>
          </a:xfrm>
          <a:prstGeom prst="rect">
            <a:avLst/>
          </a:prstGeom>
          <a:noFill/>
          <a:ln/>
        </p:spPr>
        <p:txBody>
          <a:bodyPr wrap="square" lIns="0" tIns="0" rIns="0" bIns="0" rtlCol="0" anchor="ctr"/>
          <a:lstStyle/>
          <a:p>
            <a:pPr marL="0" indent="0" algn="ctr">
              <a:buNone/>
            </a:pPr>
            <a:r>
              <a:rPr lang="en-US" sz="1100" b="1" dirty="0">
                <a:solidFill>
                  <a:srgbClr val="22C55E"/>
                </a:solidFill>
                <a:latin typeface="Calibri" pitchFamily="34" charset="0"/>
                <a:ea typeface="Calibri" pitchFamily="34" charset="-122"/>
                <a:cs typeface="Calibri" pitchFamily="34" charset="-120"/>
              </a:rPr>
              <a:t>✅  ALL PASSED — Safe to deploy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Before vs After</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3931920" cy="3931920"/>
          </a:xfrm>
          <a:prstGeom prst="roundRect">
            <a:avLst>
              <a:gd name="adj" fmla="val 2326"/>
            </a:avLst>
          </a:prstGeom>
          <a:solidFill>
            <a:srgbClr val="FFF5F5"/>
          </a:solidFill>
          <a:ln w="12700">
            <a:solidFill>
              <a:srgbClr val="FCA5A5"/>
            </a:solidFill>
            <a:prstDash val="solid"/>
          </a:ln>
        </p:spPr>
      </p:sp>
      <p:sp>
        <p:nvSpPr>
          <p:cNvPr id="7" name="Text 5"/>
          <p:cNvSpPr/>
          <p:nvPr/>
        </p:nvSpPr>
        <p:spPr>
          <a:xfrm>
            <a:off x="640080" y="960120"/>
            <a:ext cx="3566160" cy="365760"/>
          </a:xfrm>
          <a:prstGeom prst="rect">
            <a:avLst/>
          </a:prstGeom>
          <a:noFill/>
          <a:ln/>
        </p:spPr>
        <p:txBody>
          <a:bodyPr wrap="square" lIns="0" tIns="0" rIns="0" bIns="0" rtlCol="0" anchor="ctr"/>
          <a:lstStyle/>
          <a:p>
            <a:pPr marL="0" indent="0" algn="ctr">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640080" y="141732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11:00 am  Excel updated</a:t>
            </a:r>
            <a:endParaRPr lang="en-US" sz="1000" dirty="0"/>
          </a:p>
        </p:txBody>
      </p:sp>
      <p:sp>
        <p:nvSpPr>
          <p:cNvPr id="9" name="Text 7"/>
          <p:cNvSpPr/>
          <p:nvPr/>
        </p:nvSpPr>
        <p:spPr>
          <a:xfrm>
            <a:off x="640080" y="169164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generates HTML</a:t>
            </a:r>
            <a:endParaRPr lang="en-US" sz="1000" dirty="0"/>
          </a:p>
        </p:txBody>
      </p:sp>
      <p:sp>
        <p:nvSpPr>
          <p:cNvPr id="10" name="Text 8"/>
          <p:cNvSpPr/>
          <p:nvPr/>
        </p:nvSpPr>
        <p:spPr>
          <a:xfrm>
            <a:off x="640080" y="196596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Developer manually checks</a:t>
            </a:r>
            <a:endParaRPr lang="en-US" sz="1000" dirty="0"/>
          </a:p>
        </p:txBody>
      </p:sp>
      <p:sp>
        <p:nvSpPr>
          <p:cNvPr id="11" name="Text 9"/>
          <p:cNvSpPr/>
          <p:nvPr/>
        </p:nvSpPr>
        <p:spPr>
          <a:xfrm>
            <a:off x="640080" y="224028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            (45 minutes)</a:t>
            </a:r>
            <a:endParaRPr lang="en-US" sz="1000" dirty="0"/>
          </a:p>
        </p:txBody>
      </p:sp>
      <p:sp>
        <p:nvSpPr>
          <p:cNvPr id="12" name="Text 10"/>
          <p:cNvSpPr/>
          <p:nvPr/>
        </p:nvSpPr>
        <p:spPr>
          <a:xfrm>
            <a:off x="640080" y="251460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12:15 pm  Deploy — IF remembered</a:t>
            </a:r>
            <a:endParaRPr lang="en-US" sz="1000" dirty="0"/>
          </a:p>
        </p:txBody>
      </p:sp>
      <p:sp>
        <p:nvSpPr>
          <p:cNvPr id="13" name="Text 11"/>
          <p:cNvSpPr/>
          <p:nvPr/>
        </p:nvSpPr>
        <p:spPr>
          <a:xfrm>
            <a:off x="640080" y="2788920"/>
            <a:ext cx="3566160" cy="256032"/>
          </a:xfrm>
          <a:prstGeom prst="rect">
            <a:avLst/>
          </a:prstGeom>
          <a:noFill/>
          <a:ln/>
        </p:spPr>
        <p:txBody>
          <a:bodyPr wrap="square" lIns="0" tIns="0" rIns="0" bIns="0" rtlCol="0" anchor="ctr"/>
          <a:lstStyle/>
          <a:p>
            <a:pPr marL="0" indent="0">
              <a:buNone/>
            </a:pPr>
            <a:endParaRPr lang="en-US" sz="1000" dirty="0"/>
          </a:p>
        </p:txBody>
      </p:sp>
      <p:sp>
        <p:nvSpPr>
          <p:cNvPr id="14" name="Text 12"/>
          <p:cNvSpPr/>
          <p:nvPr/>
        </p:nvSpPr>
        <p:spPr>
          <a:xfrm>
            <a:off x="640080" y="306324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No record saved</a:t>
            </a:r>
            <a:endParaRPr lang="en-US" sz="1000" dirty="0"/>
          </a:p>
        </p:txBody>
      </p:sp>
      <p:sp>
        <p:nvSpPr>
          <p:cNvPr id="15" name="Text 13"/>
          <p:cNvSpPr/>
          <p:nvPr/>
        </p:nvSpPr>
        <p:spPr>
          <a:xfrm>
            <a:off x="640080" y="333756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Different each developer</a:t>
            </a:r>
            <a:endParaRPr lang="en-US" sz="1000" dirty="0"/>
          </a:p>
        </p:txBody>
      </p:sp>
      <p:sp>
        <p:nvSpPr>
          <p:cNvPr id="16" name="Text 14"/>
          <p:cNvSpPr/>
          <p:nvPr/>
        </p:nvSpPr>
        <p:spPr>
          <a:xfrm>
            <a:off x="640080" y="361188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Not sustainable</a:t>
            </a:r>
            <a:endParaRPr lang="en-US" sz="1000" dirty="0"/>
          </a:p>
        </p:txBody>
      </p:sp>
      <p:sp>
        <p:nvSpPr>
          <p:cNvPr id="17" name="Shape 15"/>
          <p:cNvSpPr/>
          <p:nvPr/>
        </p:nvSpPr>
        <p:spPr>
          <a:xfrm>
            <a:off x="4754880" y="868680"/>
            <a:ext cx="3931920" cy="3931920"/>
          </a:xfrm>
          <a:prstGeom prst="roundRect">
            <a:avLst>
              <a:gd name="adj" fmla="val 2326"/>
            </a:avLst>
          </a:prstGeom>
          <a:solidFill>
            <a:srgbClr val="F0FDF4"/>
          </a:solidFill>
          <a:ln w="12700">
            <a:solidFill>
              <a:srgbClr val="86EFAC"/>
            </a:solidFill>
            <a:prstDash val="solid"/>
          </a:ln>
        </p:spPr>
      </p:sp>
      <p:sp>
        <p:nvSpPr>
          <p:cNvPr id="18" name="Text 16"/>
          <p:cNvSpPr/>
          <p:nvPr/>
        </p:nvSpPr>
        <p:spPr>
          <a:xfrm>
            <a:off x="4937760" y="960120"/>
            <a:ext cx="3566160" cy="365760"/>
          </a:xfrm>
          <a:prstGeom prst="rect">
            <a:avLst/>
          </a:prstGeom>
          <a:noFill/>
          <a:ln/>
        </p:spPr>
        <p:txBody>
          <a:bodyPr wrap="square" lIns="0" tIns="0" rIns="0" bIns="0" rtlCol="0" anchor="ctr"/>
          <a:lstStyle/>
          <a:p>
            <a:pPr marL="0" indent="0" algn="ctr">
              <a:buNone/>
            </a:pPr>
            <a:r>
              <a:rPr lang="en-US" sz="1400" b="1" dirty="0">
                <a:solidFill>
                  <a:srgbClr val="22C55E"/>
                </a:solidFill>
                <a:latin typeface="Calibri" pitchFamily="34" charset="0"/>
                <a:ea typeface="Calibri" pitchFamily="34" charset="-122"/>
                <a:cs typeface="Calibri" pitchFamily="34" charset="-120"/>
              </a:rPr>
              <a:t>AFTER</a:t>
            </a:r>
            <a:endParaRPr lang="en-US" sz="1400" dirty="0"/>
          </a:p>
        </p:txBody>
      </p:sp>
      <p:sp>
        <p:nvSpPr>
          <p:cNvPr id="19" name="Text 17"/>
          <p:cNvSpPr/>
          <p:nvPr/>
        </p:nvSpPr>
        <p:spPr>
          <a:xfrm>
            <a:off x="4937760" y="141732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11:00 am  Excel updated</a:t>
            </a:r>
            <a:endParaRPr lang="en-US" sz="1000" dirty="0"/>
          </a:p>
        </p:txBody>
      </p:sp>
      <p:sp>
        <p:nvSpPr>
          <p:cNvPr id="20" name="Text 18"/>
          <p:cNvSpPr/>
          <p:nvPr/>
        </p:nvSpPr>
        <p:spPr>
          <a:xfrm>
            <a:off x="4937760" y="169164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generates HTML</a:t>
            </a:r>
            <a:endParaRPr lang="en-US" sz="1000" dirty="0"/>
          </a:p>
        </p:txBody>
      </p:sp>
      <p:sp>
        <p:nvSpPr>
          <p:cNvPr id="21" name="Text 19"/>
          <p:cNvSpPr/>
          <p:nvPr/>
        </p:nvSpPr>
        <p:spPr>
          <a:xfrm>
            <a:off x="4937760" y="196596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run.py --dashboard</a:t>
            </a:r>
            <a:endParaRPr lang="en-US" sz="1000" dirty="0"/>
          </a:p>
        </p:txBody>
      </p:sp>
      <p:sp>
        <p:nvSpPr>
          <p:cNvPr id="22" name="Text 20"/>
          <p:cNvSpPr/>
          <p:nvPr/>
        </p:nvSpPr>
        <p:spPr>
          <a:xfrm>
            <a:off x="4937760" y="224028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            rollout</a:t>
            </a:r>
            <a:endParaRPr lang="en-US" sz="1000" dirty="0"/>
          </a:p>
        </p:txBody>
      </p:sp>
      <p:sp>
        <p:nvSpPr>
          <p:cNvPr id="23" name="Text 21"/>
          <p:cNvSpPr/>
          <p:nvPr/>
        </p:nvSpPr>
        <p:spPr>
          <a:xfrm>
            <a:off x="4937760" y="2514600"/>
            <a:ext cx="3566160" cy="256032"/>
          </a:xfrm>
          <a:prstGeom prst="rect">
            <a:avLst/>
          </a:prstGeom>
          <a:noFill/>
          <a:ln/>
        </p:spPr>
        <p:txBody>
          <a:bodyPr wrap="square" lIns="0" tIns="0" rIns="0" bIns="0" rtlCol="0" anchor="ctr"/>
          <a:lstStyle/>
          <a:p>
            <a:pPr marL="0" indent="0">
              <a:buNone/>
            </a:pPr>
            <a:r>
              <a:rPr lang="en-US" sz="1000" dirty="0">
                <a:solidFill>
                  <a:srgbClr val="22C55E"/>
                </a:solidFill>
                <a:latin typeface="Courier New" pitchFamily="34" charset="0"/>
                <a:ea typeface="Courier New" pitchFamily="34" charset="-122"/>
                <a:cs typeface="Courier New" pitchFamily="34" charset="-120"/>
              </a:rPr>
              <a:t>11:33 am  ✅  All passed</a:t>
            </a:r>
            <a:endParaRPr lang="en-US" sz="1000" dirty="0"/>
          </a:p>
        </p:txBody>
      </p:sp>
      <p:sp>
        <p:nvSpPr>
          <p:cNvPr id="24" name="Text 22"/>
          <p:cNvSpPr/>
          <p:nvPr/>
        </p:nvSpPr>
        <p:spPr>
          <a:xfrm>
            <a:off x="4937760" y="2788920"/>
            <a:ext cx="3566160" cy="256032"/>
          </a:xfrm>
          <a:prstGeom prst="rect">
            <a:avLst/>
          </a:prstGeom>
          <a:noFill/>
          <a:ln/>
        </p:spPr>
        <p:txBody>
          <a:bodyPr wrap="square" lIns="0" tIns="0" rIns="0" bIns="0" rtlCol="0" anchor="ctr"/>
          <a:lstStyle/>
          <a:p>
            <a:pPr marL="0" indent="0">
              <a:buNone/>
            </a:pPr>
            <a:r>
              <a:rPr lang="en-US" sz="1000" dirty="0">
                <a:solidFill>
                  <a:srgbClr val="22C55E"/>
                </a:solidFill>
                <a:latin typeface="Courier New" pitchFamily="34" charset="0"/>
                <a:ea typeface="Courier New" pitchFamily="34" charset="-122"/>
                <a:cs typeface="Courier New" pitchFamily="34" charset="-120"/>
              </a:rPr>
              <a:t>11:33 am  Deploy — Confident</a:t>
            </a:r>
            <a:endParaRPr lang="en-US" sz="1000" dirty="0"/>
          </a:p>
        </p:txBody>
      </p:sp>
      <p:sp>
        <p:nvSpPr>
          <p:cNvPr id="25" name="Text 23"/>
          <p:cNvSpPr/>
          <p:nvPr/>
        </p:nvSpPr>
        <p:spPr>
          <a:xfrm>
            <a:off x="4937760" y="3063240"/>
            <a:ext cx="3566160" cy="256032"/>
          </a:xfrm>
          <a:prstGeom prst="rect">
            <a:avLst/>
          </a:prstGeom>
          <a:noFill/>
          <a:ln/>
        </p:spPr>
        <p:txBody>
          <a:bodyPr wrap="square" lIns="0" tIns="0" rIns="0" bIns="0" rtlCol="0" anchor="ctr"/>
          <a:lstStyle/>
          <a:p>
            <a:pPr marL="0" indent="0">
              <a:buNone/>
            </a:pPr>
            <a:endParaRPr lang="en-US" sz="1000" dirty="0"/>
          </a:p>
        </p:txBody>
      </p:sp>
      <p:sp>
        <p:nvSpPr>
          <p:cNvPr id="26" name="Text 24"/>
          <p:cNvSpPr/>
          <p:nvPr/>
        </p:nvSpPr>
        <p:spPr>
          <a:xfrm>
            <a:off x="4937760" y="333756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Report saved with timestamp</a:t>
            </a:r>
            <a:endParaRPr lang="en-US" sz="1000" dirty="0"/>
          </a:p>
        </p:txBody>
      </p:sp>
      <p:sp>
        <p:nvSpPr>
          <p:cNvPr id="27" name="Text 25"/>
          <p:cNvSpPr/>
          <p:nvPr/>
        </p:nvSpPr>
        <p:spPr>
          <a:xfrm>
            <a:off x="4937760" y="361188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Same standard every time</a:t>
            </a:r>
            <a:endParaRPr lang="en-US" sz="1000" dirty="0"/>
          </a:p>
        </p:txBody>
      </p:sp>
      <p:sp>
        <p:nvSpPr>
          <p:cNvPr id="28" name="Text 26"/>
          <p:cNvSpPr/>
          <p:nvPr/>
        </p:nvSpPr>
        <p:spPr>
          <a:xfrm>
            <a:off x="4937760" y="388620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2-3 minutes total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FUTURE PLAN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Where We Are Taking This Next</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2651760" cy="3931920"/>
          </a:xfrm>
          <a:prstGeom prst="roundRect">
            <a:avLst>
              <a:gd name="adj" fmla="val 3448"/>
            </a:avLst>
          </a:prstGeom>
          <a:solidFill>
            <a:srgbClr val="0D1F35"/>
          </a:solidFill>
          <a:ln/>
        </p:spPr>
      </p:sp>
      <p:sp>
        <p:nvSpPr>
          <p:cNvPr id="7" name="Shape 5"/>
          <p:cNvSpPr/>
          <p:nvPr/>
        </p:nvSpPr>
        <p:spPr>
          <a:xfrm>
            <a:off x="1453896" y="960120"/>
            <a:ext cx="658368" cy="658368"/>
          </a:xfrm>
          <a:prstGeom prst="ellipse">
            <a:avLst/>
          </a:prstGeom>
          <a:solidFill>
            <a:srgbClr val="22C55E"/>
          </a:solidFill>
          <a:ln/>
        </p:spPr>
      </p:sp>
      <p:sp>
        <p:nvSpPr>
          <p:cNvPr id="8" name="Text 6"/>
          <p:cNvSpPr/>
          <p:nvPr/>
        </p:nvSpPr>
        <p:spPr>
          <a:xfrm>
            <a:off x="145389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Shape 7"/>
          <p:cNvSpPr/>
          <p:nvPr/>
        </p:nvSpPr>
        <p:spPr>
          <a:xfrm>
            <a:off x="731520" y="1737360"/>
            <a:ext cx="2103120" cy="292608"/>
          </a:xfrm>
          <a:prstGeom prst="roundRect">
            <a:avLst>
              <a:gd name="adj" fmla="val 15625"/>
            </a:avLst>
          </a:prstGeom>
          <a:solidFill>
            <a:srgbClr val="22C55E"/>
          </a:solidFill>
          <a:ln/>
        </p:spPr>
      </p:sp>
      <p:sp>
        <p:nvSpPr>
          <p:cNvPr id="10" name="Text 8"/>
          <p:cNvSpPr/>
          <p:nvPr/>
        </p:nvSpPr>
        <p:spPr>
          <a:xfrm>
            <a:off x="73152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NOW ✅</a:t>
            </a:r>
            <a:endParaRPr lang="en-US" sz="900" dirty="0"/>
          </a:p>
        </p:txBody>
      </p:sp>
      <p:sp>
        <p:nvSpPr>
          <p:cNvPr id="11" name="Text 9"/>
          <p:cNvSpPr/>
          <p:nvPr/>
        </p:nvSpPr>
        <p:spPr>
          <a:xfrm>
            <a:off x="640080" y="2121408"/>
            <a:ext cx="2286000" cy="347472"/>
          </a:xfrm>
          <a:prstGeom prst="rect">
            <a:avLst/>
          </a:prstGeom>
          <a:noFill/>
          <a:ln/>
        </p:spPr>
        <p:txBody>
          <a:bodyPr wrap="square" lIns="0" tIns="0" rIns="0" bIns="0" rtlCol="0" anchor="ctr"/>
          <a:lstStyle/>
          <a:p>
            <a:pPr marL="0" indent="0" algn="ctr">
              <a:buNone/>
            </a:pPr>
            <a:r>
              <a:rPr lang="en-US" sz="1300" b="1" dirty="0">
                <a:solidFill>
                  <a:srgbClr val="22C55E"/>
                </a:solidFill>
                <a:latin typeface="Calibri" pitchFamily="34" charset="0"/>
                <a:ea typeface="Calibri" pitchFamily="34" charset="-122"/>
                <a:cs typeface="Calibri" pitchFamily="34" charset="-120"/>
              </a:rPr>
              <a:t>Manual Trigger</a:t>
            </a:r>
            <a:endParaRPr lang="en-US" sz="1300" dirty="0"/>
          </a:p>
        </p:txBody>
      </p:sp>
      <p:sp>
        <p:nvSpPr>
          <p:cNvPr id="12" name="Text 10"/>
          <p:cNvSpPr/>
          <p:nvPr/>
        </p:nvSpPr>
        <p:spPr>
          <a:xfrm>
            <a:off x="64008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Developer runs python run.py after each generation</a:t>
            </a:r>
            <a:endParaRPr lang="en-US" sz="950" dirty="0"/>
          </a:p>
        </p:txBody>
      </p:sp>
      <p:sp>
        <p:nvSpPr>
          <p:cNvPr id="13" name="Text 11"/>
          <p:cNvSpPr/>
          <p:nvPr/>
        </p:nvSpPr>
        <p:spPr>
          <a:xfrm>
            <a:off x="64008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Reviews report before deploying</a:t>
            </a:r>
            <a:endParaRPr lang="en-US" sz="950" dirty="0"/>
          </a:p>
        </p:txBody>
      </p:sp>
      <p:sp>
        <p:nvSpPr>
          <p:cNvPr id="14" name="Text 12"/>
          <p:cNvSpPr/>
          <p:nvPr/>
        </p:nvSpPr>
        <p:spPr>
          <a:xfrm>
            <a:off x="64008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Already saving 40+ minutes daily</a:t>
            </a:r>
            <a:endParaRPr lang="en-US" sz="950" dirty="0"/>
          </a:p>
        </p:txBody>
      </p:sp>
      <p:sp>
        <p:nvSpPr>
          <p:cNvPr id="15" name="Shape 13"/>
          <p:cNvSpPr/>
          <p:nvPr/>
        </p:nvSpPr>
        <p:spPr>
          <a:xfrm>
            <a:off x="3337560" y="868680"/>
            <a:ext cx="2651760" cy="3931920"/>
          </a:xfrm>
          <a:prstGeom prst="roundRect">
            <a:avLst>
              <a:gd name="adj" fmla="val 3448"/>
            </a:avLst>
          </a:prstGeom>
          <a:solidFill>
            <a:srgbClr val="0D1F35"/>
          </a:solidFill>
          <a:ln/>
        </p:spPr>
      </p:sp>
      <p:sp>
        <p:nvSpPr>
          <p:cNvPr id="16" name="Shape 14"/>
          <p:cNvSpPr/>
          <p:nvPr/>
        </p:nvSpPr>
        <p:spPr>
          <a:xfrm>
            <a:off x="4334256" y="960120"/>
            <a:ext cx="658368" cy="658368"/>
          </a:xfrm>
          <a:prstGeom prst="ellipse">
            <a:avLst/>
          </a:prstGeom>
          <a:solidFill>
            <a:srgbClr val="00B4D8"/>
          </a:solidFill>
          <a:ln/>
        </p:spPr>
      </p:sp>
      <p:sp>
        <p:nvSpPr>
          <p:cNvPr id="17" name="Text 15"/>
          <p:cNvSpPr/>
          <p:nvPr/>
        </p:nvSpPr>
        <p:spPr>
          <a:xfrm>
            <a:off x="433425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Shape 16"/>
          <p:cNvSpPr/>
          <p:nvPr/>
        </p:nvSpPr>
        <p:spPr>
          <a:xfrm>
            <a:off x="3611880" y="1737360"/>
            <a:ext cx="2103120" cy="292608"/>
          </a:xfrm>
          <a:prstGeom prst="roundRect">
            <a:avLst>
              <a:gd name="adj" fmla="val 15625"/>
            </a:avLst>
          </a:prstGeom>
          <a:solidFill>
            <a:srgbClr val="00B4D8"/>
          </a:solidFill>
          <a:ln/>
        </p:spPr>
      </p:sp>
      <p:sp>
        <p:nvSpPr>
          <p:cNvPr id="19" name="Text 17"/>
          <p:cNvSpPr/>
          <p:nvPr/>
        </p:nvSpPr>
        <p:spPr>
          <a:xfrm>
            <a:off x="361188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2-4 WEEKS</a:t>
            </a:r>
            <a:endParaRPr lang="en-US" sz="900" dirty="0"/>
          </a:p>
        </p:txBody>
      </p:sp>
      <p:sp>
        <p:nvSpPr>
          <p:cNvPr id="20" name="Text 18"/>
          <p:cNvSpPr/>
          <p:nvPr/>
        </p:nvSpPr>
        <p:spPr>
          <a:xfrm>
            <a:off x="3520440" y="2121408"/>
            <a:ext cx="2286000" cy="347472"/>
          </a:xfrm>
          <a:prstGeom prst="rect">
            <a:avLst/>
          </a:prstGeom>
          <a:noFill/>
          <a:ln/>
        </p:spPr>
        <p:txBody>
          <a:bodyPr wrap="square" lIns="0" tIns="0" rIns="0" bIns="0" rtlCol="0" anchor="ctr"/>
          <a:lstStyle/>
          <a:p>
            <a:pPr marL="0" indent="0" algn="ctr">
              <a:buNone/>
            </a:pPr>
            <a:r>
              <a:rPr lang="en-US" sz="1300" b="1" dirty="0">
                <a:solidFill>
                  <a:srgbClr val="00B4D8"/>
                </a:solidFill>
                <a:latin typeface="Calibri" pitchFamily="34" charset="0"/>
                <a:ea typeface="Calibri" pitchFamily="34" charset="-122"/>
                <a:cs typeface="Calibri" pitchFamily="34" charset="-120"/>
              </a:rPr>
              <a:t>All Dashboards</a:t>
            </a:r>
            <a:endParaRPr lang="en-US" sz="1300" dirty="0"/>
          </a:p>
        </p:txBody>
      </p:sp>
      <p:sp>
        <p:nvSpPr>
          <p:cNvPr id="21" name="Text 19"/>
          <p:cNvSpPr/>
          <p:nvPr/>
        </p:nvSpPr>
        <p:spPr>
          <a:xfrm>
            <a:off x="352044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Extend to all 5 dashboards</a:t>
            </a:r>
            <a:endParaRPr lang="en-US" sz="950" dirty="0"/>
          </a:p>
        </p:txBody>
      </p:sp>
      <p:sp>
        <p:nvSpPr>
          <p:cNvPr id="22" name="Text 20"/>
          <p:cNvSpPr/>
          <p:nvPr/>
        </p:nvSpPr>
        <p:spPr>
          <a:xfrm>
            <a:off x="352044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Each dashboard gets its own validation file</a:t>
            </a:r>
            <a:endParaRPr lang="en-US" sz="950" dirty="0"/>
          </a:p>
        </p:txBody>
      </p:sp>
      <p:sp>
        <p:nvSpPr>
          <p:cNvPr id="23" name="Text 21"/>
          <p:cNvSpPr/>
          <p:nvPr/>
        </p:nvSpPr>
        <p:spPr>
          <a:xfrm>
            <a:off x="352044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Same pattern — different selectors</a:t>
            </a:r>
            <a:endParaRPr lang="en-US" sz="950" dirty="0"/>
          </a:p>
        </p:txBody>
      </p:sp>
      <p:sp>
        <p:nvSpPr>
          <p:cNvPr id="24" name="Shape 22"/>
          <p:cNvSpPr/>
          <p:nvPr/>
        </p:nvSpPr>
        <p:spPr>
          <a:xfrm>
            <a:off x="6217920" y="868680"/>
            <a:ext cx="2651760" cy="3931920"/>
          </a:xfrm>
          <a:prstGeom prst="roundRect">
            <a:avLst>
              <a:gd name="adj" fmla="val 3448"/>
            </a:avLst>
          </a:prstGeom>
          <a:solidFill>
            <a:srgbClr val="0D1F35"/>
          </a:solidFill>
          <a:ln/>
        </p:spPr>
      </p:sp>
      <p:sp>
        <p:nvSpPr>
          <p:cNvPr id="25" name="Shape 23"/>
          <p:cNvSpPr/>
          <p:nvPr/>
        </p:nvSpPr>
        <p:spPr>
          <a:xfrm>
            <a:off x="7214616" y="960120"/>
            <a:ext cx="658368" cy="658368"/>
          </a:xfrm>
          <a:prstGeom prst="ellipse">
            <a:avLst/>
          </a:prstGeom>
          <a:solidFill>
            <a:srgbClr val="F59E0B"/>
          </a:solidFill>
          <a:ln/>
        </p:spPr>
      </p:sp>
      <p:sp>
        <p:nvSpPr>
          <p:cNvPr id="26" name="Text 24"/>
          <p:cNvSpPr/>
          <p:nvPr/>
        </p:nvSpPr>
        <p:spPr>
          <a:xfrm>
            <a:off x="721461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7" name="Shape 25"/>
          <p:cNvSpPr/>
          <p:nvPr/>
        </p:nvSpPr>
        <p:spPr>
          <a:xfrm>
            <a:off x="6492240" y="1737360"/>
            <a:ext cx="2103120" cy="292608"/>
          </a:xfrm>
          <a:prstGeom prst="roundRect">
            <a:avLst>
              <a:gd name="adj" fmla="val 15625"/>
            </a:avLst>
          </a:prstGeom>
          <a:solidFill>
            <a:srgbClr val="F59E0B"/>
          </a:solidFill>
          <a:ln/>
        </p:spPr>
      </p:sp>
      <p:sp>
        <p:nvSpPr>
          <p:cNvPr id="28" name="Text 26"/>
          <p:cNvSpPr/>
          <p:nvPr/>
        </p:nvSpPr>
        <p:spPr>
          <a:xfrm>
            <a:off x="649224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2-3 MONTHS</a:t>
            </a:r>
            <a:endParaRPr lang="en-US" sz="900" dirty="0"/>
          </a:p>
        </p:txBody>
      </p:sp>
      <p:sp>
        <p:nvSpPr>
          <p:cNvPr id="29" name="Text 27"/>
          <p:cNvSpPr/>
          <p:nvPr/>
        </p:nvSpPr>
        <p:spPr>
          <a:xfrm>
            <a:off x="6400800" y="2121408"/>
            <a:ext cx="2286000" cy="347472"/>
          </a:xfrm>
          <a:prstGeom prst="rect">
            <a:avLst/>
          </a:prstGeom>
          <a:noFill/>
          <a:ln/>
        </p:spPr>
        <p:txBody>
          <a:bodyPr wrap="square" lIns="0" tIns="0" rIns="0" bIns="0"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Automated Pipeline</a:t>
            </a:r>
            <a:endParaRPr lang="en-US" sz="1300" dirty="0"/>
          </a:p>
        </p:txBody>
      </p:sp>
      <p:sp>
        <p:nvSpPr>
          <p:cNvPr id="30" name="Text 28"/>
          <p:cNvSpPr/>
          <p:nvPr/>
        </p:nvSpPr>
        <p:spPr>
          <a:xfrm>
            <a:off x="640080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Runs automatically in daily sync</a:t>
            </a:r>
            <a:endParaRPr lang="en-US" sz="950" dirty="0"/>
          </a:p>
        </p:txBody>
      </p:sp>
      <p:sp>
        <p:nvSpPr>
          <p:cNvPr id="31" name="Text 29"/>
          <p:cNvSpPr/>
          <p:nvPr/>
        </p:nvSpPr>
        <p:spPr>
          <a:xfrm>
            <a:off x="640080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Report sent to Teams channel</a:t>
            </a:r>
            <a:endParaRPr lang="en-US" sz="950" dirty="0"/>
          </a:p>
        </p:txBody>
      </p:sp>
      <p:sp>
        <p:nvSpPr>
          <p:cNvPr id="32" name="Text 30"/>
          <p:cNvSpPr/>
          <p:nvPr/>
        </p:nvSpPr>
        <p:spPr>
          <a:xfrm>
            <a:off x="640080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Failed → deployment blocked automatically</a:t>
            </a:r>
            <a:endParaRPr lang="en-US" sz="950" dirty="0"/>
          </a:p>
        </p:txBody>
      </p:sp>
      <p:sp>
        <p:nvSpPr>
          <p:cNvPr id="33" name="Text 31"/>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i="1" dirty="0">
                <a:solidFill>
                  <a:srgbClr val="00B4D8"/>
                </a:solidFill>
                <a:latin typeface="Calibri" pitchFamily="34" charset="0"/>
                <a:ea typeface="Calibri" pitchFamily="34" charset="-122"/>
                <a:cs typeface="Calibri" pitchFamily="34" charset="-120"/>
              </a:rPr>
              <a:t>Manager's vision: Organisation-wide standard for all internal dashboards and applications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TAKEAWAYS</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Key Takeaways</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48640" y="978408"/>
            <a:ext cx="3840480" cy="384048"/>
          </a:xfrm>
          <a:prstGeom prst="roundRect">
            <a:avLst>
              <a:gd name="adj" fmla="val 14286"/>
            </a:avLst>
          </a:prstGeom>
          <a:solidFill>
            <a:srgbClr val="7C3AED"/>
          </a:solidFill>
          <a:ln/>
        </p:spPr>
      </p:sp>
      <p:sp>
        <p:nvSpPr>
          <p:cNvPr id="8" name="Text 6"/>
          <p:cNvSpPr/>
          <p:nvPr/>
        </p:nvSpPr>
        <p:spPr>
          <a:xfrm>
            <a:off x="548640" y="97840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QA Team</a:t>
            </a:r>
            <a:endParaRPr lang="en-US" sz="1200" dirty="0"/>
          </a:p>
        </p:txBody>
      </p:sp>
      <p:sp>
        <p:nvSpPr>
          <p:cNvPr id="9" name="Text 7"/>
          <p:cNvSpPr/>
          <p:nvPr/>
        </p:nvSpPr>
        <p:spPr>
          <a:xfrm>
            <a:off x="640080" y="147218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Playwright is worth exploring</a:t>
            </a:r>
            <a:endParaRPr lang="en-US" sz="1000" dirty="0"/>
          </a:p>
        </p:txBody>
      </p:sp>
      <p:sp>
        <p:nvSpPr>
          <p:cNvPr id="10" name="Text 8"/>
          <p:cNvSpPr/>
          <p:nvPr/>
        </p:nvSpPr>
        <p:spPr>
          <a:xfrm>
            <a:off x="640080" y="181051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2 commands to set up</a:t>
            </a:r>
            <a:endParaRPr lang="en-US" sz="1000" dirty="0"/>
          </a:p>
        </p:txBody>
      </p:sp>
      <p:sp>
        <p:nvSpPr>
          <p:cNvPr id="11" name="Text 9"/>
          <p:cNvSpPr/>
          <p:nvPr/>
        </p:nvSpPr>
        <p:spPr>
          <a:xfrm>
            <a:off x="640080" y="214884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Gentler learning curve from Selenium</a:t>
            </a:r>
            <a:endParaRPr lang="en-US" sz="1000" dirty="0"/>
          </a:p>
        </p:txBody>
      </p:sp>
      <p:sp>
        <p:nvSpPr>
          <p:cNvPr id="12" name="Shape 10"/>
          <p:cNvSpPr/>
          <p:nvPr/>
        </p:nvSpPr>
        <p:spPr>
          <a:xfrm>
            <a:off x="4754880" y="86868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13" name="Shape 11"/>
          <p:cNvSpPr/>
          <p:nvPr/>
        </p:nvSpPr>
        <p:spPr>
          <a:xfrm>
            <a:off x="4846320" y="978408"/>
            <a:ext cx="3840480" cy="384048"/>
          </a:xfrm>
          <a:prstGeom prst="roundRect">
            <a:avLst>
              <a:gd name="adj" fmla="val 14286"/>
            </a:avLst>
          </a:prstGeom>
          <a:solidFill>
            <a:srgbClr val="065A82"/>
          </a:solidFill>
          <a:ln/>
        </p:spPr>
      </p:sp>
      <p:sp>
        <p:nvSpPr>
          <p:cNvPr id="14" name="Text 12"/>
          <p:cNvSpPr/>
          <p:nvPr/>
        </p:nvSpPr>
        <p:spPr>
          <a:xfrm>
            <a:off x="4846320" y="97840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Developers</a:t>
            </a:r>
            <a:endParaRPr lang="en-US" sz="1200" dirty="0"/>
          </a:p>
        </p:txBody>
      </p:sp>
      <p:sp>
        <p:nvSpPr>
          <p:cNvPr id="15" name="Text 13"/>
          <p:cNvSpPr/>
          <p:nvPr/>
        </p:nvSpPr>
        <p:spPr>
          <a:xfrm>
            <a:off x="4937760" y="147218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One file per dashboard</a:t>
            </a:r>
            <a:endParaRPr lang="en-US" sz="1000" dirty="0"/>
          </a:p>
        </p:txBody>
      </p:sp>
      <p:sp>
        <p:nvSpPr>
          <p:cNvPr id="16" name="Text 14"/>
          <p:cNvSpPr/>
          <p:nvPr/>
        </p:nvSpPr>
        <p:spPr>
          <a:xfrm>
            <a:off x="4937760" y="181051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Same pattern throughout</a:t>
            </a:r>
            <a:endParaRPr lang="en-US" sz="1000" dirty="0"/>
          </a:p>
        </p:txBody>
      </p:sp>
      <p:sp>
        <p:nvSpPr>
          <p:cNvPr id="17" name="Text 15"/>
          <p:cNvSpPr/>
          <p:nvPr/>
        </p:nvSpPr>
        <p:spPr>
          <a:xfrm>
            <a:off x="4937760" y="214884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Easy to add new checks</a:t>
            </a:r>
            <a:endParaRPr lang="en-US" sz="1000" dirty="0"/>
          </a:p>
        </p:txBody>
      </p:sp>
      <p:sp>
        <p:nvSpPr>
          <p:cNvPr id="18" name="Shape 16"/>
          <p:cNvSpPr/>
          <p:nvPr/>
        </p:nvSpPr>
        <p:spPr>
          <a:xfrm>
            <a:off x="457200" y="278892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19" name="Shape 17"/>
          <p:cNvSpPr/>
          <p:nvPr/>
        </p:nvSpPr>
        <p:spPr>
          <a:xfrm>
            <a:off x="548640" y="2898648"/>
            <a:ext cx="3840480" cy="384048"/>
          </a:xfrm>
          <a:prstGeom prst="roundRect">
            <a:avLst>
              <a:gd name="adj" fmla="val 14286"/>
            </a:avLst>
          </a:prstGeom>
          <a:solidFill>
            <a:srgbClr val="065A60"/>
          </a:solidFill>
          <a:ln/>
        </p:spPr>
      </p:sp>
      <p:sp>
        <p:nvSpPr>
          <p:cNvPr id="20" name="Text 18"/>
          <p:cNvSpPr/>
          <p:nvPr/>
        </p:nvSpPr>
        <p:spPr>
          <a:xfrm>
            <a:off x="548640" y="289864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Managers</a:t>
            </a:r>
            <a:endParaRPr lang="en-US" sz="1200" dirty="0"/>
          </a:p>
        </p:txBody>
      </p:sp>
      <p:sp>
        <p:nvSpPr>
          <p:cNvPr id="21" name="Text 19"/>
          <p:cNvSpPr/>
          <p:nvPr/>
        </p:nvSpPr>
        <p:spPr>
          <a:xfrm>
            <a:off x="640080" y="339242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45 mins → 3 mins daily</a:t>
            </a:r>
            <a:endParaRPr lang="en-US" sz="1000" dirty="0"/>
          </a:p>
        </p:txBody>
      </p:sp>
      <p:sp>
        <p:nvSpPr>
          <p:cNvPr id="22" name="Text 20"/>
          <p:cNvSpPr/>
          <p:nvPr/>
        </p:nvSpPr>
        <p:spPr>
          <a:xfrm>
            <a:off x="640080" y="373075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Proof of validation saved every time</a:t>
            </a:r>
            <a:endParaRPr lang="en-US" sz="1000" dirty="0"/>
          </a:p>
        </p:txBody>
      </p:sp>
      <p:sp>
        <p:nvSpPr>
          <p:cNvPr id="23" name="Text 21"/>
          <p:cNvSpPr/>
          <p:nvPr/>
        </p:nvSpPr>
        <p:spPr>
          <a:xfrm>
            <a:off x="640080" y="406908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Scales to any number of dashboards</a:t>
            </a:r>
            <a:endParaRPr lang="en-US" sz="1000" dirty="0"/>
          </a:p>
        </p:txBody>
      </p:sp>
      <p:sp>
        <p:nvSpPr>
          <p:cNvPr id="24" name="Shape 22"/>
          <p:cNvSpPr/>
          <p:nvPr/>
        </p:nvSpPr>
        <p:spPr>
          <a:xfrm>
            <a:off x="4754880" y="278892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25" name="Shape 23"/>
          <p:cNvSpPr/>
          <p:nvPr/>
        </p:nvSpPr>
        <p:spPr>
          <a:xfrm>
            <a:off x="4846320" y="2898648"/>
            <a:ext cx="3840480" cy="384048"/>
          </a:xfrm>
          <a:prstGeom prst="roundRect">
            <a:avLst>
              <a:gd name="adj" fmla="val 14286"/>
            </a:avLst>
          </a:prstGeom>
          <a:solidFill>
            <a:srgbClr val="92400E"/>
          </a:solidFill>
          <a:ln/>
        </p:spPr>
      </p:sp>
      <p:sp>
        <p:nvSpPr>
          <p:cNvPr id="26" name="Text 24"/>
          <p:cNvSpPr/>
          <p:nvPr/>
        </p:nvSpPr>
        <p:spPr>
          <a:xfrm>
            <a:off x="4846320" y="289864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Everyone</a:t>
            </a:r>
            <a:endParaRPr lang="en-US" sz="1200" dirty="0"/>
          </a:p>
        </p:txBody>
      </p:sp>
      <p:sp>
        <p:nvSpPr>
          <p:cNvPr id="27" name="Text 25"/>
          <p:cNvSpPr/>
          <p:nvPr/>
        </p:nvSpPr>
        <p:spPr>
          <a:xfrm>
            <a:off x="4937760" y="339242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Not a QA specialist tool</a:t>
            </a:r>
            <a:endParaRPr lang="en-US" sz="1000" dirty="0"/>
          </a:p>
        </p:txBody>
      </p:sp>
      <p:sp>
        <p:nvSpPr>
          <p:cNvPr id="28" name="Text 26"/>
          <p:cNvSpPr/>
          <p:nvPr/>
        </p:nvSpPr>
        <p:spPr>
          <a:xfrm>
            <a:off x="4937760" y="373075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Any developer can write and run</a:t>
            </a:r>
            <a:endParaRPr lang="en-US" sz="1000" dirty="0"/>
          </a:p>
        </p:txBody>
      </p:sp>
      <p:sp>
        <p:nvSpPr>
          <p:cNvPr id="29" name="Text 27"/>
          <p:cNvSpPr/>
          <p:nvPr/>
        </p:nvSpPr>
        <p:spPr>
          <a:xfrm>
            <a:off x="4937760" y="406908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Low effort — high value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1E3A5F"/>
          </a:solidFill>
          <a:ln/>
        </p:spPr>
      </p:sp>
      <p:sp>
        <p:nvSpPr>
          <p:cNvPr id="3" name="Shape 1"/>
          <p:cNvSpPr/>
          <p:nvPr/>
        </p:nvSpPr>
        <p:spPr>
          <a:xfrm>
            <a:off x="0" y="4114800"/>
            <a:ext cx="9144000" cy="1028700"/>
          </a:xfrm>
          <a:prstGeom prst="rect">
            <a:avLst/>
          </a:prstGeom>
          <a:solidFill>
            <a:srgbClr val="0D1F35"/>
          </a:solidFill>
          <a:ln/>
        </p:spPr>
      </p:sp>
      <p:sp>
        <p:nvSpPr>
          <p:cNvPr id="4" name="Shape 2"/>
          <p:cNvSpPr/>
          <p:nvPr/>
        </p:nvSpPr>
        <p:spPr>
          <a:xfrm>
            <a:off x="6583680" y="731520"/>
            <a:ext cx="3474720" cy="3474720"/>
          </a:xfrm>
          <a:prstGeom prst="ellipse">
            <a:avLst/>
          </a:prstGeom>
          <a:solidFill>
            <a:srgbClr val="00B4D8">
              <a:alpha val="10000"/>
            </a:srgbClr>
          </a:solidFill>
          <a:ln/>
        </p:spPr>
      </p:sp>
      <p:sp>
        <p:nvSpPr>
          <p:cNvPr id="5" name="Text 3"/>
          <p:cNvSpPr/>
          <p:nvPr/>
        </p:nvSpPr>
        <p:spPr>
          <a:xfrm>
            <a:off x="548640" y="1554480"/>
            <a:ext cx="64008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6" name="Text 4"/>
          <p:cNvSpPr/>
          <p:nvPr/>
        </p:nvSpPr>
        <p:spPr>
          <a:xfrm>
            <a:off x="548640" y="2331720"/>
            <a:ext cx="4572000" cy="548640"/>
          </a:xfrm>
          <a:prstGeom prst="rect">
            <a:avLst/>
          </a:prstGeom>
          <a:noFill/>
          <a:ln/>
        </p:spPr>
        <p:txBody>
          <a:bodyPr wrap="square" lIns="0" tIns="0" rIns="0" bIns="0" rtlCol="0" anchor="ctr"/>
          <a:lstStyle/>
          <a:p>
            <a:pPr marL="0" indent="0">
              <a:buNone/>
            </a:pPr>
            <a:r>
              <a:rPr lang="en-US" sz="2200" dirty="0">
                <a:solidFill>
                  <a:srgbClr val="00B4D8"/>
                </a:solidFill>
                <a:latin typeface="Calibri" pitchFamily="34" charset="0"/>
                <a:ea typeface="Calibri" pitchFamily="34" charset="-122"/>
                <a:cs typeface="Calibri" pitchFamily="34" charset="-120"/>
              </a:rPr>
              <a:t>Questions?</a:t>
            </a:r>
            <a:endParaRPr lang="en-US" sz="2200" dirty="0"/>
          </a:p>
        </p:txBody>
      </p:sp>
      <p:sp>
        <p:nvSpPr>
          <p:cNvPr id="7" name="Text 5"/>
          <p:cNvSpPr/>
          <p:nvPr/>
        </p:nvSpPr>
        <p:spPr>
          <a:xfrm>
            <a:off x="548640" y="3063240"/>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Playwright Docs:  playwright.dev</a:t>
            </a:r>
            <a:endParaRPr lang="en-US" sz="1100" dirty="0"/>
          </a:p>
        </p:txBody>
      </p:sp>
      <p:sp>
        <p:nvSpPr>
          <p:cNvPr id="8" name="Text 6"/>
          <p:cNvSpPr/>
          <p:nvPr/>
        </p:nvSpPr>
        <p:spPr>
          <a:xfrm>
            <a:off x="548640" y="3447288"/>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Our Repo:  [your-repo-link]</a:t>
            </a:r>
            <a:endParaRPr lang="en-US" sz="1100" dirty="0"/>
          </a:p>
        </p:txBody>
      </p:sp>
      <p:sp>
        <p:nvSpPr>
          <p:cNvPr id="9" name="Text 7"/>
          <p:cNvSpPr/>
          <p:nvPr/>
        </p:nvSpPr>
        <p:spPr>
          <a:xfrm>
            <a:off x="548640" y="3831336"/>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Contact:  Mahantesh — EA Team</a:t>
            </a:r>
            <a:endParaRPr lang="en-US" sz="1100" dirty="0"/>
          </a:p>
        </p:txBody>
      </p:sp>
      <p:sp>
        <p:nvSpPr>
          <p:cNvPr id="10" name="Text 8"/>
          <p:cNvSpPr/>
          <p:nvPr/>
        </p:nvSpPr>
        <p:spPr>
          <a:xfrm>
            <a:off x="548640" y="4160520"/>
            <a:ext cx="7772400" cy="38404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"The goal is not the best testing tool. The goal is to deploy with confidence every time."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2582</Words>
  <Application>Microsoft Office PowerPoint</Application>
  <PresentationFormat>On-screen Show (16:9)</PresentationFormat>
  <Paragraphs>305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UI Validation using Playwright</dc:title>
  <dc:subject>PptxGenJS Presentation</dc:subject>
  <dc:creator>PptxGenJS</dc:creator>
  <cp:lastModifiedBy>Mahantesh Pujar</cp:lastModifiedBy>
  <cp:revision>1</cp:revision>
  <dcterms:created xsi:type="dcterms:W3CDTF">2026-06-17T05:15:40Z</dcterms:created>
  <dcterms:modified xsi:type="dcterms:W3CDTF">2026-06-17T05:29:57Z</dcterms:modified>
</cp:coreProperties>
</file>