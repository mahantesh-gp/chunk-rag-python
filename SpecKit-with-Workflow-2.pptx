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4131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B54A"/>
          </a:solidFill>
          <a:ln w="12700">
            <a:solidFill>
              <a:srgbClr val="3DB5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4572000" cy="123444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3168" y="0"/>
            <a:ext cx="4370832" cy="123444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Using GitHub Spec Kit Exploration (Mahantesh)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237744" y="1298448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340"/>
                </a:solidFill>
              </a:rPr>
              <a:t>What is Spec Kit (SDD)?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487168" cy="13716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47088"/>
            <a:ext cx="2487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Spec Kit is an open-source toolkit from GitHub implementing Spec-Driven Development (SDD). It converts requirements into production-ready software through structured, AI-assisted execution — using GitHub Copilot, Claude Code, or Cursor.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459736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Instead of free-form prompting, Spec Kit drives: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Constitution </a:t>
            </a:r>
            <a:r>
              <a:rPr lang="en-US" sz="950" dirty="0">
                <a:solidFill>
                  <a:srgbClr val="333333"/>
                </a:solidFill>
              </a:rPr>
              <a:t>— non-negotiable project principles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99008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Specification </a:t>
            </a:r>
            <a:r>
              <a:rPr lang="en-US" sz="950" dirty="0">
                <a:solidFill>
                  <a:srgbClr val="333333"/>
                </a:solidFill>
              </a:rPr>
              <a:t>— user stories and FR-XXX requirements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323697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Plan </a:t>
            </a:r>
            <a:r>
              <a:rPr lang="en-US" sz="950" dirty="0">
                <a:solidFill>
                  <a:srgbClr val="333333"/>
                </a:solidFill>
              </a:rPr>
              <a:t>— architecture and technology decisions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48386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Tasks </a:t>
            </a:r>
            <a:r>
              <a:rPr lang="en-US" sz="950" dirty="0">
                <a:solidFill>
                  <a:srgbClr val="333333"/>
                </a:solidFill>
              </a:rPr>
              <a:t>— ordered, phased, executable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3730752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Implement </a:t>
            </a:r>
            <a:r>
              <a:rPr lang="en-US" sz="950" dirty="0">
                <a:solidFill>
                  <a:srgbClr val="333333"/>
                </a:solidFill>
              </a:rPr>
              <a:t>— AI generates code within guardrails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97764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b="1" dirty="0">
                <a:solidFill>
                  <a:srgbClr val="0C2340"/>
                </a:solidFill>
              </a:rPr>
              <a:t>Verification </a:t>
            </a:r>
            <a:r>
              <a:rPr lang="en-US" sz="950" dirty="0">
                <a:solidFill>
                  <a:srgbClr val="333333"/>
                </a:solidFill>
              </a:rPr>
              <a:t>— traceability and sign-off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42245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This ensures consistent, repeatable, and scalable delivery across all project types.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45536" y="1298448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13898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340"/>
                </a:solidFill>
              </a:rPr>
              <a:t>Where Spec Kit Helps?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73552" y="1773936"/>
            <a:ext cx="2487168" cy="13716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73552" y="184708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Instead of ad-hoc prompts and manual coordination, Spec Kit enables: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73552" y="218541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Clear project context — constitution enforced across every AI interaction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73552" y="25237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Structured planning — verifiable requirements before code is generated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73552" y="286207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Parallel execution — tasks marked [P] run concurrently for speed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73552" y="32004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Built-in verification — /speckit.analyze catches gaps before implementation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73552" y="35387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Git-based delivery — version-controlled specs alongside source code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73552" y="387705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Full traceability — FR-XXX flows spec → plan → tasks → code → checklist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73552" y="421538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All this runs through simple slash commands while the AI agent handles complexity behind the scenes.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53328" y="1298448"/>
            <a:ext cx="288950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138988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C2340"/>
                </a:solidFill>
              </a:rPr>
              <a:t>Our Use Case: AI Driven Software Delivery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81344" y="1773936"/>
            <a:ext cx="2633472" cy="13716"/>
          </a:xfrm>
          <a:prstGeom prst="rect">
            <a:avLst/>
          </a:prstGeom>
          <a:solidFill>
            <a:srgbClr val="BBBBBB"/>
          </a:solidFill>
          <a:ln w="12700">
            <a:solidFill>
              <a:srgbClr val="BBBBB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184708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111"/>
                </a:solidFill>
              </a:rPr>
              <a:t>Evaluated GitHub Spec Kit for accelerating AI-assisted software delivery workflows across the organisation.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81344" y="22768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C2340"/>
                </a:solidFill>
              </a:rPr>
              <a:t>Applied across scenarios: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81344" y="252374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Feature development — greenfield spec-to-code workflow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81344" y="282549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Brownfield enhancement — adding to existing systems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81344" y="312724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Automated test generation alongside feature implementation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81344" y="34290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Security validation — OWASP compliance via constitution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81344" y="373075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11111"/>
                </a:solidFill>
              </a:rPr>
              <a:t>Traceability and documentation for audit and review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63056" y="4032504"/>
            <a:ext cx="2670048" cy="914400"/>
          </a:xfrm>
          <a:prstGeom prst="rect">
            <a:avLst/>
          </a:prstGeom>
          <a:solidFill>
            <a:srgbClr val="EDF3FF"/>
          </a:solidFill>
          <a:ln w="12700">
            <a:solidFill>
              <a:srgbClr val="AABB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408736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2340"/>
                </a:solidFill>
              </a:rPr>
              <a:t>Goal:
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</a:rPr>
              <a:t>Leverage Spec Kit to enable spec-driven, AI-executed development — reducing manual effort while improving speed, quality, and reliability of delivery across new and existing projects.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01168" y="5047488"/>
            <a:ext cx="8942832" cy="13716"/>
          </a:xfrm>
          <a:prstGeom prst="rect">
            <a:avLst/>
          </a:prstGeom>
          <a:solidFill>
            <a:srgbClr val="3DB54A"/>
          </a:solidFill>
          <a:ln w="12700">
            <a:solidFill>
              <a:srgbClr val="3DB5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92624"/>
            <a:ext cx="8686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6666"/>
                </a:solidFill>
              </a:rPr>
              <a:t>EA Team  •  GitHub Spec Kit  •  Spec-Driven Development  •  May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B54A"/>
          </a:solidFill>
          <a:ln w="12700">
            <a:solidFill>
              <a:srgbClr val="3DB5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4572000" cy="91440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3168" y="0"/>
            <a:ext cx="4370832" cy="91440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Comparison: GitHub Spec Kit  vs  BMAD Method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37744" y="987552"/>
            <a:ext cx="4160520" cy="310896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" y="987552"/>
            <a:ext cx="4160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 Spec Kit — Spec-Driven Development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" y="1316736"/>
            <a:ext cx="4160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44466"/>
                </a:solidFill>
              </a:rPr>
              <a:t>Human controls each step  •  Single AI agent  •  Sequential with review gates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7744" y="1536192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" y="1536192"/>
            <a:ext cx="292608" cy="274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153619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155448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2FBE"/>
                </a:solidFill>
              </a:rPr>
              <a:t>specify init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1682496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CLI scaffolds .specify/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9768" y="1810512"/>
            <a:ext cx="73152" cy="2633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0800000">
            <a:off x="347472" y="1827703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" y="1854403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" y="1854403"/>
            <a:ext cx="292608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1854403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1872691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/speckit.constitution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2000707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Project law — rules + templates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9768" y="2128723"/>
            <a:ext cx="73152" cy="2633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347472" y="2145914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" y="2172614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2172614"/>
            <a:ext cx="292608" cy="2743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" y="2172614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219090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38F"/>
                </a:solidFill>
              </a:rPr>
              <a:t>/speckit.specify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6928" y="2318918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WHAT — spec.md + FR-XXX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9768" y="2446934"/>
            <a:ext cx="73152" cy="2633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0800000">
            <a:off x="347472" y="2464125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7744" y="2490826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" y="2490826"/>
            <a:ext cx="292608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" y="2490826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" y="2509114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/speckit.clarify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6928" y="2637130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Resolve all gaps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29768" y="2765146"/>
            <a:ext cx="73152" cy="2633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0800000">
            <a:off x="347472" y="2782336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7744" y="2809037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7744" y="2809037"/>
            <a:ext cx="292608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" y="2809037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2827325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65100"/>
                </a:solidFill>
              </a:rPr>
              <a:t>/speckit.plan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2955341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HOW — plan.md + gates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29768" y="3083357"/>
            <a:ext cx="73152" cy="2633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0800000">
            <a:off x="347472" y="3100548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3127248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E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7744" y="3127248"/>
            <a:ext cx="292608" cy="274320"/>
          </a:xfrm>
          <a:prstGeom prst="rect">
            <a:avLst/>
          </a:prstGeom>
          <a:solidFill>
            <a:srgbClr val="6A1E55"/>
          </a:solidFill>
          <a:ln w="12700">
            <a:solidFill>
              <a:srgbClr val="6A1E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" y="3127248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6928" y="3145536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A1E55"/>
                </a:solidFill>
              </a:rPr>
              <a:t>/speckit.analyze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66928" y="3273552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Gap check — read only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29768" y="3401568"/>
            <a:ext cx="73152" cy="2633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347472" y="3418759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7744" y="3445459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7744" y="3445459"/>
            <a:ext cx="292608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7744" y="3445459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6928" y="3463747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71C1C"/>
                </a:solidFill>
              </a:rPr>
              <a:t>/speckit.tasks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66928" y="3591763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tasks.md — phased + [P]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29768" y="3719779"/>
            <a:ext cx="73152" cy="2633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10800000">
            <a:off x="347472" y="3736970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37744" y="3763670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7744" y="3763670"/>
            <a:ext cx="292608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37744" y="3763670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66928" y="3781958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</a:rPr>
              <a:t>/speckit.implement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66928" y="3909974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Code generated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29768" y="4037990"/>
            <a:ext cx="73152" cy="2633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10800000">
            <a:off x="347472" y="4055181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37744" y="4081882"/>
            <a:ext cx="416052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37744" y="4081882"/>
            <a:ext cx="292608" cy="274320"/>
          </a:xfrm>
          <a:prstGeom prst="rect">
            <a:avLst/>
          </a:prstGeom>
          <a:solidFill>
            <a:srgbClr val="4E342E"/>
          </a:solidFill>
          <a:ln w="12700">
            <a:solidFill>
              <a:srgbClr val="4E34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7744" y="4081882"/>
            <a:ext cx="292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566928" y="410017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E342E"/>
                </a:solidFill>
              </a:rPr>
              <a:t>/speckit.checklist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66928" y="4228186"/>
            <a:ext cx="35661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FR-XXX sign-off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41248" y="2133295"/>
            <a:ext cx="12801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DB54A"/>
                </a:solidFill>
              </a:rPr>
              <a:t>← human review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841248" y="2769718"/>
            <a:ext cx="12801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DB54A"/>
                </a:solidFill>
              </a:rPr>
              <a:t>← human review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841248" y="3406140"/>
            <a:ext cx="12801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DB54A"/>
                </a:solidFill>
              </a:rPr>
              <a:t>← human review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841248" y="4042562"/>
            <a:ext cx="128016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DB54A"/>
                </a:solidFill>
              </a:rPr>
              <a:t>← human review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736592" y="987552"/>
            <a:ext cx="4206240" cy="310896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36592" y="98755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BMAD Method — Multi-Agent Orchestration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4736592" y="131673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64400"/>
                </a:solidFill>
              </a:rPr>
              <a:t>Specialized AI personas  •  Parallel agents  •  Autonomous team execution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736592" y="1572768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36592" y="1572768"/>
            <a:ext cx="640080" cy="3840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36592" y="157276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1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413248" y="160020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Analyst Agent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5413248" y="177393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Requirements gathering + problem framing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974336" y="1956816"/>
            <a:ext cx="73152" cy="3840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10800000">
            <a:off x="4892040" y="1986077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36592" y="2020824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736592" y="2020824"/>
            <a:ext cx="6400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36592" y="202082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2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5413248" y="20482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565C0"/>
                </a:solidFill>
              </a:rPr>
              <a:t>PM Agent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5413248" y="222199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PRD + user stories + acceptance criteria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974336" y="2404872"/>
            <a:ext cx="73152" cy="3840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rot="10800000">
            <a:off x="4892040" y="2434133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736592" y="2468880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736592" y="2468880"/>
            <a:ext cx="640080" cy="384048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36592" y="24688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3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5413248" y="24963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838F"/>
                </a:solidFill>
              </a:rPr>
              <a:t>Architect Agent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5413248" y="267004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System design + API contracts + data models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974336" y="2852928"/>
            <a:ext cx="73152" cy="3840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10800000">
            <a:off x="4892040" y="2882189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736592" y="2916936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36592" y="2916936"/>
            <a:ext cx="64008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736592" y="291693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4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5413248" y="294436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</a:rPr>
              <a:t>UX Designer Agent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5413248" y="3118104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UI/UX flows + interface design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4974336" y="3300984"/>
            <a:ext cx="73152" cy="3840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10800000">
            <a:off x="4892040" y="3330245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36592" y="3364992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736592" y="3364992"/>
            <a:ext cx="640080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736592" y="336499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5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5413248" y="33924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5100"/>
                </a:solidFill>
              </a:rPr>
              <a:t>Developer Agent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>
            <a:off x="5413248" y="3566160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Code implementation story by story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4974336" y="3749040"/>
            <a:ext cx="73152" cy="3840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10800000">
            <a:off x="4892040" y="3778301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736592" y="3813048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E55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736592" y="3813048"/>
            <a:ext cx="640080" cy="384048"/>
          </a:xfrm>
          <a:prstGeom prst="rect">
            <a:avLst/>
          </a:prstGeom>
          <a:solidFill>
            <a:srgbClr val="6A1E55"/>
          </a:solidFill>
          <a:ln w="12700">
            <a:solidFill>
              <a:srgbClr val="6A1E55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736592" y="381304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6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5413248" y="384048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E55"/>
                </a:solidFill>
              </a:rPr>
              <a:t>QA Agent</a:t>
            </a:r>
            <a:endParaRPr lang="en-US" sz="1000" dirty="0"/>
          </a:p>
        </p:txBody>
      </p:sp>
      <p:sp>
        <p:nvSpPr>
          <p:cNvPr id="116" name="Text 114"/>
          <p:cNvSpPr/>
          <p:nvPr/>
        </p:nvSpPr>
        <p:spPr>
          <a:xfrm>
            <a:off x="5413248" y="4014216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Test strategy + test cases + validation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4974336" y="4197096"/>
            <a:ext cx="73152" cy="38405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10800000">
            <a:off x="4892040" y="4226357"/>
            <a:ext cx="237744" cy="7315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736592" y="4261104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736592" y="4261104"/>
            <a:ext cx="640080" cy="38404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736592" y="426110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Phase 7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5413248" y="428853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71C1C"/>
                </a:solidFill>
              </a:rPr>
              <a:t>Release Engineer Agent</a:t>
            </a:r>
            <a:endParaRPr lang="en-US" sz="1000" dirty="0"/>
          </a:p>
        </p:txBody>
      </p:sp>
      <p:sp>
        <p:nvSpPr>
          <p:cNvPr id="123" name="Text 121"/>
          <p:cNvSpPr/>
          <p:nvPr/>
        </p:nvSpPr>
        <p:spPr>
          <a:xfrm>
            <a:off x="5413248" y="446227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CI/CD + deployment scripts + release</a:t>
            </a:r>
            <a:endParaRPr lang="en-US" sz="850" dirty="0"/>
          </a:p>
        </p:txBody>
      </p:sp>
      <p:sp>
        <p:nvSpPr>
          <p:cNvPr id="124" name="Text 122"/>
          <p:cNvSpPr/>
          <p:nvPr/>
        </p:nvSpPr>
        <p:spPr>
          <a:xfrm>
            <a:off x="5376672" y="1961388"/>
            <a:ext cx="13716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4860A"/>
                </a:solidFill>
              </a:rPr>
              <a:t>← agent handoff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5376672" y="2857500"/>
            <a:ext cx="13716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4860A"/>
                </a:solidFill>
              </a:rPr>
              <a:t>← agent handoff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5376672" y="3753612"/>
            <a:ext cx="137160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D4860A"/>
                </a:solidFill>
              </a:rPr>
              <a:t>← agent handoff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4462272" y="987552"/>
            <a:ext cx="27432" cy="405993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334256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88888"/>
                </a:solidFill>
              </a:rPr>
              <a:t>vs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201168" y="4754880"/>
            <a:ext cx="8741664" cy="292608"/>
          </a:xfrm>
          <a:prstGeom prst="rect">
            <a:avLst/>
          </a:prstGeom>
          <a:solidFill>
            <a:srgbClr val="1A1A2E"/>
          </a:solidFill>
          <a:ln w="12700">
            <a:solidFill>
              <a:srgbClr val="3DB54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74320" y="475488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B54A"/>
                </a:solidFill>
              </a:rPr>
              <a:t>Spec Kit: </a:t>
            </a:r>
            <a:r>
              <a:rPr lang="en-US" sz="900" dirty="0">
                <a:solidFill>
                  <a:srgbClr val="FFFFFF"/>
                </a:solidFill>
              </a:rPr>
              <a:t>Human controls pace — one command, review, next command.  </a:t>
            </a:r>
            <a:r>
              <a:rPr lang="en-US" sz="900" b="1" dirty="0">
                <a:solidFill>
                  <a:srgbClr val="FFB300"/>
                </a:solidFill>
              </a:rPr>
              <a:t>BMAD: </a:t>
            </a:r>
            <a:r>
              <a:rPr lang="en-US" sz="900" dirty="0">
                <a:solidFill>
                  <a:srgbClr val="FFFFFF"/>
                </a:solidFill>
              </a:rPr>
              <a:t>Agents hand off autonomously — Analyst → PM → Architect → Dev → QA → Release.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DB54A"/>
          </a:solidFill>
          <a:ln w="12700">
            <a:solidFill>
              <a:srgbClr val="3DB5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4572000" cy="96012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3168" y="0"/>
            <a:ext cx="4370832" cy="96012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 vs BMAD — Workflow Stages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1005840" cy="1645920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78992"/>
            <a:ext cx="1005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Spec Kit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35024" y="1078992"/>
            <a:ext cx="969264" cy="1645920"/>
          </a:xfrm>
          <a:prstGeom prst="chevron">
            <a:avLst/>
          </a:prstGeom>
          <a:solidFill>
            <a:srgbClr val="7B2FB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5024" y="11704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35024" y="144475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Constitution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35024" y="1783080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Project law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&amp; rules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322576" y="1078992"/>
            <a:ext cx="969264" cy="1645920"/>
          </a:xfrm>
          <a:prstGeom prst="chevron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11704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22576" y="144475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Specify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22576" y="1783080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FR-XXX from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code/input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10128" y="1078992"/>
            <a:ext cx="969264" cy="1645920"/>
          </a:xfrm>
          <a:prstGeom prst="chevron">
            <a:avLst/>
          </a:prstGeom>
          <a:solidFill>
            <a:srgbClr val="1976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1704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144475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Clarify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10128" y="1783080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Resolve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gaps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97680" y="1078992"/>
            <a:ext cx="969264" cy="1645920"/>
          </a:xfrm>
          <a:prstGeom prst="chevron">
            <a:avLst/>
          </a:prstGeom>
          <a:solidFill>
            <a:srgbClr val="0083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1704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97680" y="144475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Plan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0" y="1783080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Architecture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&amp; gates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285232" y="1078992"/>
            <a:ext cx="969264" cy="1645920"/>
          </a:xfrm>
          <a:prstGeom prst="chevron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1704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85232" y="144475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Analyze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85232" y="1783080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Cross-artifact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check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272784" y="1078992"/>
            <a:ext cx="969264" cy="1645920"/>
          </a:xfrm>
          <a:prstGeom prst="chevron">
            <a:avLst/>
          </a:prstGeom>
          <a:solidFill>
            <a:srgbClr val="E651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11704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72784" y="144475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Tasks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72784" y="1783080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Ordered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phases [P]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60336" y="1078992"/>
            <a:ext cx="969264" cy="1645920"/>
          </a:xfrm>
          <a:prstGeom prst="chevron">
            <a:avLst/>
          </a:prstGeom>
          <a:solidFill>
            <a:srgbClr val="B7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0336" y="11704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0336" y="144475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Implement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60336" y="1783080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Code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generated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47888" y="1078992"/>
            <a:ext cx="969264" cy="1645920"/>
          </a:xfrm>
          <a:prstGeom prst="chevron">
            <a:avLst/>
          </a:prstGeom>
          <a:solidFill>
            <a:srgbClr val="4E34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47888" y="11704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47888" y="1444752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Checklist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47888" y="1783080"/>
            <a:ext cx="804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FR-XXX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sign-off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56032" y="2907792"/>
            <a:ext cx="1005840" cy="192024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" y="2907792"/>
            <a:ext cx="1005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BMAD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Method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335024" y="2907792"/>
            <a:ext cx="969264" cy="1920240"/>
          </a:xfrm>
          <a:prstGeom prst="chevron">
            <a:avLst/>
          </a:prstGeom>
          <a:solidFill>
            <a:srgbClr val="8D4E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35024" y="29992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335024" y="32918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Project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Setup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335024" y="379476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Install agent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YAML files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322576" y="2907792"/>
            <a:ext cx="969264" cy="1920240"/>
          </a:xfrm>
          <a:prstGeom prst="chevron">
            <a:avLst/>
          </a:prstGeom>
          <a:solidFill>
            <a:srgbClr val="A052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22576" y="29992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322576" y="32918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322576" y="379476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Discovery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research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310128" y="2907792"/>
            <a:ext cx="969264" cy="1920240"/>
          </a:xfrm>
          <a:prstGeom prst="chevron">
            <a:avLst/>
          </a:prstGeom>
          <a:solidFill>
            <a:srgbClr val="BF6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310128" y="29992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310128" y="32918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310128" y="379476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PRD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user stories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297680" y="2907792"/>
            <a:ext cx="969264" cy="1920240"/>
          </a:xfrm>
          <a:prstGeom prst="chevron">
            <a:avLst/>
          </a:prstGeom>
          <a:solidFill>
            <a:srgbClr val="CC7A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0" y="29992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297680" y="32918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Architect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297680" y="379476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System design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&amp; contracts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285232" y="2907792"/>
            <a:ext cx="969264" cy="1920240"/>
          </a:xfrm>
          <a:prstGeom prst="chevron">
            <a:avLst/>
          </a:prstGeom>
          <a:solidFill>
            <a:srgbClr val="D4860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85232" y="29992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285232" y="32918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UX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85232" y="379476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Interface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design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72784" y="2907792"/>
            <a:ext cx="969264" cy="1920240"/>
          </a:xfrm>
          <a:prstGeom prst="chevron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72784" y="29992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272784" y="32918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Developer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72784" y="379476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Story-by-story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implementation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260336" y="2907792"/>
            <a:ext cx="969264" cy="1920240"/>
          </a:xfrm>
          <a:prstGeom prst="chevron">
            <a:avLst/>
          </a:prstGeom>
          <a:solidFill>
            <a:srgbClr val="9966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60336" y="29992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260336" y="32918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260336" y="379476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Test strategy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&amp; validation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8247888" y="2907792"/>
            <a:ext cx="969264" cy="1920240"/>
          </a:xfrm>
          <a:prstGeom prst="chevron">
            <a:avLst/>
          </a:prstGeom>
          <a:solidFill>
            <a:srgbClr val="7A52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47888" y="2999232"/>
            <a:ext cx="832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8247888" y="329184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Release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247888" y="3794760"/>
            <a:ext cx="804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CI/CD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DDDDDD"/>
                </a:solidFill>
              </a:rPr>
              <a:t>deployment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56032" y="4901184"/>
            <a:ext cx="8723376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6032" y="4901184"/>
            <a:ext cx="8723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A6B"/>
                </a:solidFill>
              </a:rPr>
              <a:t>Spec Kit: </a:t>
            </a:r>
            <a:r>
              <a:rPr lang="en-US" sz="900" dirty="0">
                <a:solidFill>
                  <a:srgbClr val="222222"/>
                </a:solidFill>
              </a:rPr>
              <a:t>Human controls each step — one command at a time — linear pipeline          </a:t>
            </a:r>
            <a:r>
              <a:rPr lang="en-US" sz="900" b="1" dirty="0">
                <a:solidFill>
                  <a:srgbClr val="D4860A"/>
                </a:solidFill>
              </a:rPr>
              <a:t>BMAD: </a:t>
            </a:r>
            <a:r>
              <a:rPr lang="en-US" sz="900" dirty="0">
                <a:solidFill>
                  <a:srgbClr val="222222"/>
                </a:solidFill>
              </a:rPr>
              <a:t>Specialized AI agents execute in parallel — team-level orchestration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01168" y="5120640"/>
            <a:ext cx="8942832" cy="13716"/>
          </a:xfrm>
          <a:prstGeom prst="rect">
            <a:avLst/>
          </a:prstGeom>
          <a:solidFill>
            <a:srgbClr val="3DB54A"/>
          </a:solidFill>
          <a:ln w="12700">
            <a:solidFill>
              <a:srgbClr val="3DB54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713</Words>
  <Application>Microsoft Office PowerPoint</Application>
  <PresentationFormat>On-screen Show (16:9)</PresentationFormat>
  <Paragraphs>174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Mahantesh Pujar</cp:lastModifiedBy>
  <cp:revision>3</cp:revision>
  <dcterms:created xsi:type="dcterms:W3CDTF">2026-05-29T07:54:08Z</dcterms:created>
  <dcterms:modified xsi:type="dcterms:W3CDTF">2026-05-29T11:30:18Z</dcterms:modified>
</cp:coreProperties>
</file>