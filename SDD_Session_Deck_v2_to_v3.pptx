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1.png"/><Relationship Id="rId3" Type="http://schemas.openxmlformats.org/officeDocument/2006/relationships/image" Target="../media/image-2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1.png"/><Relationship Id="rId3" Type="http://schemas.openxmlformats.org/officeDocument/2006/relationships/image" Target="../media/image-2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VIBE CODING 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Spec-Driven Development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tools exist, why the discipline outlives them, and how to decide for your own project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Mahantesh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EA GenAI Team — SDD Session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product tutorial. Three promises for the next hour.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23317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asset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4268" y="2587752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6118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Toolkits Exist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42519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 come later — same underlying problem, different engineering answers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80560" y="201168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83580" y="23317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asset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4748" y="2587752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36118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Tool-Agnostic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800600" y="42519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outlives any single product name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321040" y="201168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24060" y="23317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asset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228" y="2587752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49640" y="2148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549640" y="36118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Mindset Reasons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641080" y="425196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applies and when it doesn't — so the idea is complete, not just abstract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303520"/>
            <a:ext cx="3200400" cy="3200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SDD Is — and What Changed in the AI Coding Market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1920240"/>
            <a:ext cx="1737360" cy="1737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4" name="Image 0" descr="asset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2860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EMERGING DISCIPLINE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663440" y="548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SDD Is Still a New, Evolving Term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663440" y="178308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definition: capture what to build, why, and what “done” looks like — durably and reviewably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27432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 is NOT just a long prompt — a prompt lives in one chat; a spec lives with the project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344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reviewed, updated, reused by AI, and checked against the final code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 — NOT A SUDDEN LEAP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Stages of AI-Assisted Development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2651760"/>
            <a:ext cx="344424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06752" y="29077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2206752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326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VIBE CODING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316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Describe, iterate until it looks right. Fast — but context is chat-bound.</a:t>
            </a:r>
            <a:endParaRPr lang="en-US" sz="1000" dirty="0"/>
          </a:p>
        </p:txBody>
      </p:sp>
      <p:pic>
        <p:nvPicPr>
          <p:cNvPr id="9" name="Image 0" descr="asset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2628" y="3721608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41520" y="2651760"/>
            <a:ext cx="344424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71032" y="29077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5971032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632960" y="3611880"/>
            <a:ext cx="326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MODE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678680" y="4114800"/>
            <a:ext cx="316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a plan; you review before code. Better — but usually thrown away.</a:t>
            </a:r>
            <a:endParaRPr lang="en-US" sz="1000" dirty="0"/>
          </a:p>
        </p:txBody>
      </p:sp>
      <p:pic>
        <p:nvPicPr>
          <p:cNvPr id="15" name="Image 1" descr="asset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908" y="3721608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305800" y="2651760"/>
            <a:ext cx="3444240" cy="2377440"/>
          </a:xfrm>
          <a:prstGeom prst="roundRect">
            <a:avLst>
              <a:gd name="adj" fmla="val 4615"/>
            </a:avLst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735312" y="29077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4"/>
          <p:cNvSpPr/>
          <p:nvPr/>
        </p:nvSpPr>
        <p:spPr>
          <a:xfrm>
            <a:off x="9735312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8397240" y="3611880"/>
            <a:ext cx="3261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SPEC-DRIVEN DEV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442960" y="4114800"/>
            <a:ext cx="316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persists as project files: reviewed, reused, drives the work.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isn't alien — it's a more disciplined version of the plan mode many of you already use.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Problem Is Not “AI Has No Memory”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tools have context mechanisms — but feature intent still isn't preserved unless we make it durable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84708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asset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0253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54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context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892040" y="1554480"/>
            <a:ext cx="6446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Temporary, finite, easy to lose once the conversation ends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743200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035808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asset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1912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74320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instructions / AGENTS.md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892040" y="2743200"/>
            <a:ext cx="6446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standing rules (stack, standards) — but not a feature specification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" y="3931920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422452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asset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37997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93192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artifacts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892040" y="3931920"/>
            <a:ext cx="6446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intent, plans, tasks, and checks that survive and stay reviewable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85800" y="5120640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5413248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3" descr="asset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56869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51206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+ reviews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4892040" y="5120640"/>
            <a:ext cx="6446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and human validation that the intent was actually met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303520"/>
            <a:ext cx="3200400" cy="3200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Mindset Shift — From Instructions to Durable Intent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Mindset Shift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treating AI like a calculator. Treat it like a colleague you build shared context with.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257800" cy="685800"/>
          </a:xfrm>
          <a:prstGeom prst="rect">
            <a:avLst/>
          </a:prstGeom>
          <a:solidFill>
            <a:srgbClr val="5B678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TACTICAL CONTEXT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chat, short-lived plan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3227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this API,” “fix this bug”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394106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small tasks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465429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lose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600200"/>
            <a:ext cx="52578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600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CONTEXT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5146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written intent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3227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goal, decisions, constraints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394106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and maintained by the team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0" y="465429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across sessions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Intent, Not Just Instruction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starting point — very different outcomes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257800" cy="685800"/>
          </a:xfrm>
          <a:prstGeom prst="rect">
            <a:avLst/>
          </a:prstGeom>
          <a:solidFill>
            <a:srgbClr val="5B678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a delete button”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3227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does exactly this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394106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immediately — edge cases ignored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00200"/>
            <a:ext cx="5257800" cy="6858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600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“Users remove items they don't need, without losing important data”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83680" y="3227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can reason about it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394106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ask: confirmation? undo? soft delete? audit?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TOOL-AGNOSTIC CORE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Common Delivery Backbone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246888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896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6974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44018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58952" y="3383280"/>
            <a:ext cx="1911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" y="3931920"/>
            <a:ext cx="18379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problem? What does the business need?</a:t>
            </a:r>
            <a:endParaRPr lang="en-US" sz="950" dirty="0"/>
          </a:p>
        </p:txBody>
      </p:sp>
      <p:pic>
        <p:nvPicPr>
          <p:cNvPr id="9" name="Image 0" descr="asset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9484" y="3511296"/>
            <a:ext cx="201168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916936" y="246888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896B8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71316" y="26974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3671316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990088" y="3383280"/>
            <a:ext cx="1911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 / DESIGN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026664" y="3931920"/>
            <a:ext cx="18379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be true? How will we build it?</a:t>
            </a:r>
            <a:endParaRPr lang="en-US" sz="950" dirty="0"/>
          </a:p>
        </p:txBody>
      </p:sp>
      <p:pic>
        <p:nvPicPr>
          <p:cNvPr id="15" name="Image 1" descr="asset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3511296"/>
            <a:ext cx="201168" cy="2011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148072" y="246888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896B8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02452" y="26974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5902452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5221224" y="3383280"/>
            <a:ext cx="1911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DECOMPOSE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257800" y="3931920"/>
            <a:ext cx="18379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units of work</a:t>
            </a:r>
            <a:endParaRPr lang="en-US" sz="950" dirty="0"/>
          </a:p>
        </p:txBody>
      </p:sp>
      <p:pic>
        <p:nvPicPr>
          <p:cNvPr id="21" name="Image 2" descr="asset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756" y="3511296"/>
            <a:ext cx="201168" cy="20116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379208" y="246888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8896B8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133588" y="26974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19"/>
          <p:cNvSpPr/>
          <p:nvPr/>
        </p:nvSpPr>
        <p:spPr>
          <a:xfrm>
            <a:off x="8133588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7452360" y="3383280"/>
            <a:ext cx="1911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7488936" y="3931920"/>
            <a:ext cx="18379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change</a:t>
            </a:r>
            <a:endParaRPr lang="en-US" sz="950" dirty="0"/>
          </a:p>
        </p:txBody>
      </p:sp>
      <p:pic>
        <p:nvPicPr>
          <p:cNvPr id="27" name="Image 3" descr="assets/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892" y="3511296"/>
            <a:ext cx="201168" cy="20116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610344" y="246888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8896B8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364724" y="26974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4"/>
          <p:cNvSpPr/>
          <p:nvPr/>
        </p:nvSpPr>
        <p:spPr>
          <a:xfrm>
            <a:off x="10364724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9683496" y="3383280"/>
            <a:ext cx="191109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&amp; EVOLVE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9720072" y="3931920"/>
            <a:ext cx="183794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alignment; fix the right artifact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685800" y="52578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commands differ between tools. This backbone doesn't — and it's what makes the skill portable.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303520"/>
            <a:ext cx="3200400" cy="3200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 Are Implementations — Not the Mindset Itself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1920240"/>
            <a:ext cx="1737360" cy="1737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4" name="Image 0" descr="asset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2860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REVEALING THE NAMES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663440" y="548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Compete as Implementations, Not Unrelated Ideas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663440" y="178308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BMAD, Spec Kit, OpenSpec, GSD all answer the SAME questions — capture intent, plan, split work, guide, verify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27432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differs is HOW: process weight, roles, sync strategy, validation gates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344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question: “Which is the real SDD tool?”  Right question: “Which fits my project and risk?”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Representative Tool Mapping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alignment, not one-to-one command equivalence — and these change fast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31720"/>
                <a:gridCol w="2148840"/>
                <a:gridCol w="237744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 Kit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OpenSpec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 / clarify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Analysis, brief, PRD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specify, clarify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explore, propose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Discuss, research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Architecture, solutioning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 (design)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Epics &amp; stories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 (tasks)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Waves /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/ dev 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/ evolve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review, correct-course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analyze, converge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verify, sync, archive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Verify, 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Tools on Axes, Not Opinions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label a framework “good” or “bad.” Ask what trade-off it makes.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728216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asset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83664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54480"/>
            <a:ext cx="32004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tightness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892040" y="1554480"/>
            <a:ext cx="6446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strictly do spec and code stay honest with each other?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505456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2679192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asset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8346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505456"/>
            <a:ext cx="32004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weight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892040" y="2505456"/>
            <a:ext cx="6446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artifact and ceremony must humans actually review?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" y="3456432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63016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asset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78561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456432"/>
            <a:ext cx="32004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depth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892040" y="3456432"/>
            <a:ext cx="6446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checking advisory, automated, or genuinely enforced?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85800" y="4407408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4581144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3" descr="assets/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73659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4407408"/>
            <a:ext cx="32004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scope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4892040" y="4407408"/>
            <a:ext cx="6446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feature, one repo, one team, or a full lifecycle?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85800" y="5358384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85800" y="55321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assets/co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687568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54480" y="5358384"/>
            <a:ext cx="32004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Tailoring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4892040" y="5358384"/>
            <a:ext cx="6446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it scale down for small work and up for risky work?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Sync-Tightness Taxonomy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SDD is spec-first. Not all SDD is spec-anchored. (Tool placement is our working assessment, not an official label.)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8896B8"/>
          </a:solidFill>
          <a:ln/>
          <a:effectLst>
            <a:outerShdw sx="100000" sy="100000" kx="0" ky="0" algn="bl" rotWithShape="0" blurRad="101600" dist="38100" dir="5400000">
              <a:srgbClr val="8896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SPEC-FIRST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306324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guides creation. Afterward, code and spec can drift unless the team maintains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6B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SPEC-ANCHORED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09160" y="306324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stays active after delivery and is updated as the feature evolves.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83880" y="20116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41B4D"/>
          </a:solidFill>
          <a:ln/>
          <a:effectLst>
            <a:outerShdw sx="100000" sy="100000" kx="0" ky="0" algn="bl" rotWithShape="0" blurRad="101600" dist="38100" dir="5400000">
              <a:srgbClr val="8896B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23317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SPEC-AS-SOURCE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58200" y="3063240"/>
            <a:ext cx="2880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is the primary source. Humans change the spec; agents regenerate code.</a:t>
            </a:r>
            <a:endParaRPr lang="en-US" sz="1250" dirty="0"/>
          </a:p>
        </p:txBody>
      </p:sp>
      <p:pic>
        <p:nvPicPr>
          <p:cNvPr id="13" name="Image 0" descr="asset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7660" y="3657600"/>
            <a:ext cx="274320" cy="274320"/>
          </a:xfrm>
          <a:prstGeom prst="rect">
            <a:avLst/>
          </a:prstGeom>
        </p:spPr>
      </p:pic>
      <p:pic>
        <p:nvPicPr>
          <p:cNvPr id="14" name="Image 1" descr="asset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0" y="365760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800" y="5806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this of any tool — including ones that don't exist yet.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303520"/>
            <a:ext cx="3200400" cy="3200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Current Tools Actually Provide Now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Kit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by default, agent-agnostic, Markdown-artifact driven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6636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QUALITY GATES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1517904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29000"/>
            <a:ext cx="1517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86584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86584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95344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95344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04104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04104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12864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12864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taskstoissues converts the generated task list into GitHub Issues — connecting the spec directly to work tracking.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GitHub Spec Kit docs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BMAD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across a lifecycle — not just “party mode”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METHOD (when depth is needed)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2011680"/>
            <a:ext cx="1412748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011680"/>
            <a:ext cx="14127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98948" y="2011680"/>
            <a:ext cx="1728216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298948" y="2011680"/>
            <a:ext cx="17282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55764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255764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FLOW (small, clear changes)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48840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66360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6344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framing: BMAD can go deep OR light. Do NOT say “BMAD is always heavy” — the team chooses how much process is worth it.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BMAD Method workflow map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OpenSpec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proposals and synced specs — a good example of spec-anchored style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6636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5120" y="20116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0116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(finer control)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148840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166360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0" y="342900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F4F6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4290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66344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F4F6FB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it separates the current MAIN spec from a small CHANGE spec — then syncs the new behavior back in when done.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OpenSpec OPSX docs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1920240"/>
            <a:ext cx="1737360" cy="173736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4" name="Image 0" descr="assets/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2860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114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WILL KEEP CHANGING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663440" y="5486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 Shrink as Base Agents Get Stronger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663440" y="178308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Agent OS deliberately REMOVED its own planning and task-breakdown features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63440" y="27432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The base AI assistants got good enough to do that part themselves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66344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tool makers drop features as the ground shifts, betting on one feature list is risky — the DISCIPLINE is what lasts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303520"/>
            <a:ext cx="3200400" cy="3200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and Guardrails — Specs Help, But Don't Guarantee Correctness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OUR OWN PILOT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the rule is necessary. It is not sufficient.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4231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WE WROTE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3017520"/>
            <a:ext cx="2697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business logic in controllers”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389120" y="219456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141B4D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4231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GENERATED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3017520"/>
            <a:ext cx="2697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controller calling the database directly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55280" y="219456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24231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3017520"/>
            <a:ext cx="2697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the implementation — not just the document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reason to avoid SDD. It is the reason SDD must include review, tests, and convergence checks.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Something Goes Wrong, Classify the Gap First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behavior change SDD should create in teams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2578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→ IMPLEMENTATION GAP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described it correctly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3227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did something else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394106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code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465429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verification so it's caught earlier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600200"/>
            <a:ext cx="5257800" cy="6858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600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 → SPEC GAP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5146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followed the spec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3227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expressed the wrong intent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394106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description FIRST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0" y="465429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the bug returns later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BROWNFIELD REALITY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Spec the Whole Past Before Making Progress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2651760"/>
            <a:ext cx="250317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36217" y="29077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736217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222885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uneven, partially understood</a:t>
            </a:r>
            <a:endParaRPr lang="en-US" sz="1000" dirty="0"/>
          </a:p>
        </p:txBody>
      </p:sp>
      <p:pic>
        <p:nvPicPr>
          <p:cNvPr id="9" name="Image 0" descr="asset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1558" y="3721608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00450" y="2651760"/>
            <a:ext cx="250317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9427" y="29077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4559427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691890" y="36118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one change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737610" y="4114800"/>
            <a:ext cx="222885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business value</a:t>
            </a:r>
            <a:endParaRPr lang="en-US" sz="1000" dirty="0"/>
          </a:p>
        </p:txBody>
      </p:sp>
      <p:pic>
        <p:nvPicPr>
          <p:cNvPr id="15" name="Image 1" descr="asset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3721608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423660" y="2651760"/>
            <a:ext cx="250317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82637" y="29077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7382637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515100" y="36118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+ lock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560820" y="4114800"/>
            <a:ext cx="222885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code; add tests for current behavior</a:t>
            </a:r>
            <a:endParaRPr lang="en-US" sz="1000" dirty="0"/>
          </a:p>
        </p:txBody>
      </p:sp>
      <p:pic>
        <p:nvPicPr>
          <p:cNvPr id="21" name="Image 2" descr="asset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978" y="3721608"/>
            <a:ext cx="237744" cy="23774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246870" y="2651760"/>
            <a:ext cx="2503170" cy="2377440"/>
          </a:xfrm>
          <a:prstGeom prst="roundRect">
            <a:avLst>
              <a:gd name="adj" fmla="val 4615"/>
            </a:avLst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205847" y="29077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19"/>
          <p:cNvSpPr/>
          <p:nvPr/>
        </p:nvSpPr>
        <p:spPr>
          <a:xfrm>
            <a:off x="10205847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9338310" y="36118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 the change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9384030" y="4114800"/>
            <a:ext cx="222885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implement and verify safely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time, important areas become well-specified and tested. Stable or dead areas can stay untouched.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303520"/>
            <a:ext cx="3200400" cy="3200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SDD Mindset Actually Reasons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SDD Apply Here At All?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checklist for you to fill in — this is how a spec-driven thinker reasons instinctively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204520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asset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2006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54480"/>
            <a:ext cx="32004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change hands often?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892040" y="1554480"/>
            <a:ext cx="64465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handover → durable written intent pays back quickly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3139440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630168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asset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7856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139440"/>
            <a:ext cx="32004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and long-lived?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892040" y="3139440"/>
            <a:ext cx="64465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+ complex → the discipline earns its cost. A one-off script does not.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" y="4724400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521512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asset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37057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724400"/>
            <a:ext cx="32004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a missed requirement?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892040" y="4724400"/>
            <a:ext cx="64465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Regulatory, financial, safety, client impact → tighter review and verification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Actually 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instinctive reasoning, continued — still not a personal action item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204520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asset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2006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54480"/>
            <a:ext cx="32004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the spec?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892040" y="1554480"/>
            <a:ext cx="64465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writes, approves, updates, and checks it? Without an owner, it goes stale.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3139440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630168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asset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78561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139440"/>
            <a:ext cx="32004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client need traceability?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892040" y="3139440"/>
            <a:ext cx="64465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 alone isn't an audit trail — it becomes one when linked to approvals, PRs, tests, releases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" y="4724400"/>
            <a:ext cx="1060704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5215128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assets/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37057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724400"/>
            <a:ext cx="320040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evidence would convince us?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892040" y="4724400"/>
            <a:ext cx="6446520" cy="1584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start org-wide. Ask what proof, on one real feature, would be enough.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REAL TRIAL LOOKS LIKE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Descriptive, Not a Homework Assignment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2651760"/>
            <a:ext cx="250317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36217" y="29077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736217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intent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222885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real, valuable change</a:t>
            </a:r>
            <a:endParaRPr lang="en-US" sz="1000" dirty="0"/>
          </a:p>
        </p:txBody>
      </p:sp>
      <p:pic>
        <p:nvPicPr>
          <p:cNvPr id="9" name="Image 0" descr="assets/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1558" y="3721608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00450" y="2651760"/>
            <a:ext cx="250317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9427" y="29077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4559427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691890" y="36118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&amp; task it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737610" y="4114800"/>
            <a:ext cx="222885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unclear points first</a:t>
            </a:r>
            <a:endParaRPr lang="en-US" sz="1000" dirty="0"/>
          </a:p>
        </p:txBody>
      </p:sp>
      <p:pic>
        <p:nvPicPr>
          <p:cNvPr id="15" name="Image 1" descr="assets/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3721608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423660" y="2651760"/>
            <a:ext cx="2503170" cy="237744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82637" y="29077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4"/>
          <p:cNvSpPr/>
          <p:nvPr/>
        </p:nvSpPr>
        <p:spPr>
          <a:xfrm>
            <a:off x="7382637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515100" y="36118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560820" y="4114800"/>
            <a:ext cx="222885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small, reviewable slices</a:t>
            </a:r>
            <a:endParaRPr lang="en-US" sz="1000" dirty="0"/>
          </a:p>
        </p:txBody>
      </p:sp>
      <p:pic>
        <p:nvPicPr>
          <p:cNvPr id="21" name="Image 2" descr="assets/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7978" y="3721608"/>
            <a:ext cx="237744" cy="23774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246870" y="2651760"/>
            <a:ext cx="2503170" cy="2377440"/>
          </a:xfrm>
          <a:prstGeom prst="roundRect">
            <a:avLst>
              <a:gd name="adj" fmla="val 4615"/>
            </a:avLst>
          </a:prstGeom>
          <a:solidFill>
            <a:srgbClr val="E8A33D"/>
          </a:solidFill>
          <a:ln/>
          <a:effectLst>
            <a:outerShdw sx="100000" sy="100000" kx="0" ky="0" algn="bl" rotWithShape="0" blurRad="101600" dist="38100" dir="5400000">
              <a:srgbClr val="8896B8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205847" y="29077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19"/>
          <p:cNvSpPr/>
          <p:nvPr/>
        </p:nvSpPr>
        <p:spPr>
          <a:xfrm>
            <a:off x="10205847" y="29077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9338310" y="3611880"/>
            <a:ext cx="232029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&amp; retro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9384030" y="4114800"/>
            <a:ext cx="222885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then decide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separates a real evaluation from just picking a favorite — shown so the idea is concrete, not a task for you.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for Safe Adoption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better delivery — not more Markdown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52578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00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specs focused, reviewed, versioned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0120" y="3227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them to tasks, tests, and code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394106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checks: clarify, checklist, analyze, converge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465429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unnecessary information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01600" dist="38100" dir="5400000">
              <a:srgbClr val="8896B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600200"/>
            <a:ext cx="5257800" cy="6858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600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5146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commands mechanically and call it transformation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32278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generated specs or code without review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394106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“markdown monster” nobody reads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0" y="465429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an org-wide rollout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3" name="Image 0" descr="assets/che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685800" cy="685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691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ask. Just one thing worth checking.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777240" y="22860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explain to a colleague, in your own words, why this is different from vibe coding — and why it matters?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3063240"/>
            <a:ext cx="10607040" cy="1371600"/>
          </a:xfrm>
          <a:prstGeom prst="roundRect">
            <a:avLst>
              <a:gd name="adj" fmla="val 8000"/>
            </a:avLst>
          </a:prstGeom>
          <a:solidFill>
            <a:srgbClr val="141B4D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34290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SDD mindset, not the tool mindset.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97280" y="39776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from now, some commands change. The durable ideas — intent, context, review, verification, proportional process — do not.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5029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5806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more interested in where you think this way of thinking WON'T fit than where it will.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Used to Update This Version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/ backup — for Q&amp;A on tool accuracy. Not presented.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73736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 documentation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73736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github.com/github/spec-kit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30428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30428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 command reference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230428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github.github.io/spec-kit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87121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87121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custom instructions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871216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docs.github.com — repository instructions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43814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43814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BMAD Method workflow map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438144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docs.bmad-method.org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00507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00507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 OPSX docs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4005072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openspec.dev / github.com/Fission-AI/OpenSpec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5720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457200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Böckeler, Understanding Spec-Driven Development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457200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martinfowler.com/articles/exploring-gen-ai/sdd-3-tools.html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513892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513892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OS v3 migration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513892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buildermethods.com/agent-os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2026-08-04T12:01:45Z</dcterms:created>
  <dcterms:modified xsi:type="dcterms:W3CDTF">2026-08-04T12:01:45Z</dcterms:modified>
</cp:coreProperties>
</file>