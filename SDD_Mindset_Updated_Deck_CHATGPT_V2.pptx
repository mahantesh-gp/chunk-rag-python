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 — Opening
Good morning/afternoon everyone. Today is not a product tutorial, and it is not a tool comparison session in the usual sense. The real topic is a shift in how we work with AI.
Every team now has access to AI. The differentiator is no longer access. The differentiator is whether we can give AI clear intent, durable context, and effective verification. Without that discipline, stronger models can simply produce misunderstandings faster.
By the end, my goal is simple: at least one of you should leave thinking, "I can try this on one real feature in my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 — What we’ll cover
There are three promises. First, we will explain why this family of tools exists. Second, we will separate the underlying discipline from the current product names. Third, we will end with a decision framework you can use on your own client project.
This is not "go use tool X." The decision may be "not yet" for some projects. That is a valid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Segment 1 transition
Let us start with the idea itself. Before we say BMAD, Spec Kit, OpenSpec, GSD, or any tool name, we need the shared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4 — SDD is emerging
Spec-driven development is still an emerging term. Different tools use the label differently. So for this session, we will use a practical definition: SDD is about making intent durable, structured, reviewable, and connected to implementation.
That definition matters because it prevents us from confusing a detailed chat prompt with a specification. A spec is not just a long prompt. It is something the team can review, version, reuse, and validate against.
Source note: Birgitta Böckeler’s Martin Fowler article says the definition of SDD is still in flux and describes specs as structured behavior-oriented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5 — Three stages
Most of us started with vibe coding: describe what you want, iterate until it looks right. That is useful for small tasks.
Then came plan mode: ask the AI to plan first, review the plan, then implement. This is better because it adds a thinking step before code.
SDD is the next logical step: do not throw away the artifact that took the thinking. Make it durable. Review it. Reuse it. Let it guide later implementation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6 — Correcting the memory claim
In the earlier version, we said "AI has no memory." That is too absolute now. GitHub Copilot supports repository instructions, path-specific instructions, AGENTS.md, and prompt files. Other assistants have similar mechanisms.
But those are not the same as a feature specification. Instructions help with standing rules. SDD captures the intent of a specific change, how we plan to build it, and how we will verify it.
So the accurate message is: conversation context is temporary and finite. Project intent is not reliably preserved unless we deliberately store it in durable, reviewable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Segment 2 transition
Now that we have corrected the memory story, let us talk about the real mindset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8 — Tactical vs strategic context
The shift is simple. Tactical context is what we do today: a short conversation, maybe a plan, maybe some code. It works for small tasks.
Strategic context means the project keeps useful intent outside the chat. It survives sessions. It can be reviewed by humans. It can be versioned with the code.
This is the SDD mindset, not the tool mindset.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9 — Intent vs instruction
An instruction tells AI what to do on the surface. Intent tells AI what outcome we are protecting.
If I say "add a delete button," I may get exactly that. If I say users need to remove items without accidental loss, the AI has enough intent to ask about confirmation, undo, audit trails, or recovery.
This is why specs should capture the why, not only the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10 — Common backbone
Earlier we used four phases. The more accurate market-current version adds verification as a visible loop.
Different tools name the steps differently. But the backbone is discover, specify/design, decompose, implement, verify and evolve.
If the audience remembers only one framework, remember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Segment 3 transition
Now we can reveal the names, because the idea is clear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12 — Tools as implementations
These tools do compete as choices, but they are not unrelated ideas. They are different engineering answers to the same underlying problem: how do we make intent durable and keep implementation aligned with it?
So the mature question is not "which tool is SDD?" The mature question is "what synchronization, verification, and process trade-offs does this tool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13 — Tool mapping
This table is intentionally labeled representative mapping. The exact commands and workflows change rapidly. The point is conceptual alignment.
BMAD has analysis, planning, solutioning, and implementation workflows, plus quick paths. Spec Kit uses slash commands and Markdown artifacts. OpenSpec uses explore/propose/apply/sync/archive, with expanded verification commands. GSD uses discuss/plan/execute/verify/ship.
The lesson is that tools differ, but the activities rhyme.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14 — Decision axes
This slide prevents tool debates from becoming emotional. Instead of saying BMAD is heavy, Spec Kit is light, or OpenSpec is better, we ask five practical questions.
How tightly does the tool synchronize spec and code? How much artifact weight does it introduce? How deep is verification? What scope does it cover? Can it be tailored to the size and risk of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15 — Sync tightness taxonomy
This taxonomy is one of the most useful ways to explain the landscape.
Spec-first means the spec is written before code, but may not remain the active source over time. Spec-anchored means the spec is kept and updated as the feature evolves. Spec-as-source means humans primarily edit the spec and code is generated from it.
Be careful: tool placement is our working assessment based on current workflows, not an official vendor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Segment 4 transition
Now let us update the tool details so the deck is current with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17 — Spec Kit today
Spec Kit has evolved beyond the older un-namespaced commands. The current documented flow uses /speckit.* commands. The core path is specify, plan, tasks, implement, but the production-quality path includes constitution, clarify, checklist, analyze, and converge.
One new point to highlight for engineering teams: /speckit.taskstoissues can convert tasks.md into GitHub Issues. This directly connects the SDD artifact flow to execution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18 — BMAD today
BMAD should not be presented only as party mode or as a fixed heavy ceremony. The current documentation describes analysis, planning, solutioning, and implementation, and it also includes quick flows for smaller, clearer work.
So the fair architectural framing is: BMAD is context engineering with a richer lifecycle. It may be heavier in some uses, but it also has lightweight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19 — OpenSpec today
OpenSpec’s default core profile has explore, propose, apply, sync, and archive. The expanded profile adds more control, including verify, update, and onboard.
For the session, position OpenSpec as a change-proposal and spec-sync workflow. It is a good example of a spec-anchored style because the workflow can sync delta specs into main specs.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20 — Current market lesson
Instead of using unverifiable star growth data, use a stronger evidence point: Agent OS v3. Its own migration explanation shows that some framework capabilities can become unnecessary as base AI assistants improve.
That supports our tool-agnostic message: specific feature lists will change. The durable discipline remains — context, standards, intent, review, and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Segment 5 transition
Now we make the session practical and honest. SDD does not remove the need for engineering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22 — Evidence from our pilot
This is our strongest internal evidence. We wrote a rule: no business logic in controllers. Generated code still put a direct database call inside a controller.
That does not mean SDD failed. It means written rules are necessary but not sufficient. The process must include implementation verification.
External support: Böckeler’s evaluation on Martin Fowler’s site reaches a similar broader conclusion — AI-interpreted checklists and artifacts still require human review and refinement.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23 — Two gaps
This is one of the most useful mental models. When something breaks, do not immediately fix code. First classify the gap.
If the spec was right and the code diverged, it is a spec-to-implementation gap. Fix the code and strengthen verification.
If the code followed the spec, but the spec described the wrong thing, it is an intent-to-spec gap. Fix the description first. Otherwise AI can regenerate the wrong behavior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24 — Brownfield rule
For existing projects, do not start by reverse-engineering the entire codebase into specs. That produces review overload and questionable accuracy.
Instead, pick one valuable change. Explore the relevant code. Add tests or characterization checks to lock current behavior. Then create a focused spec and implementation plan.
Over time, important areas become increasingly green: specified, tested, and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Segment 6 transition
Now we make this actionable for client production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26 — Decision framework: value and risk
The first three questions focus on value and risk.
If the project changes hands often, durable intent is valuable. If the system is long-lived and complex, SDD can pay for itself. If missed requirements have high cost, you need stronger synchronization and verification.
If the work is small, short-lived, and low-risk, lightweight AI-assisted development may be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27 — Decision framework: team and evidence
The next questions are about adoption. Specifications are useful only if someone owns them. Who writes them? Who approves them? Who updates them after a change?
Also be careful with the audit-trail claim. A spec alone is not a complete audit trail. It becomes part of the audit trail when connected to approvals, PRs, tests, and releases.
Finally, do not ask for organization-wide adoption first. Ask what evidence would convince us on one real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28 — Practical pilot
My recommended close to the session is not "go adopt SDD." It is "try one real feature."
Choose one feature that is valuable but not too risky. Capture the intent, plan it, task it, implement in small slices, verify, and then retrospect.
The evidence should include more than code speed. Measure clarification quality, review effort, implementation drift, defects caught, developer confidence, and traceability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29 — Guardrails
The danger is creating a markdown monster: lots of generated documents that nobody trusts or reads. The guardrails are simple. Keep specs focused. Review them. Link them to tests and implementation. Use quality gates.
Do not run commands mechanically. Do not trust generated artifacts blindly. The goal is better delivery, not more Markdown.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30 — Close
Let me close with the same sentence: this is the SDD mindset, not the tool mindset.
Six months from now, some specific tools may look different. Some commands may be renamed. Some features may be added or removed. That is fine. The durable idea is still there: intent, structure, review, verification, and proportional adoption.
My ask is small: do not go start an org-wide rollout. Pick one real feature. Try this discipline. Then come back with evidence — what improved, what was too heavy, what failed, and what should be adjusted.
Thank you. I am more interested in where you think this will not work for your project than where you think it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Appendix — Sources
Use this slide only if someone asks about the current state of the tools or the source of the taxonomy.
The purpose is not to overload the talk with links. It is to show that the updated version is based on current official documentation and a credible independent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MPTY">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685800" y="1234440"/>
            <a:ext cx="9601200" cy="411480"/>
          </a:xfrm>
          <a:prstGeom prst="rect">
            <a:avLst/>
          </a:prstGeom>
          <a:noFill/>
          <a:ln/>
        </p:spPr>
        <p:txBody>
          <a:bodyPr wrap="square" lIns="0" tIns="0" rIns="0" bIns="0" rtlCol="0" anchor="ctr"/>
          <a:lstStyle/>
          <a:p>
            <a:pPr indent="0" marL="0">
              <a:buNone/>
            </a:pPr>
            <a:r>
              <a:rPr lang="en-US" sz="2200" dirty="0">
                <a:solidFill>
                  <a:srgbClr val="CBD5E1"/>
                </a:solidFill>
              </a:rPr>
              <a:t>FROM VIBE CODING TO</a:t>
            </a:r>
            <a:endParaRPr lang="en-US" sz="2200" dirty="0"/>
          </a:p>
        </p:txBody>
      </p:sp>
      <p:sp>
        <p:nvSpPr>
          <p:cNvPr id="4" name="Text 2"/>
          <p:cNvSpPr/>
          <p:nvPr/>
        </p:nvSpPr>
        <p:spPr>
          <a:xfrm>
            <a:off x="685800" y="1691640"/>
            <a:ext cx="10515600" cy="731520"/>
          </a:xfrm>
          <a:prstGeom prst="rect">
            <a:avLst/>
          </a:prstGeom>
          <a:noFill/>
          <a:ln/>
        </p:spPr>
        <p:txBody>
          <a:bodyPr wrap="square" lIns="0" tIns="0" rIns="0" bIns="0" rtlCol="0" anchor="ctr"/>
          <a:lstStyle/>
          <a:p>
            <a:pPr indent="0" marL="0">
              <a:buNone/>
            </a:pPr>
            <a:r>
              <a:rPr lang="en-US" sz="4400" b="1" dirty="0">
                <a:solidFill>
                  <a:srgbClr val="FFFFFF"/>
                </a:solidFill>
                <a:latin typeface="Aptos Display" pitchFamily="34" charset="0"/>
                <a:ea typeface="Aptos Display" pitchFamily="34" charset="-122"/>
                <a:cs typeface="Aptos Display" pitchFamily="34" charset="-120"/>
              </a:rPr>
              <a:t>Spec-Driven Development</a:t>
            </a:r>
            <a:endParaRPr lang="en-US" sz="4400" dirty="0"/>
          </a:p>
        </p:txBody>
      </p:sp>
      <p:sp>
        <p:nvSpPr>
          <p:cNvPr id="5" name="Text 3"/>
          <p:cNvSpPr/>
          <p:nvPr/>
        </p:nvSpPr>
        <p:spPr>
          <a:xfrm>
            <a:off x="731520" y="2651760"/>
            <a:ext cx="8961120" cy="457200"/>
          </a:xfrm>
          <a:prstGeom prst="rect">
            <a:avLst/>
          </a:prstGeom>
          <a:noFill/>
          <a:ln/>
        </p:spPr>
        <p:txBody>
          <a:bodyPr wrap="square" lIns="0" tIns="0" rIns="0" bIns="0" rtlCol="0" anchor="ctr"/>
          <a:lstStyle/>
          <a:p>
            <a:pPr indent="0" marL="0">
              <a:buNone/>
            </a:pPr>
            <a:r>
              <a:rPr lang="en-US" sz="1700" dirty="0">
                <a:solidFill>
                  <a:srgbClr val="CBD5E1"/>
                </a:solidFill>
              </a:rPr>
              <a:t>Why these tools exist, why the discipline outlives them, and how to decide for your own project</a:t>
            </a:r>
            <a:endParaRPr lang="en-US" sz="1700" dirty="0"/>
          </a:p>
        </p:txBody>
      </p:sp>
      <p:sp>
        <p:nvSpPr>
          <p:cNvPr id="6" name="Shape 4"/>
          <p:cNvSpPr/>
          <p:nvPr/>
        </p:nvSpPr>
        <p:spPr>
          <a:xfrm>
            <a:off x="731520" y="3273552"/>
            <a:ext cx="3291840" cy="0"/>
          </a:xfrm>
          <a:prstGeom prst="line">
            <a:avLst/>
          </a:prstGeom>
          <a:noFill/>
          <a:ln w="50800">
            <a:solidFill>
              <a:srgbClr val="F97316"/>
            </a:solidFill>
            <a:prstDash val="solid"/>
          </a:ln>
        </p:spPr>
      </p:sp>
      <p:sp>
        <p:nvSpPr>
          <p:cNvPr id="7" name="Text 5"/>
          <p:cNvSpPr/>
          <p:nvPr/>
        </p:nvSpPr>
        <p:spPr>
          <a:xfrm>
            <a:off x="731520" y="5897880"/>
            <a:ext cx="9601200" cy="274320"/>
          </a:xfrm>
          <a:prstGeom prst="rect">
            <a:avLst/>
          </a:prstGeom>
          <a:noFill/>
          <a:ln/>
        </p:spPr>
        <p:txBody>
          <a:bodyPr wrap="square" lIns="0" tIns="0" rIns="0" bIns="0" rtlCol="0" anchor="ctr"/>
          <a:lstStyle/>
          <a:p>
            <a:pPr indent="0" marL="0">
              <a:buNone/>
            </a:pPr>
            <a:r>
              <a:rPr lang="en-US" sz="1300" dirty="0">
                <a:solidFill>
                  <a:srgbClr val="94A3B8"/>
                </a:solidFill>
              </a:rPr>
              <a:t>Mahantesh  |  EA GenAI Team  |  Updated for the current AI coding-agent market</a:t>
            </a:r>
            <a:endParaRPr lang="en-US" sz="1300" dirty="0"/>
          </a:p>
        </p:txBody>
      </p:sp>
      <p:sp>
        <p:nvSpPr>
          <p:cNvPr id="8" name="Text 6"/>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CBD5E1"/>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What We’ll Cover</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Three promises for the next hour — no installs, no commands tutorial, no forced recommendation.</a:t>
            </a:r>
            <a:endParaRPr lang="en-US" sz="1400" dirty="0"/>
          </a:p>
        </p:txBody>
      </p:sp>
      <p:sp>
        <p:nvSpPr>
          <p:cNvPr id="5" name="Shape 3"/>
          <p:cNvSpPr/>
          <p:nvPr/>
        </p:nvSpPr>
        <p:spPr>
          <a:xfrm>
            <a:off x="777240" y="1874520"/>
            <a:ext cx="3291840" cy="1920240"/>
          </a:xfrm>
          <a:prstGeom prst="roundRect">
            <a:avLst>
              <a:gd name="adj" fmla="val 3810"/>
            </a:avLst>
          </a:prstGeom>
          <a:solidFill>
            <a:srgbClr val="FFFFFF"/>
          </a:solidFill>
          <a:ln w="12700">
            <a:solidFill>
              <a:srgbClr val="FED7AA"/>
            </a:solidFill>
            <a:prstDash val="solid"/>
          </a:ln>
        </p:spPr>
      </p:sp>
      <p:sp>
        <p:nvSpPr>
          <p:cNvPr id="6" name="Text 4"/>
          <p:cNvSpPr/>
          <p:nvPr/>
        </p:nvSpPr>
        <p:spPr>
          <a:xfrm>
            <a:off x="914400" y="2002536"/>
            <a:ext cx="3017520" cy="1664208"/>
          </a:xfrm>
          <a:prstGeom prst="rect">
            <a:avLst/>
          </a:prstGeom>
          <a:noFill/>
          <a:ln/>
        </p:spPr>
        <p:txBody>
          <a:bodyPr wrap="square" lIns="254" tIns="254" rIns="254" bIns="254" rtlCol="0" anchor="ctr">
            <a:normAutofit/>
          </a:bodyPr>
          <a:lstStyle/>
          <a:p>
            <a:pPr algn="ctr" indent="0" marL="0">
              <a:buNone/>
            </a:pPr>
            <a:r>
              <a:rPr lang="en-US" sz="1800" b="1" dirty="0">
                <a:solidFill>
                  <a:srgbClr val="111827"/>
                </a:solidFill>
              </a:rPr>
              <a:t>1</a:t>
            </a:r>
            <a:endParaRPr lang="en-US" sz="1800" dirty="0"/>
          </a:p>
          <a:p>
            <a:pPr algn="ctr" indent="0" marL="0">
              <a:buNone/>
            </a:pPr>
            <a:r>
              <a:rPr lang="en-US" sz="1800" b="1" dirty="0">
                <a:solidFill>
                  <a:srgbClr val="111827"/>
                </a:solidFill>
              </a:rPr>
              <a:t>Why these toolkits exist</a:t>
            </a:r>
            <a:endParaRPr lang="en-US" sz="1800" dirty="0"/>
          </a:p>
        </p:txBody>
      </p:sp>
      <p:sp>
        <p:nvSpPr>
          <p:cNvPr id="7" name="Shape 5"/>
          <p:cNvSpPr/>
          <p:nvPr/>
        </p:nvSpPr>
        <p:spPr>
          <a:xfrm>
            <a:off x="4434840" y="1874520"/>
            <a:ext cx="3291840" cy="1920240"/>
          </a:xfrm>
          <a:prstGeom prst="roundRect">
            <a:avLst>
              <a:gd name="adj" fmla="val 3810"/>
            </a:avLst>
          </a:prstGeom>
          <a:solidFill>
            <a:srgbClr val="FFFFFF"/>
          </a:solidFill>
          <a:ln w="12700">
            <a:solidFill>
              <a:srgbClr val="BFDBFE"/>
            </a:solidFill>
            <a:prstDash val="solid"/>
          </a:ln>
        </p:spPr>
      </p:sp>
      <p:sp>
        <p:nvSpPr>
          <p:cNvPr id="8" name="Text 6"/>
          <p:cNvSpPr/>
          <p:nvPr/>
        </p:nvSpPr>
        <p:spPr>
          <a:xfrm>
            <a:off x="4572000" y="2002536"/>
            <a:ext cx="3017520" cy="1664208"/>
          </a:xfrm>
          <a:prstGeom prst="rect">
            <a:avLst/>
          </a:prstGeom>
          <a:noFill/>
          <a:ln/>
        </p:spPr>
        <p:txBody>
          <a:bodyPr wrap="square" lIns="254" tIns="254" rIns="254" bIns="254" rtlCol="0" anchor="ctr">
            <a:normAutofit/>
          </a:bodyPr>
          <a:lstStyle/>
          <a:p>
            <a:pPr algn="ctr" indent="0" marL="0">
              <a:buNone/>
            </a:pPr>
            <a:r>
              <a:rPr lang="en-US" sz="1800" b="1" dirty="0">
                <a:solidFill>
                  <a:srgbClr val="111827"/>
                </a:solidFill>
              </a:rPr>
              <a:t>2</a:t>
            </a:r>
            <a:endParaRPr lang="en-US" sz="1800" dirty="0"/>
          </a:p>
          <a:p>
            <a:pPr algn="ctr" indent="0" marL="0">
              <a:buNone/>
            </a:pPr>
            <a:r>
              <a:rPr lang="en-US" sz="1800" b="1" dirty="0">
                <a:solidFill>
                  <a:srgbClr val="111827"/>
                </a:solidFill>
              </a:rPr>
              <a:t>Why SDD is tool-agnostic</a:t>
            </a:r>
            <a:endParaRPr lang="en-US" sz="1800" dirty="0"/>
          </a:p>
        </p:txBody>
      </p:sp>
      <p:sp>
        <p:nvSpPr>
          <p:cNvPr id="9" name="Shape 7"/>
          <p:cNvSpPr/>
          <p:nvPr/>
        </p:nvSpPr>
        <p:spPr>
          <a:xfrm>
            <a:off x="8092440" y="1874520"/>
            <a:ext cx="3291840" cy="1920240"/>
          </a:xfrm>
          <a:prstGeom prst="roundRect">
            <a:avLst>
              <a:gd name="adj" fmla="val 3810"/>
            </a:avLst>
          </a:prstGeom>
          <a:solidFill>
            <a:srgbClr val="FFFFFF"/>
          </a:solidFill>
          <a:ln w="12700">
            <a:solidFill>
              <a:srgbClr val="BBF7D0"/>
            </a:solidFill>
            <a:prstDash val="solid"/>
          </a:ln>
        </p:spPr>
      </p:sp>
      <p:sp>
        <p:nvSpPr>
          <p:cNvPr id="10" name="Text 8"/>
          <p:cNvSpPr/>
          <p:nvPr/>
        </p:nvSpPr>
        <p:spPr>
          <a:xfrm>
            <a:off x="8229600" y="2002536"/>
            <a:ext cx="3017520" cy="1664208"/>
          </a:xfrm>
          <a:prstGeom prst="rect">
            <a:avLst/>
          </a:prstGeom>
          <a:noFill/>
          <a:ln/>
        </p:spPr>
        <p:txBody>
          <a:bodyPr wrap="square" lIns="254" tIns="254" rIns="254" bIns="254" rtlCol="0" anchor="ctr">
            <a:normAutofit/>
          </a:bodyPr>
          <a:lstStyle/>
          <a:p>
            <a:pPr algn="ctr" indent="0" marL="0">
              <a:buNone/>
            </a:pPr>
            <a:r>
              <a:rPr lang="en-US" sz="1800" b="1" dirty="0">
                <a:solidFill>
                  <a:srgbClr val="111827"/>
                </a:solidFill>
              </a:rPr>
              <a:t>3</a:t>
            </a:r>
            <a:endParaRPr lang="en-US" sz="1800" dirty="0"/>
          </a:p>
          <a:p>
            <a:pPr algn="ctr" indent="0" marL="0">
              <a:buNone/>
            </a:pPr>
            <a:r>
              <a:rPr lang="en-US" sz="1800" b="1" dirty="0">
                <a:solidFill>
                  <a:srgbClr val="111827"/>
                </a:solidFill>
              </a:rPr>
              <a:t>How to decide for your project</a:t>
            </a:r>
            <a:endParaRPr lang="en-US" sz="1800" dirty="0"/>
          </a:p>
        </p:txBody>
      </p:sp>
      <p:sp>
        <p:nvSpPr>
          <p:cNvPr id="11" name="Text 9"/>
          <p:cNvSpPr/>
          <p:nvPr/>
        </p:nvSpPr>
        <p:spPr>
          <a:xfrm>
            <a:off x="1005840" y="4754880"/>
            <a:ext cx="10149840" cy="502920"/>
          </a:xfrm>
          <a:prstGeom prst="rect">
            <a:avLst/>
          </a:prstGeom>
          <a:noFill/>
          <a:ln/>
        </p:spPr>
        <p:txBody>
          <a:bodyPr wrap="square" lIns="635" tIns="635" rIns="635" bIns="635" rtlCol="0" anchor="t">
            <a:normAutofit/>
          </a:bodyPr>
          <a:lstStyle/>
          <a:p>
            <a:pPr indent="0" marL="0">
              <a:buNone/>
            </a:pPr>
            <a:r>
              <a:rPr lang="en-US" sz="2100" dirty="0">
                <a:solidFill>
                  <a:srgbClr val="111827"/>
                </a:solidFill>
              </a:rPr>
              <a:t>The outcome: a practical decision framework you can bring back to a production client project tomorrow.</a:t>
            </a:r>
            <a:endParaRPr lang="en-US" sz="2100" dirty="0"/>
          </a:p>
        </p:txBody>
      </p:sp>
      <p:sp>
        <p:nvSpPr>
          <p:cNvPr id="12" name="Text 10"/>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731520" y="2331720"/>
            <a:ext cx="10789920" cy="685800"/>
          </a:xfrm>
          <a:prstGeom prst="rect">
            <a:avLst/>
          </a:prstGeom>
          <a:noFill/>
          <a:ln/>
        </p:spPr>
        <p:txBody>
          <a:bodyPr wrap="square" lIns="0" tIns="0" rIns="0" bIns="0" rtlCol="0" anchor="ct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SEGMENT 1</a:t>
            </a:r>
            <a:endParaRPr lang="en-US" sz="4200" dirty="0"/>
          </a:p>
        </p:txBody>
      </p:sp>
      <p:sp>
        <p:nvSpPr>
          <p:cNvPr id="4" name="Text 2"/>
          <p:cNvSpPr/>
          <p:nvPr/>
        </p:nvSpPr>
        <p:spPr>
          <a:xfrm>
            <a:off x="777240" y="3127248"/>
            <a:ext cx="9875520" cy="411480"/>
          </a:xfrm>
          <a:prstGeom prst="rect">
            <a:avLst/>
          </a:prstGeom>
          <a:noFill/>
          <a:ln/>
        </p:spPr>
        <p:txBody>
          <a:bodyPr wrap="square" lIns="0" tIns="0" rIns="0" bIns="0" rtlCol="0" anchor="ctr"/>
          <a:lstStyle/>
          <a:p>
            <a:pPr indent="0" marL="0">
              <a:buNone/>
            </a:pPr>
            <a:r>
              <a:rPr lang="en-US" sz="1800" dirty="0">
                <a:solidFill>
                  <a:srgbClr val="CBD5E1"/>
                </a:solidFill>
              </a:rPr>
              <a:t>What SDD is — and what changed in the AI coding market</a:t>
            </a:r>
            <a:endParaRPr lang="en-US" sz="1800" dirty="0"/>
          </a:p>
        </p:txBody>
      </p:sp>
      <p:sp>
        <p:nvSpPr>
          <p:cNvPr id="5" name="Shape 3"/>
          <p:cNvSpPr/>
          <p:nvPr/>
        </p:nvSpPr>
        <p:spPr>
          <a:xfrm>
            <a:off x="777240" y="3703320"/>
            <a:ext cx="2926080" cy="0"/>
          </a:xfrm>
          <a:prstGeom prst="line">
            <a:avLst/>
          </a:prstGeom>
          <a:noFill/>
          <a:ln w="50800">
            <a:solidFill>
              <a:srgbClr val="F97316"/>
            </a:solidFill>
            <a:prstDash val="solid"/>
          </a:ln>
        </p:spPr>
      </p:sp>
      <p:sp>
        <p:nvSpPr>
          <p:cNvPr id="6" name="Text 4"/>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CBD5E1"/>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SDD is an emerging discipline</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The term is still evolving, so use a practical definition that survives tool changes.</a:t>
            </a:r>
            <a:endParaRPr lang="en-US" sz="1400" dirty="0"/>
          </a:p>
        </p:txBody>
      </p:sp>
      <p:sp>
        <p:nvSpPr>
          <p:cNvPr id="5" name="Shape 3"/>
          <p:cNvSpPr/>
          <p:nvPr/>
        </p:nvSpPr>
        <p:spPr>
          <a:xfrm>
            <a:off x="868680" y="1600200"/>
            <a:ext cx="10332720" cy="1097280"/>
          </a:xfrm>
          <a:prstGeom prst="roundRect">
            <a:avLst>
              <a:gd name="adj" fmla="val 6667"/>
            </a:avLst>
          </a:prstGeom>
          <a:solidFill>
            <a:srgbClr val="FFF7ED"/>
          </a:solidFill>
          <a:ln w="12700">
            <a:solidFill>
              <a:srgbClr val="FDBA74"/>
            </a:solidFill>
            <a:prstDash val="solid"/>
          </a:ln>
        </p:spPr>
      </p:sp>
      <p:sp>
        <p:nvSpPr>
          <p:cNvPr id="6" name="Text 4"/>
          <p:cNvSpPr/>
          <p:nvPr/>
        </p:nvSpPr>
        <p:spPr>
          <a:xfrm>
            <a:off x="1005840" y="1728216"/>
            <a:ext cx="10058400" cy="841248"/>
          </a:xfrm>
          <a:prstGeom prst="rect">
            <a:avLst/>
          </a:prstGeom>
          <a:noFill/>
          <a:ln/>
        </p:spPr>
        <p:txBody>
          <a:bodyPr wrap="square" lIns="254" tIns="254" rIns="254" bIns="254" rtlCol="0" anchor="ctr">
            <a:normAutofit/>
          </a:bodyPr>
          <a:lstStyle/>
          <a:p>
            <a:pPr algn="ctr" indent="0" marL="0">
              <a:buNone/>
            </a:pPr>
            <a:r>
              <a:rPr lang="en-US" sz="2300" b="1" dirty="0">
                <a:solidFill>
                  <a:srgbClr val="111827"/>
                </a:solidFill>
              </a:rPr>
              <a:t>Spec-driven development means making intent durable, structured, reviewable, and connected to implementation.</a:t>
            </a:r>
            <a:endParaRPr lang="en-US" sz="2300" dirty="0"/>
          </a:p>
        </p:txBody>
      </p:sp>
      <p:sp>
        <p:nvSpPr>
          <p:cNvPr id="7" name="Text 5"/>
          <p:cNvSpPr/>
          <p:nvPr/>
        </p:nvSpPr>
        <p:spPr>
          <a:xfrm>
            <a:off x="960120" y="3063240"/>
            <a:ext cx="10058400" cy="914400"/>
          </a:xfrm>
          <a:prstGeom prst="rect">
            <a:avLst/>
          </a:prstGeom>
          <a:noFill/>
          <a:ln/>
        </p:spPr>
        <p:txBody>
          <a:bodyPr wrap="square" lIns="635" tIns="635" rIns="635" bIns="635" rtlCol="0" anchor="t">
            <a:normAutofit/>
          </a:bodyPr>
          <a:lstStyle/>
          <a:p>
            <a:pPr indent="0" marL="0">
              <a:buNone/>
            </a:pPr>
            <a:r>
              <a:rPr lang="en-US" sz="2100" dirty="0">
                <a:solidFill>
                  <a:srgbClr val="111827"/>
                </a:solidFill>
              </a:rPr>
              <a:t>A “spec” is not just a long prompt. It is a behavior-oriented artifact or set of artifacts that tells humans and AI what should be true about the software.</a:t>
            </a:r>
            <a:endParaRPr lang="en-US" sz="2100" dirty="0"/>
          </a:p>
        </p:txBody>
      </p:sp>
      <p:sp>
        <p:nvSpPr>
          <p:cNvPr id="8" name="Text 6"/>
          <p:cNvSpPr/>
          <p:nvPr/>
        </p:nvSpPr>
        <p:spPr>
          <a:xfrm>
            <a:off x="960120" y="4251960"/>
            <a:ext cx="10058400" cy="640080"/>
          </a:xfrm>
          <a:prstGeom prst="rect">
            <a:avLst/>
          </a:prstGeom>
          <a:noFill/>
          <a:ln/>
        </p:spPr>
        <p:txBody>
          <a:bodyPr wrap="square" lIns="635" tIns="635" rIns="635" bIns="635" rtlCol="0" anchor="t">
            <a:normAutofit/>
          </a:bodyPr>
          <a:lstStyle/>
          <a:p>
            <a:pPr indent="0" marL="0">
              <a:buNone/>
            </a:pPr>
            <a:r>
              <a:rPr lang="en-US" sz="1900" dirty="0">
                <a:solidFill>
                  <a:srgbClr val="64748B"/>
                </a:solidFill>
              </a:rPr>
              <a:t>Important: the industry has not settled on one definition yet. Different tools use the SDD label differently.</a:t>
            </a:r>
            <a:endParaRPr lang="en-US" sz="1900" dirty="0"/>
          </a:p>
        </p:txBody>
      </p:sp>
      <p:sp>
        <p:nvSpPr>
          <p:cNvPr id="9" name="Text 7"/>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4</a:t>
            </a:r>
            <a:endParaRPr lang="en-US" sz="800" dirty="0"/>
          </a:p>
        </p:txBody>
      </p:sp>
      <p:sp>
        <p:nvSpPr>
          <p:cNvPr id="10" name="Text 8"/>
          <p:cNvSpPr/>
          <p:nvPr/>
        </p:nvSpPr>
        <p:spPr>
          <a:xfrm>
            <a:off x="502920" y="6437376"/>
            <a:ext cx="8412480" cy="164592"/>
          </a:xfrm>
          <a:prstGeom prst="rect">
            <a:avLst/>
          </a:prstGeom>
          <a:noFill/>
          <a:ln/>
        </p:spPr>
        <p:txBody>
          <a:bodyPr wrap="square" lIns="0" tIns="0" rIns="0" bIns="0" rtlCol="0" anchor="ctr"/>
          <a:lstStyle/>
          <a:p>
            <a:pPr indent="0" marL="0">
              <a:buNone/>
            </a:pPr>
            <a:r>
              <a:rPr lang="en-US" sz="650" dirty="0">
                <a:solidFill>
                  <a:srgbClr val="94A3B8"/>
                </a:solidFill>
              </a:rPr>
              <a:t>Source: Martin Fowler / Thoughtworks SDD article</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How we got here</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This is not a sudden leap. It is the next stage of AI-assisted development.</a:t>
            </a:r>
            <a:endParaRPr lang="en-US" sz="1400" dirty="0"/>
          </a:p>
        </p:txBody>
      </p:sp>
      <p:sp>
        <p:nvSpPr>
          <p:cNvPr id="5" name="Shape 3"/>
          <p:cNvSpPr/>
          <p:nvPr/>
        </p:nvSpPr>
        <p:spPr>
          <a:xfrm>
            <a:off x="868680" y="1874520"/>
            <a:ext cx="2788920" cy="2286000"/>
          </a:xfrm>
          <a:prstGeom prst="roundRect">
            <a:avLst>
              <a:gd name="adj" fmla="val 3200"/>
            </a:avLst>
          </a:prstGeom>
          <a:solidFill>
            <a:srgbClr val="FFFFFF"/>
          </a:solidFill>
          <a:ln w="12700">
            <a:solidFill>
              <a:srgbClr val="CBD5E1"/>
            </a:solidFill>
            <a:prstDash val="solid"/>
          </a:ln>
        </p:spPr>
      </p:sp>
      <p:sp>
        <p:nvSpPr>
          <p:cNvPr id="6" name="Text 4"/>
          <p:cNvSpPr/>
          <p:nvPr/>
        </p:nvSpPr>
        <p:spPr>
          <a:xfrm>
            <a:off x="1005840" y="2002536"/>
            <a:ext cx="2514600" cy="2029968"/>
          </a:xfrm>
          <a:prstGeom prst="rect">
            <a:avLst/>
          </a:prstGeom>
          <a:noFill/>
          <a:ln/>
        </p:spPr>
        <p:txBody>
          <a:bodyPr wrap="square" lIns="254" tIns="254" rIns="254" bIns="254" rtlCol="0" anchor="ctr">
            <a:normAutofit/>
          </a:bodyPr>
          <a:lstStyle/>
          <a:p>
            <a:pPr algn="ctr" indent="0" marL="0">
              <a:buNone/>
            </a:pPr>
            <a:r>
              <a:rPr lang="en-US" sz="1600" dirty="0">
                <a:solidFill>
                  <a:srgbClr val="111827"/>
                </a:solidFill>
              </a:rPr>
              <a:t>1. VIBE CODING</a:t>
            </a:r>
            <a:endParaRPr lang="en-US" sz="1600" dirty="0"/>
          </a:p>
          <a:p>
            <a:pPr algn="ctr" indent="0" marL="0">
              <a:buNone/>
            </a:pPr>
            <a:endParaRPr lang="en-US" sz="1600" dirty="0"/>
          </a:p>
          <a:p>
            <a:pPr algn="ctr" indent="0" marL="0">
              <a:buNone/>
            </a:pPr>
            <a:r>
              <a:rPr lang="en-US" sz="1600" dirty="0">
                <a:solidFill>
                  <a:srgbClr val="111827"/>
                </a:solidFill>
              </a:rPr>
              <a:t>Describe conversationally. Iterate until it looks right. Fast, but context is chat-bound.</a:t>
            </a:r>
            <a:endParaRPr lang="en-US" sz="1600" dirty="0"/>
          </a:p>
        </p:txBody>
      </p:sp>
      <p:sp>
        <p:nvSpPr>
          <p:cNvPr id="7" name="Shape 5"/>
          <p:cNvSpPr/>
          <p:nvPr/>
        </p:nvSpPr>
        <p:spPr>
          <a:xfrm>
            <a:off x="3721608" y="2971800"/>
            <a:ext cx="484632" cy="0"/>
          </a:xfrm>
          <a:prstGeom prst="line">
            <a:avLst/>
          </a:prstGeom>
          <a:noFill/>
          <a:ln w="19050">
            <a:solidFill>
              <a:srgbClr val="64748B"/>
            </a:solidFill>
            <a:prstDash val="solid"/>
            <a:headEnd type="none"/>
            <a:tailEnd type="triangle"/>
          </a:ln>
        </p:spPr>
      </p:sp>
      <p:sp>
        <p:nvSpPr>
          <p:cNvPr id="8" name="Shape 6"/>
          <p:cNvSpPr/>
          <p:nvPr/>
        </p:nvSpPr>
        <p:spPr>
          <a:xfrm>
            <a:off x="4343400" y="1874520"/>
            <a:ext cx="2788920" cy="2286000"/>
          </a:xfrm>
          <a:prstGeom prst="roundRect">
            <a:avLst>
              <a:gd name="adj" fmla="val 3200"/>
            </a:avLst>
          </a:prstGeom>
          <a:solidFill>
            <a:srgbClr val="FFFFFF"/>
          </a:solidFill>
          <a:ln w="12700">
            <a:solidFill>
              <a:srgbClr val="CBD5E1"/>
            </a:solidFill>
            <a:prstDash val="solid"/>
          </a:ln>
        </p:spPr>
      </p:sp>
      <p:sp>
        <p:nvSpPr>
          <p:cNvPr id="9" name="Text 7"/>
          <p:cNvSpPr/>
          <p:nvPr/>
        </p:nvSpPr>
        <p:spPr>
          <a:xfrm>
            <a:off x="4480560" y="2002536"/>
            <a:ext cx="2514600" cy="2029968"/>
          </a:xfrm>
          <a:prstGeom prst="rect">
            <a:avLst/>
          </a:prstGeom>
          <a:noFill/>
          <a:ln/>
        </p:spPr>
        <p:txBody>
          <a:bodyPr wrap="square" lIns="254" tIns="254" rIns="254" bIns="254" rtlCol="0" anchor="ctr">
            <a:normAutofit/>
          </a:bodyPr>
          <a:lstStyle/>
          <a:p>
            <a:pPr algn="ctr" indent="0" marL="0">
              <a:buNone/>
            </a:pPr>
            <a:r>
              <a:rPr lang="en-US" sz="1600" dirty="0">
                <a:solidFill>
                  <a:srgbClr val="111827"/>
                </a:solidFill>
              </a:rPr>
              <a:t>2. PLAN MODE</a:t>
            </a:r>
            <a:endParaRPr lang="en-US" sz="1600" dirty="0"/>
          </a:p>
          <a:p>
            <a:pPr algn="ctr" indent="0" marL="0">
              <a:buNone/>
            </a:pPr>
            <a:endParaRPr lang="en-US" sz="1600" dirty="0"/>
          </a:p>
          <a:p>
            <a:pPr algn="ctr" indent="0" marL="0">
              <a:buNone/>
            </a:pPr>
            <a:r>
              <a:rPr lang="en-US" sz="1600" dirty="0">
                <a:solidFill>
                  <a:srgbClr val="111827"/>
                </a:solidFill>
              </a:rPr>
              <a:t>AI drafts a plan. You review before code. Better, but often session-scoped.</a:t>
            </a:r>
            <a:endParaRPr lang="en-US" sz="1600" dirty="0"/>
          </a:p>
        </p:txBody>
      </p:sp>
      <p:sp>
        <p:nvSpPr>
          <p:cNvPr id="10" name="Shape 8"/>
          <p:cNvSpPr/>
          <p:nvPr/>
        </p:nvSpPr>
        <p:spPr>
          <a:xfrm>
            <a:off x="7196328" y="2971800"/>
            <a:ext cx="484632" cy="0"/>
          </a:xfrm>
          <a:prstGeom prst="line">
            <a:avLst/>
          </a:prstGeom>
          <a:noFill/>
          <a:ln w="19050">
            <a:solidFill>
              <a:srgbClr val="64748B"/>
            </a:solidFill>
            <a:prstDash val="solid"/>
            <a:headEnd type="none"/>
            <a:tailEnd type="triangle"/>
          </a:ln>
        </p:spPr>
      </p:sp>
      <p:sp>
        <p:nvSpPr>
          <p:cNvPr id="11" name="Shape 9"/>
          <p:cNvSpPr/>
          <p:nvPr/>
        </p:nvSpPr>
        <p:spPr>
          <a:xfrm>
            <a:off x="7818120" y="1874520"/>
            <a:ext cx="2788920" cy="2286000"/>
          </a:xfrm>
          <a:prstGeom prst="roundRect">
            <a:avLst>
              <a:gd name="adj" fmla="val 3200"/>
            </a:avLst>
          </a:prstGeom>
          <a:solidFill>
            <a:srgbClr val="FFFFFF"/>
          </a:solidFill>
          <a:ln w="12700">
            <a:solidFill>
              <a:srgbClr val="CBD5E1"/>
            </a:solidFill>
            <a:prstDash val="solid"/>
          </a:ln>
        </p:spPr>
      </p:sp>
      <p:sp>
        <p:nvSpPr>
          <p:cNvPr id="12" name="Text 10"/>
          <p:cNvSpPr/>
          <p:nvPr/>
        </p:nvSpPr>
        <p:spPr>
          <a:xfrm>
            <a:off x="7955280" y="2002536"/>
            <a:ext cx="2514600" cy="2029968"/>
          </a:xfrm>
          <a:prstGeom prst="rect">
            <a:avLst/>
          </a:prstGeom>
          <a:noFill/>
          <a:ln/>
        </p:spPr>
        <p:txBody>
          <a:bodyPr wrap="square" lIns="254" tIns="254" rIns="254" bIns="254" rtlCol="0" anchor="ctr">
            <a:normAutofit/>
          </a:bodyPr>
          <a:lstStyle/>
          <a:p>
            <a:pPr algn="ctr" indent="0" marL="0">
              <a:buNone/>
            </a:pPr>
            <a:r>
              <a:rPr lang="en-US" sz="1600" dirty="0">
                <a:solidFill>
                  <a:srgbClr val="111827"/>
                </a:solidFill>
              </a:rPr>
              <a:t>3. SPEC-DRIVEN DEV</a:t>
            </a:r>
            <a:endParaRPr lang="en-US" sz="1600" dirty="0"/>
          </a:p>
          <a:p>
            <a:pPr algn="ctr" indent="0" marL="0">
              <a:buNone/>
            </a:pPr>
            <a:endParaRPr lang="en-US" sz="1600" dirty="0"/>
          </a:p>
          <a:p>
            <a:pPr algn="ctr" indent="0" marL="0">
              <a:buNone/>
            </a:pPr>
            <a:r>
              <a:rPr lang="en-US" sz="1600" dirty="0">
                <a:solidFill>
                  <a:srgbClr val="111827"/>
                </a:solidFill>
              </a:rPr>
              <a:t>Written intent persists. It is reviewed, reused, and drives implementation.</a:t>
            </a:r>
            <a:endParaRPr lang="en-US" sz="1600" dirty="0"/>
          </a:p>
        </p:txBody>
      </p:sp>
      <p:sp>
        <p:nvSpPr>
          <p:cNvPr id="13" name="Text 11"/>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The real problem is not “AI has no memory”</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Modern assistants have context mechanisms — but feature intent is still not reliable unless we make it durable.</a:t>
            </a:r>
            <a:endParaRPr lang="en-US" sz="1400" dirty="0"/>
          </a:p>
        </p:txBody>
      </p:sp>
      <p:sp>
        <p:nvSpPr>
          <p:cNvPr id="5" name="Shape 3"/>
          <p:cNvSpPr/>
          <p:nvPr/>
        </p:nvSpPr>
        <p:spPr>
          <a:xfrm>
            <a:off x="1005840" y="1874520"/>
            <a:ext cx="2331720" cy="960120"/>
          </a:xfrm>
          <a:prstGeom prst="roundRect">
            <a:avLst>
              <a:gd name="adj" fmla="val 7619"/>
            </a:avLst>
          </a:prstGeom>
          <a:solidFill>
            <a:srgbClr val="FFFFFF"/>
          </a:solidFill>
          <a:ln w="12700">
            <a:solidFill>
              <a:srgbClr val="CBD5E1"/>
            </a:solidFill>
            <a:prstDash val="solid"/>
          </a:ln>
        </p:spPr>
      </p:sp>
      <p:sp>
        <p:nvSpPr>
          <p:cNvPr id="6" name="Text 4"/>
          <p:cNvSpPr/>
          <p:nvPr/>
        </p:nvSpPr>
        <p:spPr>
          <a:xfrm>
            <a:off x="1143000" y="2002536"/>
            <a:ext cx="2057400" cy="704088"/>
          </a:xfrm>
          <a:prstGeom prst="rect">
            <a:avLst/>
          </a:prstGeom>
          <a:noFill/>
          <a:ln/>
        </p:spPr>
        <p:txBody>
          <a:bodyPr wrap="square" lIns="254" tIns="254" rIns="254" bIns="254" rtlCol="0" anchor="ctr">
            <a:normAutofit/>
          </a:bodyPr>
          <a:lstStyle/>
          <a:p>
            <a:pPr algn="ctr" indent="0" marL="0">
              <a:buNone/>
            </a:pPr>
            <a:r>
              <a:rPr lang="en-US" sz="1300" dirty="0">
                <a:solidFill>
                  <a:srgbClr val="111827"/>
                </a:solidFill>
              </a:rPr>
              <a:t>Chat context</a:t>
            </a:r>
            <a:endParaRPr lang="en-US" sz="1300" dirty="0"/>
          </a:p>
          <a:p>
            <a:pPr algn="ctr" indent="0" marL="0">
              <a:buNone/>
            </a:pPr>
            <a:r>
              <a:rPr lang="en-US" sz="1300" dirty="0">
                <a:solidFill>
                  <a:srgbClr val="111827"/>
                </a:solidFill>
              </a:rPr>
              <a:t>Temporary, finite, easy to lose</a:t>
            </a:r>
            <a:endParaRPr lang="en-US" sz="1300" dirty="0"/>
          </a:p>
        </p:txBody>
      </p:sp>
      <p:sp>
        <p:nvSpPr>
          <p:cNvPr id="7" name="Shape 5"/>
          <p:cNvSpPr/>
          <p:nvPr/>
        </p:nvSpPr>
        <p:spPr>
          <a:xfrm>
            <a:off x="3383280" y="2423160"/>
            <a:ext cx="228600" cy="274320"/>
          </a:xfrm>
          <a:prstGeom prst="line">
            <a:avLst/>
          </a:prstGeom>
          <a:noFill/>
          <a:ln w="15240">
            <a:solidFill>
              <a:srgbClr val="64748B"/>
            </a:solidFill>
            <a:prstDash val="solid"/>
            <a:headEnd type="none"/>
            <a:tailEnd type="triangle"/>
          </a:ln>
        </p:spPr>
      </p:sp>
      <p:sp>
        <p:nvSpPr>
          <p:cNvPr id="8" name="Shape 6"/>
          <p:cNvSpPr/>
          <p:nvPr/>
        </p:nvSpPr>
        <p:spPr>
          <a:xfrm>
            <a:off x="3703320" y="2148840"/>
            <a:ext cx="2331720" cy="960120"/>
          </a:xfrm>
          <a:prstGeom prst="roundRect">
            <a:avLst>
              <a:gd name="adj" fmla="val 7619"/>
            </a:avLst>
          </a:prstGeom>
          <a:solidFill>
            <a:srgbClr val="FFFFFF"/>
          </a:solidFill>
          <a:ln w="12700">
            <a:solidFill>
              <a:srgbClr val="CBD5E1"/>
            </a:solidFill>
            <a:prstDash val="solid"/>
          </a:ln>
        </p:spPr>
      </p:sp>
      <p:sp>
        <p:nvSpPr>
          <p:cNvPr id="9" name="Text 7"/>
          <p:cNvSpPr/>
          <p:nvPr/>
        </p:nvSpPr>
        <p:spPr>
          <a:xfrm>
            <a:off x="3840480" y="2276856"/>
            <a:ext cx="2057400" cy="704088"/>
          </a:xfrm>
          <a:prstGeom prst="rect">
            <a:avLst/>
          </a:prstGeom>
          <a:noFill/>
          <a:ln/>
        </p:spPr>
        <p:txBody>
          <a:bodyPr wrap="square" lIns="254" tIns="254" rIns="254" bIns="254" rtlCol="0" anchor="ctr">
            <a:normAutofit/>
          </a:bodyPr>
          <a:lstStyle/>
          <a:p>
            <a:pPr algn="ctr" indent="0" marL="0">
              <a:buNone/>
            </a:pPr>
            <a:r>
              <a:rPr lang="en-US" sz="1300" dirty="0">
                <a:solidFill>
                  <a:srgbClr val="111827"/>
                </a:solidFill>
              </a:rPr>
              <a:t>Custom instructions / AGENTS.md</a:t>
            </a:r>
            <a:endParaRPr lang="en-US" sz="1300" dirty="0"/>
          </a:p>
          <a:p>
            <a:pPr algn="ctr" indent="0" marL="0">
              <a:buNone/>
            </a:pPr>
            <a:r>
              <a:rPr lang="en-US" sz="1300" dirty="0">
                <a:solidFill>
                  <a:srgbClr val="111827"/>
                </a:solidFill>
              </a:rPr>
              <a:t>Useful standing rules, not feature specs</a:t>
            </a:r>
            <a:endParaRPr lang="en-US" sz="1300" dirty="0"/>
          </a:p>
        </p:txBody>
      </p:sp>
      <p:sp>
        <p:nvSpPr>
          <p:cNvPr id="10" name="Shape 8"/>
          <p:cNvSpPr/>
          <p:nvPr/>
        </p:nvSpPr>
        <p:spPr>
          <a:xfrm>
            <a:off x="6080760" y="2697480"/>
            <a:ext cx="228600" cy="274320"/>
          </a:xfrm>
          <a:prstGeom prst="line">
            <a:avLst/>
          </a:prstGeom>
          <a:noFill/>
          <a:ln w="15240">
            <a:solidFill>
              <a:srgbClr val="64748B"/>
            </a:solidFill>
            <a:prstDash val="solid"/>
            <a:headEnd type="none"/>
            <a:tailEnd type="triangle"/>
          </a:ln>
        </p:spPr>
      </p:sp>
      <p:sp>
        <p:nvSpPr>
          <p:cNvPr id="11" name="Shape 9"/>
          <p:cNvSpPr/>
          <p:nvPr/>
        </p:nvSpPr>
        <p:spPr>
          <a:xfrm>
            <a:off x="6400800" y="2423160"/>
            <a:ext cx="2331720" cy="960120"/>
          </a:xfrm>
          <a:prstGeom prst="roundRect">
            <a:avLst>
              <a:gd name="adj" fmla="val 7619"/>
            </a:avLst>
          </a:prstGeom>
          <a:solidFill>
            <a:srgbClr val="ECFDF5"/>
          </a:solidFill>
          <a:ln w="12700">
            <a:solidFill>
              <a:srgbClr val="86EFAC"/>
            </a:solidFill>
            <a:prstDash val="solid"/>
          </a:ln>
        </p:spPr>
      </p:sp>
      <p:sp>
        <p:nvSpPr>
          <p:cNvPr id="12" name="Text 10"/>
          <p:cNvSpPr/>
          <p:nvPr/>
        </p:nvSpPr>
        <p:spPr>
          <a:xfrm>
            <a:off x="6537960" y="2551176"/>
            <a:ext cx="2057400" cy="704088"/>
          </a:xfrm>
          <a:prstGeom prst="rect">
            <a:avLst/>
          </a:prstGeom>
          <a:noFill/>
          <a:ln/>
        </p:spPr>
        <p:txBody>
          <a:bodyPr wrap="square" lIns="254" tIns="254" rIns="254" bIns="254" rtlCol="0" anchor="ctr">
            <a:normAutofit/>
          </a:bodyPr>
          <a:lstStyle/>
          <a:p>
            <a:pPr algn="ctr" indent="0" marL="0">
              <a:buNone/>
            </a:pPr>
            <a:r>
              <a:rPr lang="en-US" sz="1300" b="1" dirty="0">
                <a:solidFill>
                  <a:srgbClr val="111827"/>
                </a:solidFill>
              </a:rPr>
              <a:t>Project artifacts</a:t>
            </a:r>
            <a:endParaRPr lang="en-US" sz="1300" dirty="0"/>
          </a:p>
          <a:p>
            <a:pPr algn="ctr" indent="0" marL="0">
              <a:buNone/>
            </a:pPr>
            <a:r>
              <a:rPr lang="en-US" sz="1300" b="1" dirty="0">
                <a:solidFill>
                  <a:srgbClr val="111827"/>
                </a:solidFill>
              </a:rPr>
              <a:t>Versioned intent, plans, tasks, checks</a:t>
            </a:r>
            <a:endParaRPr lang="en-US" sz="1300" dirty="0"/>
          </a:p>
        </p:txBody>
      </p:sp>
      <p:sp>
        <p:nvSpPr>
          <p:cNvPr id="13" name="Shape 11"/>
          <p:cNvSpPr/>
          <p:nvPr/>
        </p:nvSpPr>
        <p:spPr>
          <a:xfrm>
            <a:off x="8778240" y="2971800"/>
            <a:ext cx="228600" cy="274320"/>
          </a:xfrm>
          <a:prstGeom prst="line">
            <a:avLst/>
          </a:prstGeom>
          <a:noFill/>
          <a:ln w="15240">
            <a:solidFill>
              <a:srgbClr val="64748B"/>
            </a:solidFill>
            <a:prstDash val="solid"/>
            <a:headEnd type="none"/>
            <a:tailEnd type="triangle"/>
          </a:ln>
        </p:spPr>
      </p:sp>
      <p:sp>
        <p:nvSpPr>
          <p:cNvPr id="14" name="Shape 12"/>
          <p:cNvSpPr/>
          <p:nvPr/>
        </p:nvSpPr>
        <p:spPr>
          <a:xfrm>
            <a:off x="9098280" y="2697480"/>
            <a:ext cx="2331720" cy="960120"/>
          </a:xfrm>
          <a:prstGeom prst="roundRect">
            <a:avLst>
              <a:gd name="adj" fmla="val 7619"/>
            </a:avLst>
          </a:prstGeom>
          <a:solidFill>
            <a:srgbClr val="ECFDF5"/>
          </a:solidFill>
          <a:ln w="12700">
            <a:solidFill>
              <a:srgbClr val="86EFAC"/>
            </a:solidFill>
            <a:prstDash val="solid"/>
          </a:ln>
        </p:spPr>
      </p:sp>
      <p:sp>
        <p:nvSpPr>
          <p:cNvPr id="15" name="Text 13"/>
          <p:cNvSpPr/>
          <p:nvPr/>
        </p:nvSpPr>
        <p:spPr>
          <a:xfrm>
            <a:off x="9235440" y="2825496"/>
            <a:ext cx="2057400" cy="704088"/>
          </a:xfrm>
          <a:prstGeom prst="rect">
            <a:avLst/>
          </a:prstGeom>
          <a:noFill/>
          <a:ln/>
        </p:spPr>
        <p:txBody>
          <a:bodyPr wrap="square" lIns="254" tIns="254" rIns="254" bIns="254" rtlCol="0" anchor="ctr">
            <a:normAutofit/>
          </a:bodyPr>
          <a:lstStyle/>
          <a:p>
            <a:pPr algn="ctr" indent="0" marL="0">
              <a:buNone/>
            </a:pPr>
            <a:r>
              <a:rPr lang="en-US" sz="1300" dirty="0">
                <a:solidFill>
                  <a:srgbClr val="111827"/>
                </a:solidFill>
              </a:rPr>
              <a:t>Tests + reviews</a:t>
            </a:r>
            <a:endParaRPr lang="en-US" sz="1300" dirty="0"/>
          </a:p>
          <a:p>
            <a:pPr algn="ctr" indent="0" marL="0">
              <a:buNone/>
            </a:pPr>
            <a:r>
              <a:rPr lang="en-US" sz="1300" dirty="0">
                <a:solidFill>
                  <a:srgbClr val="111827"/>
                </a:solidFill>
              </a:rPr>
              <a:t>Executable and human validation</a:t>
            </a:r>
            <a:endParaRPr lang="en-US" sz="1300" dirty="0"/>
          </a:p>
        </p:txBody>
      </p:sp>
      <p:sp>
        <p:nvSpPr>
          <p:cNvPr id="16" name="Text 14"/>
          <p:cNvSpPr/>
          <p:nvPr/>
        </p:nvSpPr>
        <p:spPr>
          <a:xfrm>
            <a:off x="960120" y="4983480"/>
            <a:ext cx="10424160" cy="685800"/>
          </a:xfrm>
          <a:prstGeom prst="rect">
            <a:avLst/>
          </a:prstGeom>
          <a:noFill/>
          <a:ln/>
        </p:spPr>
        <p:txBody>
          <a:bodyPr wrap="square" lIns="635" tIns="635" rIns="635" bIns="635" rtlCol="0" anchor="t">
            <a:normAutofit/>
          </a:bodyPr>
          <a:lstStyle/>
          <a:p>
            <a:pPr indent="0" marL="0">
              <a:buNone/>
            </a:pPr>
            <a:r>
              <a:rPr lang="en-US" sz="2200" dirty="0">
                <a:solidFill>
                  <a:srgbClr val="111827"/>
                </a:solidFill>
              </a:rPr>
              <a:t>Better wording for today: conversation context is temporary and finite. Project intent is not reliably preserved unless we store it in reusable, reviewable artifacts.</a:t>
            </a:r>
            <a:endParaRPr lang="en-US" sz="2200" dirty="0"/>
          </a:p>
        </p:txBody>
      </p:sp>
      <p:sp>
        <p:nvSpPr>
          <p:cNvPr id="17" name="Text 15"/>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6</a:t>
            </a:r>
            <a:endParaRPr lang="en-US" sz="800" dirty="0"/>
          </a:p>
        </p:txBody>
      </p:sp>
      <p:sp>
        <p:nvSpPr>
          <p:cNvPr id="18" name="Text 16"/>
          <p:cNvSpPr/>
          <p:nvPr/>
        </p:nvSpPr>
        <p:spPr>
          <a:xfrm>
            <a:off x="502920" y="6437376"/>
            <a:ext cx="8412480" cy="164592"/>
          </a:xfrm>
          <a:prstGeom prst="rect">
            <a:avLst/>
          </a:prstGeom>
          <a:noFill/>
          <a:ln/>
        </p:spPr>
        <p:txBody>
          <a:bodyPr wrap="square" lIns="0" tIns="0" rIns="0" bIns="0" rtlCol="0" anchor="ctr"/>
          <a:lstStyle/>
          <a:p>
            <a:pPr indent="0" marL="0">
              <a:buNone/>
            </a:pPr>
            <a:r>
              <a:rPr lang="en-US" sz="650" dirty="0">
                <a:solidFill>
                  <a:srgbClr val="94A3B8"/>
                </a:solidFill>
              </a:rPr>
              <a:t>Source: GitHub Copilot custom instructions docs</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731520" y="2331720"/>
            <a:ext cx="10789920" cy="685800"/>
          </a:xfrm>
          <a:prstGeom prst="rect">
            <a:avLst/>
          </a:prstGeom>
          <a:noFill/>
          <a:ln/>
        </p:spPr>
        <p:txBody>
          <a:bodyPr wrap="square" lIns="0" tIns="0" rIns="0" bIns="0" rtlCol="0" anchor="ct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SEGMENT 2</a:t>
            </a:r>
            <a:endParaRPr lang="en-US" sz="4200" dirty="0"/>
          </a:p>
        </p:txBody>
      </p:sp>
      <p:sp>
        <p:nvSpPr>
          <p:cNvPr id="4" name="Text 2"/>
          <p:cNvSpPr/>
          <p:nvPr/>
        </p:nvSpPr>
        <p:spPr>
          <a:xfrm>
            <a:off x="777240" y="3127248"/>
            <a:ext cx="9875520" cy="411480"/>
          </a:xfrm>
          <a:prstGeom prst="rect">
            <a:avLst/>
          </a:prstGeom>
          <a:noFill/>
          <a:ln/>
        </p:spPr>
        <p:txBody>
          <a:bodyPr wrap="square" lIns="0" tIns="0" rIns="0" bIns="0" rtlCol="0" anchor="ctr"/>
          <a:lstStyle/>
          <a:p>
            <a:pPr indent="0" marL="0">
              <a:buNone/>
            </a:pPr>
            <a:r>
              <a:rPr lang="en-US" sz="1800" dirty="0">
                <a:solidFill>
                  <a:srgbClr val="CBD5E1"/>
                </a:solidFill>
              </a:rPr>
              <a:t>The mindset shift — from instructions to durable intent</a:t>
            </a:r>
            <a:endParaRPr lang="en-US" sz="1800" dirty="0"/>
          </a:p>
        </p:txBody>
      </p:sp>
      <p:sp>
        <p:nvSpPr>
          <p:cNvPr id="5" name="Shape 3"/>
          <p:cNvSpPr/>
          <p:nvPr/>
        </p:nvSpPr>
        <p:spPr>
          <a:xfrm>
            <a:off x="777240" y="3703320"/>
            <a:ext cx="2926080" cy="0"/>
          </a:xfrm>
          <a:prstGeom prst="line">
            <a:avLst/>
          </a:prstGeom>
          <a:noFill/>
          <a:ln w="50800">
            <a:solidFill>
              <a:srgbClr val="F97316"/>
            </a:solidFill>
            <a:prstDash val="solid"/>
          </a:ln>
        </p:spPr>
      </p:sp>
      <p:sp>
        <p:nvSpPr>
          <p:cNvPr id="6" name="Text 4"/>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CBD5E1"/>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The mindset shift</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Stop treating AI like a calculator. Start treating it like a colleague you build shared context with.</a:t>
            </a:r>
            <a:endParaRPr lang="en-US" sz="1400" dirty="0"/>
          </a:p>
        </p:txBody>
      </p:sp>
      <p:sp>
        <p:nvSpPr>
          <p:cNvPr id="5" name="Shape 3"/>
          <p:cNvSpPr/>
          <p:nvPr/>
        </p:nvSpPr>
        <p:spPr>
          <a:xfrm>
            <a:off x="960120" y="1691640"/>
            <a:ext cx="4754880" cy="3108960"/>
          </a:xfrm>
          <a:prstGeom prst="roundRect">
            <a:avLst>
              <a:gd name="adj" fmla="val 2353"/>
            </a:avLst>
          </a:prstGeom>
          <a:solidFill>
            <a:srgbClr val="FFFFFF"/>
          </a:solidFill>
          <a:ln w="12700">
            <a:solidFill>
              <a:srgbClr val="CBD5E1"/>
            </a:solidFill>
            <a:prstDash val="solid"/>
          </a:ln>
        </p:spPr>
      </p:sp>
      <p:sp>
        <p:nvSpPr>
          <p:cNvPr id="6" name="Text 4"/>
          <p:cNvSpPr/>
          <p:nvPr/>
        </p:nvSpPr>
        <p:spPr>
          <a:xfrm>
            <a:off x="1097280" y="1819656"/>
            <a:ext cx="4480560" cy="2852928"/>
          </a:xfrm>
          <a:prstGeom prst="rect">
            <a:avLst/>
          </a:prstGeom>
          <a:noFill/>
          <a:ln/>
        </p:spPr>
        <p:txBody>
          <a:bodyPr wrap="square" lIns="254" tIns="254" rIns="254" bIns="254" rtlCol="0" anchor="ctr">
            <a:normAutofit/>
          </a:bodyPr>
          <a:lstStyle/>
          <a:p>
            <a:pPr algn="ctr" indent="0" marL="0">
              <a:buNone/>
            </a:pPr>
            <a:r>
              <a:rPr lang="en-US" sz="2000" b="1" dirty="0">
                <a:solidFill>
                  <a:srgbClr val="111827"/>
                </a:solidFill>
              </a:rPr>
              <a:t>TACTICAL CONTEXT</a:t>
            </a:r>
            <a:endParaRPr lang="en-US" sz="2000" dirty="0"/>
          </a:p>
          <a:p>
            <a:pPr algn="ctr" indent="0" marL="0">
              <a:buNone/>
            </a:pPr>
            <a:endParaRPr lang="en-US" sz="2000" dirty="0"/>
          </a:p>
          <a:p>
            <a:pPr algn="ctr" indent="0" marL="0">
              <a:buNone/>
            </a:pPr>
            <a:r>
              <a:rPr lang="en-US" sz="2000" b="1" dirty="0">
                <a:solidFill>
                  <a:srgbClr val="111827"/>
                </a:solidFill>
              </a:rPr>
              <a:t>Short chat</a:t>
            </a:r>
            <a:endParaRPr lang="en-US" sz="2000" dirty="0"/>
          </a:p>
          <a:p>
            <a:pPr algn="ctr" indent="0" marL="0">
              <a:buNone/>
            </a:pPr>
            <a:r>
              <a:rPr lang="en-US" sz="2000" b="1" dirty="0">
                <a:solidFill>
                  <a:srgbClr val="111827"/>
                </a:solidFill>
              </a:rPr>
              <a:t>Short-lived plan</a:t>
            </a:r>
            <a:endParaRPr lang="en-US" sz="2000" dirty="0"/>
          </a:p>
          <a:p>
            <a:pPr algn="ctr" indent="0" marL="0">
              <a:buNone/>
            </a:pPr>
            <a:r>
              <a:rPr lang="en-US" sz="2000" b="1" dirty="0">
                <a:solidFill>
                  <a:srgbClr val="111827"/>
                </a:solidFill>
              </a:rPr>
              <a:t>Works for small tasks</a:t>
            </a:r>
            <a:endParaRPr lang="en-US" sz="2000" dirty="0"/>
          </a:p>
          <a:p>
            <a:pPr algn="ctr" indent="0" marL="0">
              <a:buNone/>
            </a:pPr>
            <a:r>
              <a:rPr lang="en-US" sz="2000" b="1" dirty="0">
                <a:solidFill>
                  <a:srgbClr val="111827"/>
                </a:solidFill>
              </a:rPr>
              <a:t>Easy to lose</a:t>
            </a:r>
            <a:endParaRPr lang="en-US" sz="2000" dirty="0"/>
          </a:p>
        </p:txBody>
      </p:sp>
      <p:sp>
        <p:nvSpPr>
          <p:cNvPr id="7" name="Shape 5"/>
          <p:cNvSpPr/>
          <p:nvPr/>
        </p:nvSpPr>
        <p:spPr>
          <a:xfrm>
            <a:off x="6446520" y="1691640"/>
            <a:ext cx="4754880" cy="3108960"/>
          </a:xfrm>
          <a:prstGeom prst="roundRect">
            <a:avLst>
              <a:gd name="adj" fmla="val 2353"/>
            </a:avLst>
          </a:prstGeom>
          <a:solidFill>
            <a:srgbClr val="FFF7ED"/>
          </a:solidFill>
          <a:ln w="12700">
            <a:solidFill>
              <a:srgbClr val="FDBA74"/>
            </a:solidFill>
            <a:prstDash val="solid"/>
          </a:ln>
        </p:spPr>
      </p:sp>
      <p:sp>
        <p:nvSpPr>
          <p:cNvPr id="8" name="Text 6"/>
          <p:cNvSpPr/>
          <p:nvPr/>
        </p:nvSpPr>
        <p:spPr>
          <a:xfrm>
            <a:off x="6583680" y="1819656"/>
            <a:ext cx="4480560" cy="2852928"/>
          </a:xfrm>
          <a:prstGeom prst="rect">
            <a:avLst/>
          </a:prstGeom>
          <a:noFill/>
          <a:ln/>
        </p:spPr>
        <p:txBody>
          <a:bodyPr wrap="square" lIns="254" tIns="254" rIns="254" bIns="254" rtlCol="0" anchor="ctr">
            <a:normAutofit/>
          </a:bodyPr>
          <a:lstStyle/>
          <a:p>
            <a:pPr algn="ctr" indent="0" marL="0">
              <a:buNone/>
            </a:pPr>
            <a:r>
              <a:rPr lang="en-US" sz="2000" b="1" dirty="0">
                <a:solidFill>
                  <a:srgbClr val="111827"/>
                </a:solidFill>
              </a:rPr>
              <a:t>STRATEGIC CONTEXT</a:t>
            </a:r>
            <a:endParaRPr lang="en-US" sz="2000" dirty="0"/>
          </a:p>
          <a:p>
            <a:pPr algn="ctr" indent="0" marL="0">
              <a:buNone/>
            </a:pPr>
            <a:endParaRPr lang="en-US" sz="2000" dirty="0"/>
          </a:p>
          <a:p>
            <a:pPr algn="ctr" indent="0" marL="0">
              <a:buNone/>
            </a:pPr>
            <a:r>
              <a:rPr lang="en-US" sz="2000" b="1" dirty="0">
                <a:solidFill>
                  <a:srgbClr val="111827"/>
                </a:solidFill>
              </a:rPr>
              <a:t>Durable written intent</a:t>
            </a:r>
            <a:endParaRPr lang="en-US" sz="2000" dirty="0"/>
          </a:p>
          <a:p>
            <a:pPr algn="ctr" indent="0" marL="0">
              <a:buNone/>
            </a:pPr>
            <a:r>
              <a:rPr lang="en-US" sz="2000" b="1" dirty="0">
                <a:solidFill>
                  <a:srgbClr val="111827"/>
                </a:solidFill>
              </a:rPr>
              <a:t>Versioned artifacts</a:t>
            </a:r>
            <a:endParaRPr lang="en-US" sz="2000" dirty="0"/>
          </a:p>
          <a:p>
            <a:pPr algn="ctr" indent="0" marL="0">
              <a:buNone/>
            </a:pPr>
            <a:r>
              <a:rPr lang="en-US" sz="2000" b="1" dirty="0">
                <a:solidFill>
                  <a:srgbClr val="111827"/>
                </a:solidFill>
              </a:rPr>
              <a:t>Reviewed by humans</a:t>
            </a:r>
            <a:endParaRPr lang="en-US" sz="2000" dirty="0"/>
          </a:p>
          <a:p>
            <a:pPr algn="ctr" indent="0" marL="0">
              <a:buNone/>
            </a:pPr>
            <a:r>
              <a:rPr lang="en-US" sz="2000" b="1" dirty="0">
                <a:solidFill>
                  <a:srgbClr val="111827"/>
                </a:solidFill>
              </a:rPr>
              <a:t>Reusable across sessions</a:t>
            </a:r>
            <a:endParaRPr lang="en-US" sz="2000" dirty="0"/>
          </a:p>
        </p:txBody>
      </p:sp>
      <p:sp>
        <p:nvSpPr>
          <p:cNvPr id="9" name="Shape 7"/>
          <p:cNvSpPr/>
          <p:nvPr/>
        </p:nvSpPr>
        <p:spPr>
          <a:xfrm>
            <a:off x="5806440" y="3246120"/>
            <a:ext cx="457200" cy="0"/>
          </a:xfrm>
          <a:prstGeom prst="line">
            <a:avLst/>
          </a:prstGeom>
          <a:noFill/>
          <a:ln w="25400">
            <a:solidFill>
              <a:srgbClr val="F97316"/>
            </a:solidFill>
            <a:prstDash val="solid"/>
            <a:headEnd type="none"/>
            <a:tailEnd type="triangle"/>
          </a:ln>
        </p:spPr>
      </p:sp>
      <p:sp>
        <p:nvSpPr>
          <p:cNvPr id="10" name="Text 8"/>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Intent, not just instruction</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Same starting point — very different outcomes.</a:t>
            </a:r>
            <a:endParaRPr lang="en-US" sz="1400" dirty="0"/>
          </a:p>
        </p:txBody>
      </p:sp>
      <p:sp>
        <p:nvSpPr>
          <p:cNvPr id="5" name="Shape 3"/>
          <p:cNvSpPr/>
          <p:nvPr/>
        </p:nvSpPr>
        <p:spPr>
          <a:xfrm>
            <a:off x="914400" y="1691640"/>
            <a:ext cx="4800600" cy="3063240"/>
          </a:xfrm>
          <a:prstGeom prst="roundRect">
            <a:avLst>
              <a:gd name="adj" fmla="val 2388"/>
            </a:avLst>
          </a:prstGeom>
          <a:solidFill>
            <a:srgbClr val="FFFFFF"/>
          </a:solidFill>
          <a:ln w="12700">
            <a:solidFill>
              <a:srgbClr val="CBD5E1"/>
            </a:solidFill>
            <a:prstDash val="solid"/>
          </a:ln>
        </p:spPr>
      </p:sp>
      <p:sp>
        <p:nvSpPr>
          <p:cNvPr id="6" name="Text 4"/>
          <p:cNvSpPr/>
          <p:nvPr/>
        </p:nvSpPr>
        <p:spPr>
          <a:xfrm>
            <a:off x="1051560" y="1819656"/>
            <a:ext cx="4526280" cy="2807208"/>
          </a:xfrm>
          <a:prstGeom prst="rect">
            <a:avLst/>
          </a:prstGeom>
          <a:noFill/>
          <a:ln/>
        </p:spPr>
        <p:txBody>
          <a:bodyPr wrap="square" lIns="254" tIns="254" rIns="254" bIns="254" rtlCol="0" anchor="ctr">
            <a:normAutofit/>
          </a:bodyPr>
          <a:lstStyle/>
          <a:p>
            <a:pPr algn="ctr" indent="0" marL="0">
              <a:buNone/>
            </a:pPr>
            <a:r>
              <a:rPr lang="en-US" sz="2000" b="1" dirty="0">
                <a:solidFill>
                  <a:srgbClr val="111827"/>
                </a:solidFill>
              </a:rPr>
              <a:t>Instruction</a:t>
            </a:r>
            <a:endParaRPr lang="en-US" sz="2000" dirty="0"/>
          </a:p>
          <a:p>
            <a:pPr algn="ctr" indent="0" marL="0">
              <a:buNone/>
            </a:pPr>
            <a:endParaRPr lang="en-US" sz="2000" dirty="0"/>
          </a:p>
          <a:p>
            <a:pPr algn="ctr" indent="0" marL="0">
              <a:buNone/>
            </a:pPr>
            <a:r>
              <a:rPr lang="en-US" sz="2000" b="1" dirty="0">
                <a:solidFill>
                  <a:srgbClr val="111827"/>
                </a:solidFill>
              </a:rPr>
              <a:t>“Add a delete button”</a:t>
            </a:r>
            <a:endParaRPr lang="en-US" sz="2000" dirty="0"/>
          </a:p>
          <a:p>
            <a:pPr algn="ctr" indent="0" marL="0">
              <a:buNone/>
            </a:pPr>
            <a:endParaRPr lang="en-US" sz="2000" dirty="0"/>
          </a:p>
          <a:p>
            <a:pPr algn="ctr" indent="0" marL="0">
              <a:buNone/>
            </a:pPr>
            <a:r>
              <a:rPr lang="en-US" sz="2000" b="1" dirty="0">
                <a:solidFill>
                  <a:srgbClr val="111827"/>
                </a:solidFill>
              </a:rPr>
              <a:t>The AI does exactly this. Edge cases are likely ignored.</a:t>
            </a:r>
            <a:endParaRPr lang="en-US" sz="2000" dirty="0"/>
          </a:p>
        </p:txBody>
      </p:sp>
      <p:sp>
        <p:nvSpPr>
          <p:cNvPr id="7" name="Shape 5"/>
          <p:cNvSpPr/>
          <p:nvPr/>
        </p:nvSpPr>
        <p:spPr>
          <a:xfrm>
            <a:off x="6446520" y="1691640"/>
            <a:ext cx="4800600" cy="3063240"/>
          </a:xfrm>
          <a:prstGeom prst="roundRect">
            <a:avLst>
              <a:gd name="adj" fmla="val 2388"/>
            </a:avLst>
          </a:prstGeom>
          <a:solidFill>
            <a:srgbClr val="ECFDF5"/>
          </a:solidFill>
          <a:ln w="12700">
            <a:solidFill>
              <a:srgbClr val="86EFAC"/>
            </a:solidFill>
            <a:prstDash val="solid"/>
          </a:ln>
        </p:spPr>
      </p:sp>
      <p:sp>
        <p:nvSpPr>
          <p:cNvPr id="8" name="Text 6"/>
          <p:cNvSpPr/>
          <p:nvPr/>
        </p:nvSpPr>
        <p:spPr>
          <a:xfrm>
            <a:off x="6583680" y="1819656"/>
            <a:ext cx="4526280" cy="2807208"/>
          </a:xfrm>
          <a:prstGeom prst="rect">
            <a:avLst/>
          </a:prstGeom>
          <a:noFill/>
          <a:ln/>
        </p:spPr>
        <p:txBody>
          <a:bodyPr wrap="square" lIns="254" tIns="254" rIns="254" bIns="254" rtlCol="0" anchor="ctr">
            <a:normAutofit/>
          </a:bodyPr>
          <a:lstStyle/>
          <a:p>
            <a:pPr algn="ctr" indent="0" marL="0">
              <a:buNone/>
            </a:pPr>
            <a:r>
              <a:rPr lang="en-US" sz="2000" b="1" dirty="0">
                <a:solidFill>
                  <a:srgbClr val="111827"/>
                </a:solidFill>
              </a:rPr>
              <a:t>Intent</a:t>
            </a:r>
            <a:endParaRPr lang="en-US" sz="2000" dirty="0"/>
          </a:p>
          <a:p>
            <a:pPr algn="ctr" indent="0" marL="0">
              <a:buNone/>
            </a:pPr>
            <a:endParaRPr lang="en-US" sz="2000" dirty="0"/>
          </a:p>
          <a:p>
            <a:pPr algn="ctr" indent="0" marL="0">
              <a:buNone/>
            </a:pPr>
            <a:r>
              <a:rPr lang="en-US" sz="2000" b="1" dirty="0">
                <a:solidFill>
                  <a:srgbClr val="111827"/>
                </a:solidFill>
              </a:rPr>
              <a:t>“Users need to remove items without accidentally losing important data”</a:t>
            </a:r>
            <a:endParaRPr lang="en-US" sz="2000" dirty="0"/>
          </a:p>
          <a:p>
            <a:pPr algn="ctr" indent="0" marL="0">
              <a:buNone/>
            </a:pPr>
            <a:endParaRPr lang="en-US" sz="2000" dirty="0"/>
          </a:p>
          <a:p>
            <a:pPr algn="ctr" indent="0" marL="0">
              <a:buNone/>
            </a:pPr>
            <a:r>
              <a:rPr lang="en-US" sz="2000" b="1" dirty="0">
                <a:solidFill>
                  <a:srgbClr val="111827"/>
                </a:solidFill>
              </a:rPr>
              <a:t>The AI can infer confirmation, undo, audit, or recovery behavior.</a:t>
            </a:r>
            <a:endParaRPr lang="en-US" sz="2000" dirty="0"/>
          </a:p>
        </p:txBody>
      </p:sp>
      <p:sp>
        <p:nvSpPr>
          <p:cNvPr id="9" name="Text 7"/>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The common delivery backbone</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The exact commands differ, but the backbone is stable.</a:t>
            </a:r>
            <a:endParaRPr lang="en-US" sz="1400" dirty="0"/>
          </a:p>
        </p:txBody>
      </p:sp>
      <p:sp>
        <p:nvSpPr>
          <p:cNvPr id="5" name="Shape 3"/>
          <p:cNvSpPr/>
          <p:nvPr/>
        </p:nvSpPr>
        <p:spPr>
          <a:xfrm>
            <a:off x="594360" y="2011680"/>
            <a:ext cx="1920240" cy="1097280"/>
          </a:xfrm>
          <a:prstGeom prst="roundRect">
            <a:avLst>
              <a:gd name="adj" fmla="val 6667"/>
            </a:avLst>
          </a:prstGeom>
          <a:solidFill>
            <a:srgbClr val="FFFFFF"/>
          </a:solidFill>
          <a:ln w="12700">
            <a:solidFill>
              <a:srgbClr val="CBD5E1"/>
            </a:solidFill>
            <a:prstDash val="solid"/>
          </a:ln>
        </p:spPr>
      </p:sp>
      <p:sp>
        <p:nvSpPr>
          <p:cNvPr id="6" name="Text 4"/>
          <p:cNvSpPr/>
          <p:nvPr/>
        </p:nvSpPr>
        <p:spPr>
          <a:xfrm>
            <a:off x="731520" y="2139696"/>
            <a:ext cx="1645920" cy="841248"/>
          </a:xfrm>
          <a:prstGeom prst="rect">
            <a:avLst/>
          </a:prstGeom>
          <a:noFill/>
          <a:ln/>
        </p:spPr>
        <p:txBody>
          <a:bodyPr wrap="square" lIns="254" tIns="254" rIns="254" bIns="254" rtlCol="0" anchor="ctr">
            <a:normAutofit/>
          </a:bodyPr>
          <a:lstStyle/>
          <a:p>
            <a:pPr algn="ctr" indent="0" marL="0">
              <a:buNone/>
            </a:pPr>
            <a:r>
              <a:rPr lang="en-US" sz="1270" b="1" dirty="0">
                <a:solidFill>
                  <a:srgbClr val="111827"/>
                </a:solidFill>
              </a:rPr>
              <a:t>DISCOVER</a:t>
            </a:r>
            <a:endParaRPr lang="en-US" sz="1270" dirty="0"/>
          </a:p>
          <a:p>
            <a:pPr algn="ctr" indent="0" marL="0">
              <a:buNone/>
            </a:pPr>
            <a:r>
              <a:rPr lang="en-US" sz="1270" b="1" dirty="0">
                <a:solidFill>
                  <a:srgbClr val="111827"/>
                </a:solidFill>
              </a:rPr>
              <a:t>What problem are we solving?</a:t>
            </a:r>
            <a:endParaRPr lang="en-US" sz="1270" dirty="0"/>
          </a:p>
        </p:txBody>
      </p:sp>
      <p:sp>
        <p:nvSpPr>
          <p:cNvPr id="7" name="Shape 5"/>
          <p:cNvSpPr/>
          <p:nvPr/>
        </p:nvSpPr>
        <p:spPr>
          <a:xfrm>
            <a:off x="2542032" y="2560320"/>
            <a:ext cx="246888" cy="0"/>
          </a:xfrm>
          <a:prstGeom prst="line">
            <a:avLst/>
          </a:prstGeom>
          <a:noFill/>
          <a:ln w="15240">
            <a:solidFill>
              <a:srgbClr val="64748B"/>
            </a:solidFill>
            <a:prstDash val="solid"/>
            <a:headEnd type="none"/>
            <a:tailEnd type="triangle"/>
          </a:ln>
        </p:spPr>
      </p:sp>
      <p:sp>
        <p:nvSpPr>
          <p:cNvPr id="8" name="Shape 6"/>
          <p:cNvSpPr/>
          <p:nvPr/>
        </p:nvSpPr>
        <p:spPr>
          <a:xfrm>
            <a:off x="2880360" y="2011680"/>
            <a:ext cx="1920240" cy="1097280"/>
          </a:xfrm>
          <a:prstGeom prst="roundRect">
            <a:avLst>
              <a:gd name="adj" fmla="val 6667"/>
            </a:avLst>
          </a:prstGeom>
          <a:solidFill>
            <a:srgbClr val="FFFFFF"/>
          </a:solidFill>
          <a:ln w="12700">
            <a:solidFill>
              <a:srgbClr val="CBD5E1"/>
            </a:solidFill>
            <a:prstDash val="solid"/>
          </a:ln>
        </p:spPr>
      </p:sp>
      <p:sp>
        <p:nvSpPr>
          <p:cNvPr id="9" name="Text 7"/>
          <p:cNvSpPr/>
          <p:nvPr/>
        </p:nvSpPr>
        <p:spPr>
          <a:xfrm>
            <a:off x="3017520" y="2139696"/>
            <a:ext cx="1645920" cy="841248"/>
          </a:xfrm>
          <a:prstGeom prst="rect">
            <a:avLst/>
          </a:prstGeom>
          <a:noFill/>
          <a:ln/>
        </p:spPr>
        <p:txBody>
          <a:bodyPr wrap="square" lIns="254" tIns="254" rIns="254" bIns="254" rtlCol="0" anchor="ctr">
            <a:normAutofit/>
          </a:bodyPr>
          <a:lstStyle/>
          <a:p>
            <a:pPr algn="ctr" indent="0" marL="0">
              <a:buNone/>
            </a:pPr>
            <a:r>
              <a:rPr lang="en-US" sz="1270" b="1" dirty="0">
                <a:solidFill>
                  <a:srgbClr val="111827"/>
                </a:solidFill>
              </a:rPr>
              <a:t>SPECIFY / DESIGN</a:t>
            </a:r>
            <a:endParaRPr lang="en-US" sz="1270" dirty="0"/>
          </a:p>
          <a:p>
            <a:pPr algn="ctr" indent="0" marL="0">
              <a:buNone/>
            </a:pPr>
            <a:r>
              <a:rPr lang="en-US" sz="1270" b="1" dirty="0">
                <a:solidFill>
                  <a:srgbClr val="111827"/>
                </a:solidFill>
              </a:rPr>
              <a:t>What should be true? How will we build it?</a:t>
            </a:r>
            <a:endParaRPr lang="en-US" sz="1270" dirty="0"/>
          </a:p>
        </p:txBody>
      </p:sp>
      <p:sp>
        <p:nvSpPr>
          <p:cNvPr id="10" name="Shape 8"/>
          <p:cNvSpPr/>
          <p:nvPr/>
        </p:nvSpPr>
        <p:spPr>
          <a:xfrm>
            <a:off x="4828032" y="2560320"/>
            <a:ext cx="246888" cy="0"/>
          </a:xfrm>
          <a:prstGeom prst="line">
            <a:avLst/>
          </a:prstGeom>
          <a:noFill/>
          <a:ln w="15240">
            <a:solidFill>
              <a:srgbClr val="64748B"/>
            </a:solidFill>
            <a:prstDash val="solid"/>
            <a:headEnd type="none"/>
            <a:tailEnd type="triangle"/>
          </a:ln>
        </p:spPr>
      </p:sp>
      <p:sp>
        <p:nvSpPr>
          <p:cNvPr id="11" name="Shape 9"/>
          <p:cNvSpPr/>
          <p:nvPr/>
        </p:nvSpPr>
        <p:spPr>
          <a:xfrm>
            <a:off x="5166360" y="2011680"/>
            <a:ext cx="1920240" cy="1097280"/>
          </a:xfrm>
          <a:prstGeom prst="roundRect">
            <a:avLst>
              <a:gd name="adj" fmla="val 6667"/>
            </a:avLst>
          </a:prstGeom>
          <a:solidFill>
            <a:srgbClr val="FFFFFF"/>
          </a:solidFill>
          <a:ln w="12700">
            <a:solidFill>
              <a:srgbClr val="CBD5E1"/>
            </a:solidFill>
            <a:prstDash val="solid"/>
          </a:ln>
        </p:spPr>
      </p:sp>
      <p:sp>
        <p:nvSpPr>
          <p:cNvPr id="12" name="Text 10"/>
          <p:cNvSpPr/>
          <p:nvPr/>
        </p:nvSpPr>
        <p:spPr>
          <a:xfrm>
            <a:off x="5303520" y="2139696"/>
            <a:ext cx="1645920" cy="841248"/>
          </a:xfrm>
          <a:prstGeom prst="rect">
            <a:avLst/>
          </a:prstGeom>
          <a:noFill/>
          <a:ln/>
        </p:spPr>
        <p:txBody>
          <a:bodyPr wrap="square" lIns="254" tIns="254" rIns="254" bIns="254" rtlCol="0" anchor="ctr">
            <a:normAutofit/>
          </a:bodyPr>
          <a:lstStyle/>
          <a:p>
            <a:pPr algn="ctr" indent="0" marL="0">
              <a:buNone/>
            </a:pPr>
            <a:r>
              <a:rPr lang="en-US" sz="1270" b="1" dirty="0">
                <a:solidFill>
                  <a:srgbClr val="111827"/>
                </a:solidFill>
              </a:rPr>
              <a:t>DECOMPOSE</a:t>
            </a:r>
            <a:endParaRPr lang="en-US" sz="1270" dirty="0"/>
          </a:p>
          <a:p>
            <a:pPr algn="ctr" indent="0" marL="0">
              <a:buNone/>
            </a:pPr>
            <a:r>
              <a:rPr lang="en-US" sz="1270" b="1" dirty="0">
                <a:solidFill>
                  <a:srgbClr val="111827"/>
                </a:solidFill>
              </a:rPr>
              <a:t>What are the ordered units of work?</a:t>
            </a:r>
            <a:endParaRPr lang="en-US" sz="1270" dirty="0"/>
          </a:p>
        </p:txBody>
      </p:sp>
      <p:sp>
        <p:nvSpPr>
          <p:cNvPr id="13" name="Shape 11"/>
          <p:cNvSpPr/>
          <p:nvPr/>
        </p:nvSpPr>
        <p:spPr>
          <a:xfrm>
            <a:off x="7114032" y="2560320"/>
            <a:ext cx="246888" cy="0"/>
          </a:xfrm>
          <a:prstGeom prst="line">
            <a:avLst/>
          </a:prstGeom>
          <a:noFill/>
          <a:ln w="15240">
            <a:solidFill>
              <a:srgbClr val="64748B"/>
            </a:solidFill>
            <a:prstDash val="solid"/>
            <a:headEnd type="none"/>
            <a:tailEnd type="triangle"/>
          </a:ln>
        </p:spPr>
      </p:sp>
      <p:sp>
        <p:nvSpPr>
          <p:cNvPr id="14" name="Shape 12"/>
          <p:cNvSpPr/>
          <p:nvPr/>
        </p:nvSpPr>
        <p:spPr>
          <a:xfrm>
            <a:off x="7452360" y="2011680"/>
            <a:ext cx="1920240" cy="1097280"/>
          </a:xfrm>
          <a:prstGeom prst="roundRect">
            <a:avLst>
              <a:gd name="adj" fmla="val 6667"/>
            </a:avLst>
          </a:prstGeom>
          <a:solidFill>
            <a:srgbClr val="FFFFFF"/>
          </a:solidFill>
          <a:ln w="12700">
            <a:solidFill>
              <a:srgbClr val="CBD5E1"/>
            </a:solidFill>
            <a:prstDash val="solid"/>
          </a:ln>
        </p:spPr>
      </p:sp>
      <p:sp>
        <p:nvSpPr>
          <p:cNvPr id="15" name="Text 13"/>
          <p:cNvSpPr/>
          <p:nvPr/>
        </p:nvSpPr>
        <p:spPr>
          <a:xfrm>
            <a:off x="7589520" y="2139696"/>
            <a:ext cx="1645920" cy="841248"/>
          </a:xfrm>
          <a:prstGeom prst="rect">
            <a:avLst/>
          </a:prstGeom>
          <a:noFill/>
          <a:ln/>
        </p:spPr>
        <p:txBody>
          <a:bodyPr wrap="square" lIns="254" tIns="254" rIns="254" bIns="254" rtlCol="0" anchor="ctr">
            <a:normAutofit/>
          </a:bodyPr>
          <a:lstStyle/>
          <a:p>
            <a:pPr algn="ctr" indent="0" marL="0">
              <a:buNone/>
            </a:pPr>
            <a:r>
              <a:rPr lang="en-US" sz="1270" b="1" dirty="0">
                <a:solidFill>
                  <a:srgbClr val="111827"/>
                </a:solidFill>
              </a:rPr>
              <a:t>IMPLEMENT</a:t>
            </a:r>
            <a:endParaRPr lang="en-US" sz="1270" dirty="0"/>
          </a:p>
          <a:p>
            <a:pPr algn="ctr" indent="0" marL="0">
              <a:buNone/>
            </a:pPr>
            <a:r>
              <a:rPr lang="en-US" sz="1270" b="1" dirty="0">
                <a:solidFill>
                  <a:srgbClr val="111827"/>
                </a:solidFill>
              </a:rPr>
              <a:t>Build the change</a:t>
            </a:r>
            <a:endParaRPr lang="en-US" sz="1270" dirty="0"/>
          </a:p>
        </p:txBody>
      </p:sp>
      <p:sp>
        <p:nvSpPr>
          <p:cNvPr id="16" name="Shape 14"/>
          <p:cNvSpPr/>
          <p:nvPr/>
        </p:nvSpPr>
        <p:spPr>
          <a:xfrm>
            <a:off x="9400032" y="2560320"/>
            <a:ext cx="246888" cy="0"/>
          </a:xfrm>
          <a:prstGeom prst="line">
            <a:avLst/>
          </a:prstGeom>
          <a:noFill/>
          <a:ln w="15240">
            <a:solidFill>
              <a:srgbClr val="64748B"/>
            </a:solidFill>
            <a:prstDash val="solid"/>
            <a:headEnd type="none"/>
            <a:tailEnd type="triangle"/>
          </a:ln>
        </p:spPr>
      </p:sp>
      <p:sp>
        <p:nvSpPr>
          <p:cNvPr id="17" name="Shape 15"/>
          <p:cNvSpPr/>
          <p:nvPr/>
        </p:nvSpPr>
        <p:spPr>
          <a:xfrm>
            <a:off x="9738360" y="2011680"/>
            <a:ext cx="1920240" cy="1097280"/>
          </a:xfrm>
          <a:prstGeom prst="roundRect">
            <a:avLst>
              <a:gd name="adj" fmla="val 6667"/>
            </a:avLst>
          </a:prstGeom>
          <a:solidFill>
            <a:srgbClr val="FFF7ED"/>
          </a:solidFill>
          <a:ln w="12700">
            <a:solidFill>
              <a:srgbClr val="FDBA74"/>
            </a:solidFill>
            <a:prstDash val="solid"/>
          </a:ln>
        </p:spPr>
      </p:sp>
      <p:sp>
        <p:nvSpPr>
          <p:cNvPr id="18" name="Text 16"/>
          <p:cNvSpPr/>
          <p:nvPr/>
        </p:nvSpPr>
        <p:spPr>
          <a:xfrm>
            <a:off x="9875520" y="2139696"/>
            <a:ext cx="1645920" cy="841248"/>
          </a:xfrm>
          <a:prstGeom prst="rect">
            <a:avLst/>
          </a:prstGeom>
          <a:noFill/>
          <a:ln/>
        </p:spPr>
        <p:txBody>
          <a:bodyPr wrap="square" lIns="254" tIns="254" rIns="254" bIns="254" rtlCol="0" anchor="ctr">
            <a:normAutofit/>
          </a:bodyPr>
          <a:lstStyle/>
          <a:p>
            <a:pPr algn="ctr" indent="0" marL="0">
              <a:buNone/>
            </a:pPr>
            <a:r>
              <a:rPr lang="en-US" sz="1270" b="1" dirty="0">
                <a:solidFill>
                  <a:srgbClr val="111827"/>
                </a:solidFill>
              </a:rPr>
              <a:t>VERIFY &amp; EVOLVE</a:t>
            </a:r>
            <a:endParaRPr lang="en-US" sz="1270" dirty="0"/>
          </a:p>
          <a:p>
            <a:pPr algn="ctr" indent="0" marL="0">
              <a:buNone/>
            </a:pPr>
            <a:r>
              <a:rPr lang="en-US" sz="1270" b="1" dirty="0">
                <a:solidFill>
                  <a:srgbClr val="111827"/>
                </a:solidFill>
              </a:rPr>
              <a:t>Check alignment and update artifacts</a:t>
            </a:r>
            <a:endParaRPr lang="en-US" sz="1270" dirty="0"/>
          </a:p>
        </p:txBody>
      </p:sp>
      <p:sp>
        <p:nvSpPr>
          <p:cNvPr id="19" name="Shape 17"/>
          <p:cNvSpPr/>
          <p:nvPr/>
        </p:nvSpPr>
        <p:spPr>
          <a:xfrm>
            <a:off x="2240280" y="3429000"/>
            <a:ext cx="7772400" cy="1005840"/>
          </a:xfrm>
          <a:prstGeom prst="arc">
            <a:avLst/>
          </a:prstGeom>
          <a:noFill/>
          <a:ln w="25400">
            <a:solidFill>
              <a:srgbClr val="F97316"/>
            </a:solidFill>
            <a:prstDash val="solid"/>
            <a:headEnd type="none"/>
            <a:tailEnd type="triangle"/>
          </a:ln>
        </p:spPr>
      </p:sp>
      <p:sp>
        <p:nvSpPr>
          <p:cNvPr id="20" name="Text 18"/>
          <p:cNvSpPr/>
          <p:nvPr/>
        </p:nvSpPr>
        <p:spPr>
          <a:xfrm>
            <a:off x="1143000" y="5074920"/>
            <a:ext cx="9875520" cy="502920"/>
          </a:xfrm>
          <a:prstGeom prst="rect">
            <a:avLst/>
          </a:prstGeom>
          <a:noFill/>
          <a:ln/>
        </p:spPr>
        <p:txBody>
          <a:bodyPr wrap="square" lIns="635" tIns="635" rIns="635" bIns="635" rtlCol="0" anchor="t">
            <a:normAutofit/>
          </a:bodyPr>
          <a:lstStyle/>
          <a:p>
            <a:pPr indent="0" marL="0">
              <a:buNone/>
            </a:pPr>
            <a:r>
              <a:rPr lang="en-US" sz="2100" dirty="0">
                <a:solidFill>
                  <a:srgbClr val="111827"/>
                </a:solidFill>
              </a:rPr>
              <a:t>Verification is not a final checkbox. It is a loop: when reality diverges, fix the right artifact, then continue.</a:t>
            </a:r>
            <a:endParaRPr lang="en-US" sz="2100" dirty="0"/>
          </a:p>
        </p:txBody>
      </p:sp>
      <p:sp>
        <p:nvSpPr>
          <p:cNvPr id="21" name="Text 19"/>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731520" y="2331720"/>
            <a:ext cx="10789920" cy="685800"/>
          </a:xfrm>
          <a:prstGeom prst="rect">
            <a:avLst/>
          </a:prstGeom>
          <a:noFill/>
          <a:ln/>
        </p:spPr>
        <p:txBody>
          <a:bodyPr wrap="square" lIns="0" tIns="0" rIns="0" bIns="0" rtlCol="0" anchor="ct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SEGMENT 3</a:t>
            </a:r>
            <a:endParaRPr lang="en-US" sz="4200" dirty="0"/>
          </a:p>
        </p:txBody>
      </p:sp>
      <p:sp>
        <p:nvSpPr>
          <p:cNvPr id="4" name="Text 2"/>
          <p:cNvSpPr/>
          <p:nvPr/>
        </p:nvSpPr>
        <p:spPr>
          <a:xfrm>
            <a:off x="777240" y="3127248"/>
            <a:ext cx="9875520" cy="411480"/>
          </a:xfrm>
          <a:prstGeom prst="rect">
            <a:avLst/>
          </a:prstGeom>
          <a:noFill/>
          <a:ln/>
        </p:spPr>
        <p:txBody>
          <a:bodyPr wrap="square" lIns="0" tIns="0" rIns="0" bIns="0" rtlCol="0" anchor="ctr"/>
          <a:lstStyle/>
          <a:p>
            <a:pPr indent="0" marL="0">
              <a:buNone/>
            </a:pPr>
            <a:r>
              <a:rPr lang="en-US" sz="1800" dirty="0">
                <a:solidFill>
                  <a:srgbClr val="CBD5E1"/>
                </a:solidFill>
              </a:rPr>
              <a:t>The tools are implementations — not the mindset itself</a:t>
            </a:r>
            <a:endParaRPr lang="en-US" sz="1800" dirty="0"/>
          </a:p>
        </p:txBody>
      </p:sp>
      <p:sp>
        <p:nvSpPr>
          <p:cNvPr id="5" name="Shape 3"/>
          <p:cNvSpPr/>
          <p:nvPr/>
        </p:nvSpPr>
        <p:spPr>
          <a:xfrm>
            <a:off x="777240" y="3703320"/>
            <a:ext cx="2926080" cy="0"/>
          </a:xfrm>
          <a:prstGeom prst="line">
            <a:avLst/>
          </a:prstGeom>
          <a:noFill/>
          <a:ln w="50800">
            <a:solidFill>
              <a:srgbClr val="F97316"/>
            </a:solidFill>
            <a:prstDash val="solid"/>
          </a:ln>
        </p:spPr>
      </p:sp>
      <p:sp>
        <p:nvSpPr>
          <p:cNvPr id="6" name="Text 4"/>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CBD5E1"/>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They compete as implementations — not as unrelated ideas</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BMAD, Spec Kit, OpenSpec and others are different engineering answers to the same underlying need.</a:t>
            </a:r>
            <a:endParaRPr lang="en-US" sz="1400" dirty="0"/>
          </a:p>
        </p:txBody>
      </p:sp>
      <p:sp>
        <p:nvSpPr>
          <p:cNvPr id="5" name="Text 3"/>
          <p:cNvSpPr/>
          <p:nvPr/>
        </p:nvSpPr>
        <p:spPr>
          <a:xfrm>
            <a:off x="914400" y="1691640"/>
            <a:ext cx="10149840" cy="1280160"/>
          </a:xfrm>
          <a:prstGeom prst="rect">
            <a:avLst/>
          </a:prstGeom>
          <a:noFill/>
          <a:ln/>
        </p:spPr>
        <p:txBody>
          <a:bodyPr wrap="square" lIns="635" tIns="635" rIns="635" bIns="635" rtlCol="0" anchor="t">
            <a:normAutofit/>
          </a:bodyPr>
          <a:lstStyle/>
          <a:p>
            <a:pPr indent="0" marL="0">
              <a:buNone/>
            </a:pPr>
            <a:r>
              <a:rPr lang="en-US" sz="2500" dirty="0">
                <a:solidFill>
                  <a:srgbClr val="111827"/>
                </a:solidFill>
              </a:rPr>
              <a:t>Do not ask first: “Which one is the SDD tool?”</a:t>
            </a:r>
            <a:endParaRPr lang="en-US" sz="2500" dirty="0"/>
          </a:p>
          <a:p>
            <a:pPr indent="0" marL="0">
              <a:buNone/>
            </a:pPr>
            <a:endParaRPr lang="en-US" sz="2500" dirty="0"/>
          </a:p>
          <a:p>
            <a:pPr indent="0" marL="0">
              <a:buNone/>
            </a:pPr>
            <a:r>
              <a:rPr lang="en-US" sz="2500" dirty="0">
                <a:solidFill>
                  <a:srgbClr val="111827"/>
                </a:solidFill>
              </a:rPr>
              <a:t>Ask instead: “How does this tool keep intent, plan, tasks, code and verification aligned?”</a:t>
            </a:r>
            <a:endParaRPr lang="en-US" sz="2500" dirty="0"/>
          </a:p>
        </p:txBody>
      </p:sp>
      <p:sp>
        <p:nvSpPr>
          <p:cNvPr id="6" name="Shape 4"/>
          <p:cNvSpPr/>
          <p:nvPr/>
        </p:nvSpPr>
        <p:spPr>
          <a:xfrm>
            <a:off x="914400" y="3657600"/>
            <a:ext cx="3657600" cy="1234440"/>
          </a:xfrm>
          <a:prstGeom prst="roundRect">
            <a:avLst>
              <a:gd name="adj" fmla="val 5926"/>
            </a:avLst>
          </a:prstGeom>
          <a:solidFill>
            <a:srgbClr val="FFF7ED"/>
          </a:solidFill>
          <a:ln w="12700">
            <a:solidFill>
              <a:srgbClr val="FDBA74"/>
            </a:solidFill>
            <a:prstDash val="solid"/>
          </a:ln>
        </p:spPr>
      </p:sp>
      <p:sp>
        <p:nvSpPr>
          <p:cNvPr id="7" name="Text 5"/>
          <p:cNvSpPr/>
          <p:nvPr/>
        </p:nvSpPr>
        <p:spPr>
          <a:xfrm>
            <a:off x="1051560" y="3785616"/>
            <a:ext cx="3383280" cy="978408"/>
          </a:xfrm>
          <a:prstGeom prst="rect">
            <a:avLst/>
          </a:prstGeom>
          <a:noFill/>
          <a:ln/>
        </p:spPr>
        <p:txBody>
          <a:bodyPr wrap="square" lIns="254" tIns="254" rIns="254" bIns="254" rtlCol="0" anchor="ctr">
            <a:normAutofit/>
          </a:bodyPr>
          <a:lstStyle/>
          <a:p>
            <a:pPr algn="ctr" indent="0" marL="0">
              <a:buNone/>
            </a:pPr>
            <a:r>
              <a:rPr lang="en-US" sz="1800" b="1" dirty="0">
                <a:solidFill>
                  <a:srgbClr val="111827"/>
                </a:solidFill>
              </a:rPr>
              <a:t>Shared discipline</a:t>
            </a:r>
            <a:endParaRPr lang="en-US" sz="1800" dirty="0"/>
          </a:p>
          <a:p>
            <a:pPr algn="ctr" indent="0" marL="0">
              <a:buNone/>
            </a:pPr>
            <a:r>
              <a:rPr lang="en-US" sz="1800" b="1" dirty="0">
                <a:solidFill>
                  <a:srgbClr val="111827"/>
                </a:solidFill>
              </a:rPr>
              <a:t>Durable intent + structured context + verification</a:t>
            </a:r>
            <a:endParaRPr lang="en-US" sz="1800" dirty="0"/>
          </a:p>
        </p:txBody>
      </p:sp>
      <p:sp>
        <p:nvSpPr>
          <p:cNvPr id="8" name="Shape 6"/>
          <p:cNvSpPr/>
          <p:nvPr/>
        </p:nvSpPr>
        <p:spPr>
          <a:xfrm>
            <a:off x="4983480" y="3657600"/>
            <a:ext cx="5394960" cy="1234440"/>
          </a:xfrm>
          <a:prstGeom prst="roundRect">
            <a:avLst>
              <a:gd name="adj" fmla="val 5926"/>
            </a:avLst>
          </a:prstGeom>
          <a:solidFill>
            <a:srgbClr val="FFFFFF"/>
          </a:solidFill>
          <a:ln w="12700">
            <a:solidFill>
              <a:srgbClr val="CBD5E1"/>
            </a:solidFill>
            <a:prstDash val="solid"/>
          </a:ln>
        </p:spPr>
      </p:sp>
      <p:sp>
        <p:nvSpPr>
          <p:cNvPr id="9" name="Text 7"/>
          <p:cNvSpPr/>
          <p:nvPr/>
        </p:nvSpPr>
        <p:spPr>
          <a:xfrm>
            <a:off x="5120640" y="3785616"/>
            <a:ext cx="5120640" cy="978408"/>
          </a:xfrm>
          <a:prstGeom prst="rect">
            <a:avLst/>
          </a:prstGeom>
          <a:noFill/>
          <a:ln/>
        </p:spPr>
        <p:txBody>
          <a:bodyPr wrap="square" lIns="254" tIns="254" rIns="254" bIns="254" rtlCol="0" anchor="ctr">
            <a:normAutofit/>
          </a:bodyPr>
          <a:lstStyle/>
          <a:p>
            <a:pPr algn="ctr" indent="0" marL="0">
              <a:buNone/>
            </a:pPr>
            <a:r>
              <a:rPr lang="en-US" sz="1800" b="1" dirty="0">
                <a:solidFill>
                  <a:srgbClr val="111827"/>
                </a:solidFill>
              </a:rPr>
              <a:t>Different implementations</a:t>
            </a:r>
            <a:endParaRPr lang="en-US" sz="1800" dirty="0"/>
          </a:p>
          <a:p>
            <a:pPr algn="ctr" indent="0" marL="0">
              <a:buNone/>
            </a:pPr>
            <a:r>
              <a:rPr lang="en-US" sz="1800" b="1" dirty="0">
                <a:solidFill>
                  <a:srgbClr val="111827"/>
                </a:solidFill>
              </a:rPr>
              <a:t>Workflow depth, role model, sync strategy, validation gates</a:t>
            </a:r>
            <a:endParaRPr lang="en-US" sz="1800" dirty="0"/>
          </a:p>
        </p:txBody>
      </p:sp>
      <p:sp>
        <p:nvSpPr>
          <p:cNvPr id="10" name="Text 8"/>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Representative tool mapping</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Conceptual alignment — not one-to-one command equivalence.</a:t>
            </a:r>
            <a:endParaRPr lang="en-US" sz="1400" dirty="0"/>
          </a:p>
        </p:txBody>
      </p:sp>
      <p:sp>
        <p:nvSpPr>
          <p:cNvPr id="5" name="Shape 3"/>
          <p:cNvSpPr/>
          <p:nvPr/>
        </p:nvSpPr>
        <p:spPr>
          <a:xfrm>
            <a:off x="502920" y="1508760"/>
            <a:ext cx="2240280" cy="457200"/>
          </a:xfrm>
          <a:prstGeom prst="rect">
            <a:avLst/>
          </a:prstGeom>
          <a:solidFill>
            <a:srgbClr val="0B1220"/>
          </a:solidFill>
          <a:ln w="12700">
            <a:solidFill>
              <a:srgbClr val="0B1220"/>
            </a:solidFill>
            <a:prstDash val="solid"/>
          </a:ln>
        </p:spPr>
      </p:sp>
      <p:sp>
        <p:nvSpPr>
          <p:cNvPr id="6" name="Text 4"/>
          <p:cNvSpPr/>
          <p:nvPr/>
        </p:nvSpPr>
        <p:spPr>
          <a:xfrm>
            <a:off x="548640" y="1645920"/>
            <a:ext cx="2148840" cy="146304"/>
          </a:xfrm>
          <a:prstGeom prst="rect">
            <a:avLst/>
          </a:prstGeom>
          <a:noFill/>
          <a:ln/>
        </p:spPr>
        <p:txBody>
          <a:bodyPr wrap="square" lIns="0" tIns="0" rIns="0" bIns="0" rtlCol="0" anchor="ctr"/>
          <a:lstStyle/>
          <a:p>
            <a:pPr algn="ctr" indent="0" marL="0">
              <a:buNone/>
            </a:pPr>
            <a:r>
              <a:rPr lang="en-US" sz="850" b="1" dirty="0">
                <a:solidFill>
                  <a:srgbClr val="FFFFFF"/>
                </a:solidFill>
              </a:rPr>
              <a:t>Common activity</a:t>
            </a:r>
            <a:endParaRPr lang="en-US" sz="850" dirty="0"/>
          </a:p>
        </p:txBody>
      </p:sp>
      <p:sp>
        <p:nvSpPr>
          <p:cNvPr id="7" name="Shape 5"/>
          <p:cNvSpPr/>
          <p:nvPr/>
        </p:nvSpPr>
        <p:spPr>
          <a:xfrm>
            <a:off x="2743200" y="1508760"/>
            <a:ext cx="2057400" cy="457200"/>
          </a:xfrm>
          <a:prstGeom prst="rect">
            <a:avLst/>
          </a:prstGeom>
          <a:solidFill>
            <a:srgbClr val="0B1220"/>
          </a:solidFill>
          <a:ln w="12700">
            <a:solidFill>
              <a:srgbClr val="0B1220"/>
            </a:solidFill>
            <a:prstDash val="solid"/>
          </a:ln>
        </p:spPr>
      </p:sp>
      <p:sp>
        <p:nvSpPr>
          <p:cNvPr id="8" name="Text 6"/>
          <p:cNvSpPr/>
          <p:nvPr/>
        </p:nvSpPr>
        <p:spPr>
          <a:xfrm>
            <a:off x="2788920" y="1645920"/>
            <a:ext cx="1965960" cy="146304"/>
          </a:xfrm>
          <a:prstGeom prst="rect">
            <a:avLst/>
          </a:prstGeom>
          <a:noFill/>
          <a:ln/>
        </p:spPr>
        <p:txBody>
          <a:bodyPr wrap="square" lIns="0" tIns="0" rIns="0" bIns="0" rtlCol="0" anchor="ctr"/>
          <a:lstStyle/>
          <a:p>
            <a:pPr algn="ctr" indent="0" marL="0">
              <a:buNone/>
            </a:pPr>
            <a:r>
              <a:rPr lang="en-US" sz="850" b="1" dirty="0">
                <a:solidFill>
                  <a:srgbClr val="FFFFFF"/>
                </a:solidFill>
              </a:rPr>
              <a:t>BMAD</a:t>
            </a:r>
            <a:endParaRPr lang="en-US" sz="850" dirty="0"/>
          </a:p>
        </p:txBody>
      </p:sp>
      <p:sp>
        <p:nvSpPr>
          <p:cNvPr id="9" name="Shape 7"/>
          <p:cNvSpPr/>
          <p:nvPr/>
        </p:nvSpPr>
        <p:spPr>
          <a:xfrm>
            <a:off x="4800600" y="1508760"/>
            <a:ext cx="2148840" cy="457200"/>
          </a:xfrm>
          <a:prstGeom prst="rect">
            <a:avLst/>
          </a:prstGeom>
          <a:solidFill>
            <a:srgbClr val="0B1220"/>
          </a:solidFill>
          <a:ln w="12700">
            <a:solidFill>
              <a:srgbClr val="0B1220"/>
            </a:solidFill>
            <a:prstDash val="solid"/>
          </a:ln>
        </p:spPr>
      </p:sp>
      <p:sp>
        <p:nvSpPr>
          <p:cNvPr id="10" name="Text 8"/>
          <p:cNvSpPr/>
          <p:nvPr/>
        </p:nvSpPr>
        <p:spPr>
          <a:xfrm>
            <a:off x="4846320" y="1645920"/>
            <a:ext cx="2057400" cy="146304"/>
          </a:xfrm>
          <a:prstGeom prst="rect">
            <a:avLst/>
          </a:prstGeom>
          <a:noFill/>
          <a:ln/>
        </p:spPr>
        <p:txBody>
          <a:bodyPr wrap="square" lIns="0" tIns="0" rIns="0" bIns="0" rtlCol="0" anchor="ctr"/>
          <a:lstStyle/>
          <a:p>
            <a:pPr algn="ctr" indent="0" marL="0">
              <a:buNone/>
            </a:pPr>
            <a:r>
              <a:rPr lang="en-US" sz="850" b="1" dirty="0">
                <a:solidFill>
                  <a:srgbClr val="FFFFFF"/>
                </a:solidFill>
              </a:rPr>
              <a:t>Spec Kit</a:t>
            </a:r>
            <a:endParaRPr lang="en-US" sz="850" dirty="0"/>
          </a:p>
        </p:txBody>
      </p:sp>
      <p:sp>
        <p:nvSpPr>
          <p:cNvPr id="11" name="Shape 9"/>
          <p:cNvSpPr/>
          <p:nvPr/>
        </p:nvSpPr>
        <p:spPr>
          <a:xfrm>
            <a:off x="6949440" y="1508760"/>
            <a:ext cx="2148840" cy="457200"/>
          </a:xfrm>
          <a:prstGeom prst="rect">
            <a:avLst/>
          </a:prstGeom>
          <a:solidFill>
            <a:srgbClr val="0B1220"/>
          </a:solidFill>
          <a:ln w="12700">
            <a:solidFill>
              <a:srgbClr val="0B1220"/>
            </a:solidFill>
            <a:prstDash val="solid"/>
          </a:ln>
        </p:spPr>
      </p:sp>
      <p:sp>
        <p:nvSpPr>
          <p:cNvPr id="12" name="Text 10"/>
          <p:cNvSpPr/>
          <p:nvPr/>
        </p:nvSpPr>
        <p:spPr>
          <a:xfrm>
            <a:off x="6995160" y="1645920"/>
            <a:ext cx="2057400" cy="146304"/>
          </a:xfrm>
          <a:prstGeom prst="rect">
            <a:avLst/>
          </a:prstGeom>
          <a:noFill/>
          <a:ln/>
        </p:spPr>
        <p:txBody>
          <a:bodyPr wrap="square" lIns="0" tIns="0" rIns="0" bIns="0" rtlCol="0" anchor="ctr"/>
          <a:lstStyle/>
          <a:p>
            <a:pPr algn="ctr" indent="0" marL="0">
              <a:buNone/>
            </a:pPr>
            <a:r>
              <a:rPr lang="en-US" sz="850" b="1" dirty="0">
                <a:solidFill>
                  <a:srgbClr val="FFFFFF"/>
                </a:solidFill>
              </a:rPr>
              <a:t>OpenSpec</a:t>
            </a:r>
            <a:endParaRPr lang="en-US" sz="850" dirty="0"/>
          </a:p>
        </p:txBody>
      </p:sp>
      <p:sp>
        <p:nvSpPr>
          <p:cNvPr id="13" name="Shape 11"/>
          <p:cNvSpPr/>
          <p:nvPr/>
        </p:nvSpPr>
        <p:spPr>
          <a:xfrm>
            <a:off x="9098280" y="1508760"/>
            <a:ext cx="1874520" cy="457200"/>
          </a:xfrm>
          <a:prstGeom prst="rect">
            <a:avLst/>
          </a:prstGeom>
          <a:solidFill>
            <a:srgbClr val="0B1220"/>
          </a:solidFill>
          <a:ln w="12700">
            <a:solidFill>
              <a:srgbClr val="0B1220"/>
            </a:solidFill>
            <a:prstDash val="solid"/>
          </a:ln>
        </p:spPr>
      </p:sp>
      <p:sp>
        <p:nvSpPr>
          <p:cNvPr id="14" name="Text 12"/>
          <p:cNvSpPr/>
          <p:nvPr/>
        </p:nvSpPr>
        <p:spPr>
          <a:xfrm>
            <a:off x="9144000" y="1645920"/>
            <a:ext cx="1783080" cy="146304"/>
          </a:xfrm>
          <a:prstGeom prst="rect">
            <a:avLst/>
          </a:prstGeom>
          <a:noFill/>
          <a:ln/>
        </p:spPr>
        <p:txBody>
          <a:bodyPr wrap="square" lIns="0" tIns="0" rIns="0" bIns="0" rtlCol="0" anchor="ctr"/>
          <a:lstStyle/>
          <a:p>
            <a:pPr algn="ctr" indent="0" marL="0">
              <a:buNone/>
            </a:pPr>
            <a:r>
              <a:rPr lang="en-US" sz="850" b="1" dirty="0">
                <a:solidFill>
                  <a:srgbClr val="FFFFFF"/>
                </a:solidFill>
              </a:rPr>
              <a:t>GSD</a:t>
            </a:r>
            <a:endParaRPr lang="en-US" sz="850" dirty="0"/>
          </a:p>
        </p:txBody>
      </p:sp>
      <p:sp>
        <p:nvSpPr>
          <p:cNvPr id="15" name="Shape 13"/>
          <p:cNvSpPr/>
          <p:nvPr/>
        </p:nvSpPr>
        <p:spPr>
          <a:xfrm>
            <a:off x="502920" y="1965960"/>
            <a:ext cx="2240280" cy="566928"/>
          </a:xfrm>
          <a:prstGeom prst="rect">
            <a:avLst/>
          </a:prstGeom>
          <a:solidFill>
            <a:srgbClr val="FFFFFF"/>
          </a:solidFill>
          <a:ln w="6350">
            <a:solidFill>
              <a:srgbClr val="CBD5E1"/>
            </a:solidFill>
            <a:prstDash val="solid"/>
          </a:ln>
        </p:spPr>
      </p:sp>
      <p:sp>
        <p:nvSpPr>
          <p:cNvPr id="16" name="Text 14"/>
          <p:cNvSpPr/>
          <p:nvPr/>
        </p:nvSpPr>
        <p:spPr>
          <a:xfrm>
            <a:off x="557784" y="2084832"/>
            <a:ext cx="213055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Discover / clarify</a:t>
            </a:r>
            <a:endParaRPr lang="en-US" sz="820" dirty="0"/>
          </a:p>
        </p:txBody>
      </p:sp>
      <p:sp>
        <p:nvSpPr>
          <p:cNvPr id="17" name="Shape 15"/>
          <p:cNvSpPr/>
          <p:nvPr/>
        </p:nvSpPr>
        <p:spPr>
          <a:xfrm>
            <a:off x="2743200" y="1965960"/>
            <a:ext cx="2057400" cy="566928"/>
          </a:xfrm>
          <a:prstGeom prst="rect">
            <a:avLst/>
          </a:prstGeom>
          <a:solidFill>
            <a:srgbClr val="FFFFFF"/>
          </a:solidFill>
          <a:ln w="6350">
            <a:solidFill>
              <a:srgbClr val="CBD5E1"/>
            </a:solidFill>
            <a:prstDash val="solid"/>
          </a:ln>
        </p:spPr>
      </p:sp>
      <p:sp>
        <p:nvSpPr>
          <p:cNvPr id="18" name="Text 16"/>
          <p:cNvSpPr/>
          <p:nvPr/>
        </p:nvSpPr>
        <p:spPr>
          <a:xfrm>
            <a:off x="2798064" y="2084832"/>
            <a:ext cx="194767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Analysis, brief, PRD</a:t>
            </a:r>
            <a:endParaRPr lang="en-US" sz="820" dirty="0"/>
          </a:p>
        </p:txBody>
      </p:sp>
      <p:sp>
        <p:nvSpPr>
          <p:cNvPr id="19" name="Shape 17"/>
          <p:cNvSpPr/>
          <p:nvPr/>
        </p:nvSpPr>
        <p:spPr>
          <a:xfrm>
            <a:off x="4800600" y="1965960"/>
            <a:ext cx="2148840" cy="566928"/>
          </a:xfrm>
          <a:prstGeom prst="rect">
            <a:avLst/>
          </a:prstGeom>
          <a:solidFill>
            <a:srgbClr val="FFFFFF"/>
          </a:solidFill>
          <a:ln w="6350">
            <a:solidFill>
              <a:srgbClr val="CBD5E1"/>
            </a:solidFill>
            <a:prstDash val="solid"/>
          </a:ln>
        </p:spPr>
      </p:sp>
      <p:sp>
        <p:nvSpPr>
          <p:cNvPr id="20" name="Text 18"/>
          <p:cNvSpPr/>
          <p:nvPr/>
        </p:nvSpPr>
        <p:spPr>
          <a:xfrm>
            <a:off x="4855464" y="2084832"/>
            <a:ext cx="203911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specify, clarify</a:t>
            </a:r>
            <a:endParaRPr lang="en-US" sz="820" dirty="0"/>
          </a:p>
        </p:txBody>
      </p:sp>
      <p:sp>
        <p:nvSpPr>
          <p:cNvPr id="21" name="Shape 19"/>
          <p:cNvSpPr/>
          <p:nvPr/>
        </p:nvSpPr>
        <p:spPr>
          <a:xfrm>
            <a:off x="6949440" y="1965960"/>
            <a:ext cx="2148840" cy="566928"/>
          </a:xfrm>
          <a:prstGeom prst="rect">
            <a:avLst/>
          </a:prstGeom>
          <a:solidFill>
            <a:srgbClr val="FFFFFF"/>
          </a:solidFill>
          <a:ln w="6350">
            <a:solidFill>
              <a:srgbClr val="CBD5E1"/>
            </a:solidFill>
            <a:prstDash val="solid"/>
          </a:ln>
        </p:spPr>
      </p:sp>
      <p:sp>
        <p:nvSpPr>
          <p:cNvPr id="22" name="Text 20"/>
          <p:cNvSpPr/>
          <p:nvPr/>
        </p:nvSpPr>
        <p:spPr>
          <a:xfrm>
            <a:off x="7004304" y="2084832"/>
            <a:ext cx="203911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explore, propose</a:t>
            </a:r>
            <a:endParaRPr lang="en-US" sz="820" dirty="0"/>
          </a:p>
        </p:txBody>
      </p:sp>
      <p:sp>
        <p:nvSpPr>
          <p:cNvPr id="23" name="Shape 21"/>
          <p:cNvSpPr/>
          <p:nvPr/>
        </p:nvSpPr>
        <p:spPr>
          <a:xfrm>
            <a:off x="9098280" y="1965960"/>
            <a:ext cx="1874520" cy="566928"/>
          </a:xfrm>
          <a:prstGeom prst="rect">
            <a:avLst/>
          </a:prstGeom>
          <a:solidFill>
            <a:srgbClr val="FFFFFF"/>
          </a:solidFill>
          <a:ln w="6350">
            <a:solidFill>
              <a:srgbClr val="CBD5E1"/>
            </a:solidFill>
            <a:prstDash val="solid"/>
          </a:ln>
        </p:spPr>
      </p:sp>
      <p:sp>
        <p:nvSpPr>
          <p:cNvPr id="24" name="Text 22"/>
          <p:cNvSpPr/>
          <p:nvPr/>
        </p:nvSpPr>
        <p:spPr>
          <a:xfrm>
            <a:off x="9153144" y="2084832"/>
            <a:ext cx="176479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Discuss, research</a:t>
            </a:r>
            <a:endParaRPr lang="en-US" sz="820" dirty="0"/>
          </a:p>
        </p:txBody>
      </p:sp>
      <p:sp>
        <p:nvSpPr>
          <p:cNvPr id="25" name="Shape 23"/>
          <p:cNvSpPr/>
          <p:nvPr/>
        </p:nvSpPr>
        <p:spPr>
          <a:xfrm>
            <a:off x="502920" y="2532888"/>
            <a:ext cx="2240280" cy="566928"/>
          </a:xfrm>
          <a:prstGeom prst="rect">
            <a:avLst/>
          </a:prstGeom>
          <a:solidFill>
            <a:srgbClr val="F8FAFC"/>
          </a:solidFill>
          <a:ln w="6350">
            <a:solidFill>
              <a:srgbClr val="CBD5E1"/>
            </a:solidFill>
            <a:prstDash val="solid"/>
          </a:ln>
        </p:spPr>
      </p:sp>
      <p:sp>
        <p:nvSpPr>
          <p:cNvPr id="26" name="Text 24"/>
          <p:cNvSpPr/>
          <p:nvPr/>
        </p:nvSpPr>
        <p:spPr>
          <a:xfrm>
            <a:off x="557784" y="2651760"/>
            <a:ext cx="213055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Design</a:t>
            </a:r>
            <a:endParaRPr lang="en-US" sz="820" dirty="0"/>
          </a:p>
        </p:txBody>
      </p:sp>
      <p:sp>
        <p:nvSpPr>
          <p:cNvPr id="27" name="Shape 25"/>
          <p:cNvSpPr/>
          <p:nvPr/>
        </p:nvSpPr>
        <p:spPr>
          <a:xfrm>
            <a:off x="2743200" y="2532888"/>
            <a:ext cx="2057400" cy="566928"/>
          </a:xfrm>
          <a:prstGeom prst="rect">
            <a:avLst/>
          </a:prstGeom>
          <a:solidFill>
            <a:srgbClr val="F8FAFC"/>
          </a:solidFill>
          <a:ln w="6350">
            <a:solidFill>
              <a:srgbClr val="CBD5E1"/>
            </a:solidFill>
            <a:prstDash val="solid"/>
          </a:ln>
        </p:spPr>
      </p:sp>
      <p:sp>
        <p:nvSpPr>
          <p:cNvPr id="28" name="Text 26"/>
          <p:cNvSpPr/>
          <p:nvPr/>
        </p:nvSpPr>
        <p:spPr>
          <a:xfrm>
            <a:off x="2798064" y="2651760"/>
            <a:ext cx="194767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Architecture &amp; solutioning</a:t>
            </a:r>
            <a:endParaRPr lang="en-US" sz="820" dirty="0"/>
          </a:p>
        </p:txBody>
      </p:sp>
      <p:sp>
        <p:nvSpPr>
          <p:cNvPr id="29" name="Shape 27"/>
          <p:cNvSpPr/>
          <p:nvPr/>
        </p:nvSpPr>
        <p:spPr>
          <a:xfrm>
            <a:off x="4800600" y="2532888"/>
            <a:ext cx="2148840" cy="566928"/>
          </a:xfrm>
          <a:prstGeom prst="rect">
            <a:avLst/>
          </a:prstGeom>
          <a:solidFill>
            <a:srgbClr val="F8FAFC"/>
          </a:solidFill>
          <a:ln w="6350">
            <a:solidFill>
              <a:srgbClr val="CBD5E1"/>
            </a:solidFill>
            <a:prstDash val="solid"/>
          </a:ln>
        </p:spPr>
      </p:sp>
      <p:sp>
        <p:nvSpPr>
          <p:cNvPr id="30" name="Text 28"/>
          <p:cNvSpPr/>
          <p:nvPr/>
        </p:nvSpPr>
        <p:spPr>
          <a:xfrm>
            <a:off x="4855464" y="2651760"/>
            <a:ext cx="203911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plan</a:t>
            </a:r>
            <a:endParaRPr lang="en-US" sz="820" dirty="0"/>
          </a:p>
        </p:txBody>
      </p:sp>
      <p:sp>
        <p:nvSpPr>
          <p:cNvPr id="31" name="Shape 29"/>
          <p:cNvSpPr/>
          <p:nvPr/>
        </p:nvSpPr>
        <p:spPr>
          <a:xfrm>
            <a:off x="6949440" y="2532888"/>
            <a:ext cx="2148840" cy="566928"/>
          </a:xfrm>
          <a:prstGeom prst="rect">
            <a:avLst/>
          </a:prstGeom>
          <a:solidFill>
            <a:srgbClr val="F8FAFC"/>
          </a:solidFill>
          <a:ln w="6350">
            <a:solidFill>
              <a:srgbClr val="CBD5E1"/>
            </a:solidFill>
            <a:prstDash val="solid"/>
          </a:ln>
        </p:spPr>
      </p:sp>
      <p:sp>
        <p:nvSpPr>
          <p:cNvPr id="32" name="Text 30"/>
          <p:cNvSpPr/>
          <p:nvPr/>
        </p:nvSpPr>
        <p:spPr>
          <a:xfrm>
            <a:off x="7004304" y="2651760"/>
            <a:ext cx="203911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propose design artifacts</a:t>
            </a:r>
            <a:endParaRPr lang="en-US" sz="820" dirty="0"/>
          </a:p>
        </p:txBody>
      </p:sp>
      <p:sp>
        <p:nvSpPr>
          <p:cNvPr id="33" name="Shape 31"/>
          <p:cNvSpPr/>
          <p:nvPr/>
        </p:nvSpPr>
        <p:spPr>
          <a:xfrm>
            <a:off x="9098280" y="2532888"/>
            <a:ext cx="1874520" cy="566928"/>
          </a:xfrm>
          <a:prstGeom prst="rect">
            <a:avLst/>
          </a:prstGeom>
          <a:solidFill>
            <a:srgbClr val="F8FAFC"/>
          </a:solidFill>
          <a:ln w="6350">
            <a:solidFill>
              <a:srgbClr val="CBD5E1"/>
            </a:solidFill>
            <a:prstDash val="solid"/>
          </a:ln>
        </p:spPr>
      </p:sp>
      <p:sp>
        <p:nvSpPr>
          <p:cNvPr id="34" name="Text 32"/>
          <p:cNvSpPr/>
          <p:nvPr/>
        </p:nvSpPr>
        <p:spPr>
          <a:xfrm>
            <a:off x="9153144" y="2651760"/>
            <a:ext cx="176479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Plan</a:t>
            </a:r>
            <a:endParaRPr lang="en-US" sz="820" dirty="0"/>
          </a:p>
        </p:txBody>
      </p:sp>
      <p:sp>
        <p:nvSpPr>
          <p:cNvPr id="35" name="Shape 33"/>
          <p:cNvSpPr/>
          <p:nvPr/>
        </p:nvSpPr>
        <p:spPr>
          <a:xfrm>
            <a:off x="502920" y="3099816"/>
            <a:ext cx="2240280" cy="566928"/>
          </a:xfrm>
          <a:prstGeom prst="rect">
            <a:avLst/>
          </a:prstGeom>
          <a:solidFill>
            <a:srgbClr val="FFFFFF"/>
          </a:solidFill>
          <a:ln w="6350">
            <a:solidFill>
              <a:srgbClr val="CBD5E1"/>
            </a:solidFill>
            <a:prstDash val="solid"/>
          </a:ln>
        </p:spPr>
      </p:sp>
      <p:sp>
        <p:nvSpPr>
          <p:cNvPr id="36" name="Text 34"/>
          <p:cNvSpPr/>
          <p:nvPr/>
        </p:nvSpPr>
        <p:spPr>
          <a:xfrm>
            <a:off x="557784" y="3218688"/>
            <a:ext cx="213055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Decompose</a:t>
            </a:r>
            <a:endParaRPr lang="en-US" sz="820" dirty="0"/>
          </a:p>
        </p:txBody>
      </p:sp>
      <p:sp>
        <p:nvSpPr>
          <p:cNvPr id="37" name="Shape 35"/>
          <p:cNvSpPr/>
          <p:nvPr/>
        </p:nvSpPr>
        <p:spPr>
          <a:xfrm>
            <a:off x="2743200" y="3099816"/>
            <a:ext cx="2057400" cy="566928"/>
          </a:xfrm>
          <a:prstGeom prst="rect">
            <a:avLst/>
          </a:prstGeom>
          <a:solidFill>
            <a:srgbClr val="FFFFFF"/>
          </a:solidFill>
          <a:ln w="6350">
            <a:solidFill>
              <a:srgbClr val="CBD5E1"/>
            </a:solidFill>
            <a:prstDash val="solid"/>
          </a:ln>
        </p:spPr>
      </p:sp>
      <p:sp>
        <p:nvSpPr>
          <p:cNvPr id="38" name="Text 36"/>
          <p:cNvSpPr/>
          <p:nvPr/>
        </p:nvSpPr>
        <p:spPr>
          <a:xfrm>
            <a:off x="2798064" y="3218688"/>
            <a:ext cx="194767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Epics &amp; stories</a:t>
            </a:r>
            <a:endParaRPr lang="en-US" sz="820" dirty="0"/>
          </a:p>
        </p:txBody>
      </p:sp>
      <p:sp>
        <p:nvSpPr>
          <p:cNvPr id="39" name="Shape 37"/>
          <p:cNvSpPr/>
          <p:nvPr/>
        </p:nvSpPr>
        <p:spPr>
          <a:xfrm>
            <a:off x="4800600" y="3099816"/>
            <a:ext cx="2148840" cy="566928"/>
          </a:xfrm>
          <a:prstGeom prst="rect">
            <a:avLst/>
          </a:prstGeom>
          <a:solidFill>
            <a:srgbClr val="FFFFFF"/>
          </a:solidFill>
          <a:ln w="6350">
            <a:solidFill>
              <a:srgbClr val="CBD5E1"/>
            </a:solidFill>
            <a:prstDash val="solid"/>
          </a:ln>
        </p:spPr>
      </p:sp>
      <p:sp>
        <p:nvSpPr>
          <p:cNvPr id="40" name="Text 38"/>
          <p:cNvSpPr/>
          <p:nvPr/>
        </p:nvSpPr>
        <p:spPr>
          <a:xfrm>
            <a:off x="4855464" y="3218688"/>
            <a:ext cx="203911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tasks</a:t>
            </a:r>
            <a:endParaRPr lang="en-US" sz="820" dirty="0"/>
          </a:p>
        </p:txBody>
      </p:sp>
      <p:sp>
        <p:nvSpPr>
          <p:cNvPr id="41" name="Shape 39"/>
          <p:cNvSpPr/>
          <p:nvPr/>
        </p:nvSpPr>
        <p:spPr>
          <a:xfrm>
            <a:off x="6949440" y="3099816"/>
            <a:ext cx="2148840" cy="566928"/>
          </a:xfrm>
          <a:prstGeom prst="rect">
            <a:avLst/>
          </a:prstGeom>
          <a:solidFill>
            <a:srgbClr val="FFFFFF"/>
          </a:solidFill>
          <a:ln w="6350">
            <a:solidFill>
              <a:srgbClr val="CBD5E1"/>
            </a:solidFill>
            <a:prstDash val="solid"/>
          </a:ln>
        </p:spPr>
      </p:sp>
      <p:sp>
        <p:nvSpPr>
          <p:cNvPr id="42" name="Text 40"/>
          <p:cNvSpPr/>
          <p:nvPr/>
        </p:nvSpPr>
        <p:spPr>
          <a:xfrm>
            <a:off x="7004304" y="3218688"/>
            <a:ext cx="203911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propose tasks</a:t>
            </a:r>
            <a:endParaRPr lang="en-US" sz="820" dirty="0"/>
          </a:p>
        </p:txBody>
      </p:sp>
      <p:sp>
        <p:nvSpPr>
          <p:cNvPr id="43" name="Shape 41"/>
          <p:cNvSpPr/>
          <p:nvPr/>
        </p:nvSpPr>
        <p:spPr>
          <a:xfrm>
            <a:off x="9098280" y="3099816"/>
            <a:ext cx="1874520" cy="566928"/>
          </a:xfrm>
          <a:prstGeom prst="rect">
            <a:avLst/>
          </a:prstGeom>
          <a:solidFill>
            <a:srgbClr val="FFFFFF"/>
          </a:solidFill>
          <a:ln w="6350">
            <a:solidFill>
              <a:srgbClr val="CBD5E1"/>
            </a:solidFill>
            <a:prstDash val="solid"/>
          </a:ln>
        </p:spPr>
      </p:sp>
      <p:sp>
        <p:nvSpPr>
          <p:cNvPr id="44" name="Text 42"/>
          <p:cNvSpPr/>
          <p:nvPr/>
        </p:nvSpPr>
        <p:spPr>
          <a:xfrm>
            <a:off x="9153144" y="3218688"/>
            <a:ext cx="176479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Waves / tasks</a:t>
            </a:r>
            <a:endParaRPr lang="en-US" sz="820" dirty="0"/>
          </a:p>
        </p:txBody>
      </p:sp>
      <p:sp>
        <p:nvSpPr>
          <p:cNvPr id="45" name="Shape 43"/>
          <p:cNvSpPr/>
          <p:nvPr/>
        </p:nvSpPr>
        <p:spPr>
          <a:xfrm>
            <a:off x="502920" y="3666744"/>
            <a:ext cx="2240280" cy="566928"/>
          </a:xfrm>
          <a:prstGeom prst="rect">
            <a:avLst/>
          </a:prstGeom>
          <a:solidFill>
            <a:srgbClr val="F8FAFC"/>
          </a:solidFill>
          <a:ln w="6350">
            <a:solidFill>
              <a:srgbClr val="CBD5E1"/>
            </a:solidFill>
            <a:prstDash val="solid"/>
          </a:ln>
        </p:spPr>
      </p:sp>
      <p:sp>
        <p:nvSpPr>
          <p:cNvPr id="46" name="Text 44"/>
          <p:cNvSpPr/>
          <p:nvPr/>
        </p:nvSpPr>
        <p:spPr>
          <a:xfrm>
            <a:off x="557784" y="3785616"/>
            <a:ext cx="213055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Implement</a:t>
            </a:r>
            <a:endParaRPr lang="en-US" sz="820" dirty="0"/>
          </a:p>
        </p:txBody>
      </p:sp>
      <p:sp>
        <p:nvSpPr>
          <p:cNvPr id="47" name="Shape 45"/>
          <p:cNvSpPr/>
          <p:nvPr/>
        </p:nvSpPr>
        <p:spPr>
          <a:xfrm>
            <a:off x="2743200" y="3666744"/>
            <a:ext cx="2057400" cy="566928"/>
          </a:xfrm>
          <a:prstGeom prst="rect">
            <a:avLst/>
          </a:prstGeom>
          <a:solidFill>
            <a:srgbClr val="F8FAFC"/>
          </a:solidFill>
          <a:ln w="6350">
            <a:solidFill>
              <a:srgbClr val="CBD5E1"/>
            </a:solidFill>
            <a:prstDash val="solid"/>
          </a:ln>
        </p:spPr>
      </p:sp>
      <p:sp>
        <p:nvSpPr>
          <p:cNvPr id="48" name="Text 46"/>
          <p:cNvSpPr/>
          <p:nvPr/>
        </p:nvSpPr>
        <p:spPr>
          <a:xfrm>
            <a:off x="2798064" y="3785616"/>
            <a:ext cx="194767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build / dev story</a:t>
            </a:r>
            <a:endParaRPr lang="en-US" sz="820" dirty="0"/>
          </a:p>
        </p:txBody>
      </p:sp>
      <p:sp>
        <p:nvSpPr>
          <p:cNvPr id="49" name="Shape 47"/>
          <p:cNvSpPr/>
          <p:nvPr/>
        </p:nvSpPr>
        <p:spPr>
          <a:xfrm>
            <a:off x="4800600" y="3666744"/>
            <a:ext cx="2148840" cy="566928"/>
          </a:xfrm>
          <a:prstGeom prst="rect">
            <a:avLst/>
          </a:prstGeom>
          <a:solidFill>
            <a:srgbClr val="F8FAFC"/>
          </a:solidFill>
          <a:ln w="6350">
            <a:solidFill>
              <a:srgbClr val="CBD5E1"/>
            </a:solidFill>
            <a:prstDash val="solid"/>
          </a:ln>
        </p:spPr>
      </p:sp>
      <p:sp>
        <p:nvSpPr>
          <p:cNvPr id="50" name="Text 48"/>
          <p:cNvSpPr/>
          <p:nvPr/>
        </p:nvSpPr>
        <p:spPr>
          <a:xfrm>
            <a:off x="4855464" y="3785616"/>
            <a:ext cx="203911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implement</a:t>
            </a:r>
            <a:endParaRPr lang="en-US" sz="820" dirty="0"/>
          </a:p>
        </p:txBody>
      </p:sp>
      <p:sp>
        <p:nvSpPr>
          <p:cNvPr id="51" name="Shape 49"/>
          <p:cNvSpPr/>
          <p:nvPr/>
        </p:nvSpPr>
        <p:spPr>
          <a:xfrm>
            <a:off x="6949440" y="3666744"/>
            <a:ext cx="2148840" cy="566928"/>
          </a:xfrm>
          <a:prstGeom prst="rect">
            <a:avLst/>
          </a:prstGeom>
          <a:solidFill>
            <a:srgbClr val="F8FAFC"/>
          </a:solidFill>
          <a:ln w="6350">
            <a:solidFill>
              <a:srgbClr val="CBD5E1"/>
            </a:solidFill>
            <a:prstDash val="solid"/>
          </a:ln>
        </p:spPr>
      </p:sp>
      <p:sp>
        <p:nvSpPr>
          <p:cNvPr id="52" name="Text 50"/>
          <p:cNvSpPr/>
          <p:nvPr/>
        </p:nvSpPr>
        <p:spPr>
          <a:xfrm>
            <a:off x="7004304" y="3785616"/>
            <a:ext cx="203911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apply</a:t>
            </a:r>
            <a:endParaRPr lang="en-US" sz="820" dirty="0"/>
          </a:p>
        </p:txBody>
      </p:sp>
      <p:sp>
        <p:nvSpPr>
          <p:cNvPr id="53" name="Shape 51"/>
          <p:cNvSpPr/>
          <p:nvPr/>
        </p:nvSpPr>
        <p:spPr>
          <a:xfrm>
            <a:off x="9098280" y="3666744"/>
            <a:ext cx="1874520" cy="566928"/>
          </a:xfrm>
          <a:prstGeom prst="rect">
            <a:avLst/>
          </a:prstGeom>
          <a:solidFill>
            <a:srgbClr val="F8FAFC"/>
          </a:solidFill>
          <a:ln w="6350">
            <a:solidFill>
              <a:srgbClr val="CBD5E1"/>
            </a:solidFill>
            <a:prstDash val="solid"/>
          </a:ln>
        </p:spPr>
      </p:sp>
      <p:sp>
        <p:nvSpPr>
          <p:cNvPr id="54" name="Text 52"/>
          <p:cNvSpPr/>
          <p:nvPr/>
        </p:nvSpPr>
        <p:spPr>
          <a:xfrm>
            <a:off x="9153144" y="3785616"/>
            <a:ext cx="176479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Execute</a:t>
            </a:r>
            <a:endParaRPr lang="en-US" sz="820" dirty="0"/>
          </a:p>
        </p:txBody>
      </p:sp>
      <p:sp>
        <p:nvSpPr>
          <p:cNvPr id="55" name="Shape 53"/>
          <p:cNvSpPr/>
          <p:nvPr/>
        </p:nvSpPr>
        <p:spPr>
          <a:xfrm>
            <a:off x="502920" y="4233672"/>
            <a:ext cx="2240280" cy="566928"/>
          </a:xfrm>
          <a:prstGeom prst="rect">
            <a:avLst/>
          </a:prstGeom>
          <a:solidFill>
            <a:srgbClr val="FFFFFF"/>
          </a:solidFill>
          <a:ln w="6350">
            <a:solidFill>
              <a:srgbClr val="CBD5E1"/>
            </a:solidFill>
            <a:prstDash val="solid"/>
          </a:ln>
        </p:spPr>
      </p:sp>
      <p:sp>
        <p:nvSpPr>
          <p:cNvPr id="56" name="Text 54"/>
          <p:cNvSpPr/>
          <p:nvPr/>
        </p:nvSpPr>
        <p:spPr>
          <a:xfrm>
            <a:off x="557784" y="4352544"/>
            <a:ext cx="213055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Verify / evolve</a:t>
            </a:r>
            <a:endParaRPr lang="en-US" sz="820" dirty="0"/>
          </a:p>
        </p:txBody>
      </p:sp>
      <p:sp>
        <p:nvSpPr>
          <p:cNvPr id="57" name="Shape 55"/>
          <p:cNvSpPr/>
          <p:nvPr/>
        </p:nvSpPr>
        <p:spPr>
          <a:xfrm>
            <a:off x="2743200" y="4233672"/>
            <a:ext cx="2057400" cy="566928"/>
          </a:xfrm>
          <a:prstGeom prst="rect">
            <a:avLst/>
          </a:prstGeom>
          <a:solidFill>
            <a:srgbClr val="FFFFFF"/>
          </a:solidFill>
          <a:ln w="6350">
            <a:solidFill>
              <a:srgbClr val="CBD5E1"/>
            </a:solidFill>
            <a:prstDash val="solid"/>
          </a:ln>
        </p:spPr>
      </p:sp>
      <p:sp>
        <p:nvSpPr>
          <p:cNvPr id="58" name="Text 56"/>
          <p:cNvSpPr/>
          <p:nvPr/>
        </p:nvSpPr>
        <p:spPr>
          <a:xfrm>
            <a:off x="2798064" y="4352544"/>
            <a:ext cx="194767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review, correct-course</a:t>
            </a:r>
            <a:endParaRPr lang="en-US" sz="820" dirty="0"/>
          </a:p>
        </p:txBody>
      </p:sp>
      <p:sp>
        <p:nvSpPr>
          <p:cNvPr id="59" name="Shape 57"/>
          <p:cNvSpPr/>
          <p:nvPr/>
        </p:nvSpPr>
        <p:spPr>
          <a:xfrm>
            <a:off x="4800600" y="4233672"/>
            <a:ext cx="2148840" cy="566928"/>
          </a:xfrm>
          <a:prstGeom prst="rect">
            <a:avLst/>
          </a:prstGeom>
          <a:solidFill>
            <a:srgbClr val="FFFFFF"/>
          </a:solidFill>
          <a:ln w="6350">
            <a:solidFill>
              <a:srgbClr val="CBD5E1"/>
            </a:solidFill>
            <a:prstDash val="solid"/>
          </a:ln>
        </p:spPr>
      </p:sp>
      <p:sp>
        <p:nvSpPr>
          <p:cNvPr id="60" name="Text 58"/>
          <p:cNvSpPr/>
          <p:nvPr/>
        </p:nvSpPr>
        <p:spPr>
          <a:xfrm>
            <a:off x="4855464" y="4352544"/>
            <a:ext cx="203911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analyze, converge</a:t>
            </a:r>
            <a:endParaRPr lang="en-US" sz="820" dirty="0"/>
          </a:p>
        </p:txBody>
      </p:sp>
      <p:sp>
        <p:nvSpPr>
          <p:cNvPr id="61" name="Shape 59"/>
          <p:cNvSpPr/>
          <p:nvPr/>
        </p:nvSpPr>
        <p:spPr>
          <a:xfrm>
            <a:off x="6949440" y="4233672"/>
            <a:ext cx="2148840" cy="566928"/>
          </a:xfrm>
          <a:prstGeom prst="rect">
            <a:avLst/>
          </a:prstGeom>
          <a:solidFill>
            <a:srgbClr val="FFFFFF"/>
          </a:solidFill>
          <a:ln w="6350">
            <a:solidFill>
              <a:srgbClr val="CBD5E1"/>
            </a:solidFill>
            <a:prstDash val="solid"/>
          </a:ln>
        </p:spPr>
      </p:sp>
      <p:sp>
        <p:nvSpPr>
          <p:cNvPr id="62" name="Text 60"/>
          <p:cNvSpPr/>
          <p:nvPr/>
        </p:nvSpPr>
        <p:spPr>
          <a:xfrm>
            <a:off x="7004304" y="4352544"/>
            <a:ext cx="203911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verify, sync, archive</a:t>
            </a:r>
            <a:endParaRPr lang="en-US" sz="820" dirty="0"/>
          </a:p>
        </p:txBody>
      </p:sp>
      <p:sp>
        <p:nvSpPr>
          <p:cNvPr id="63" name="Shape 61"/>
          <p:cNvSpPr/>
          <p:nvPr/>
        </p:nvSpPr>
        <p:spPr>
          <a:xfrm>
            <a:off x="9098280" y="4233672"/>
            <a:ext cx="1874520" cy="566928"/>
          </a:xfrm>
          <a:prstGeom prst="rect">
            <a:avLst/>
          </a:prstGeom>
          <a:solidFill>
            <a:srgbClr val="FFFFFF"/>
          </a:solidFill>
          <a:ln w="6350">
            <a:solidFill>
              <a:srgbClr val="CBD5E1"/>
            </a:solidFill>
            <a:prstDash val="solid"/>
          </a:ln>
        </p:spPr>
      </p:sp>
      <p:sp>
        <p:nvSpPr>
          <p:cNvPr id="64" name="Text 62"/>
          <p:cNvSpPr/>
          <p:nvPr/>
        </p:nvSpPr>
        <p:spPr>
          <a:xfrm>
            <a:off x="9153144" y="4352544"/>
            <a:ext cx="1764792" cy="256032"/>
          </a:xfrm>
          <a:prstGeom prst="rect">
            <a:avLst/>
          </a:prstGeom>
          <a:noFill/>
          <a:ln/>
        </p:spPr>
        <p:txBody>
          <a:bodyPr wrap="square" lIns="0" tIns="0" rIns="0" bIns="0" rtlCol="0" anchor="ctr">
            <a:normAutofit/>
          </a:bodyPr>
          <a:lstStyle/>
          <a:p>
            <a:pPr algn="ctr" indent="0" marL="0">
              <a:buNone/>
            </a:pPr>
            <a:r>
              <a:rPr lang="en-US" sz="820" dirty="0">
                <a:solidFill>
                  <a:srgbClr val="111827"/>
                </a:solidFill>
              </a:rPr>
              <a:t>Verify, ship</a:t>
            </a:r>
            <a:endParaRPr lang="en-US" sz="820" dirty="0"/>
          </a:p>
        </p:txBody>
      </p:sp>
      <p:sp>
        <p:nvSpPr>
          <p:cNvPr id="65" name="Text 63"/>
          <p:cNvSpPr/>
          <p:nvPr/>
        </p:nvSpPr>
        <p:spPr>
          <a:xfrm>
            <a:off x="777240" y="5440680"/>
            <a:ext cx="10424160" cy="320040"/>
          </a:xfrm>
          <a:prstGeom prst="rect">
            <a:avLst/>
          </a:prstGeom>
          <a:noFill/>
          <a:ln/>
        </p:spPr>
        <p:txBody>
          <a:bodyPr wrap="square" lIns="635" tIns="635" rIns="635" bIns="635" rtlCol="0" anchor="t">
            <a:normAutofit/>
          </a:bodyPr>
          <a:lstStyle/>
          <a:p>
            <a:pPr indent="0" marL="0">
              <a:buNone/>
            </a:pPr>
            <a:r>
              <a:rPr lang="en-US" sz="1500" dirty="0">
                <a:solidFill>
                  <a:srgbClr val="64748B"/>
                </a:solidFill>
              </a:rPr>
              <a:t>Commands evolve quickly. Use this as a mental model, not as vendor classification.</a:t>
            </a:r>
            <a:endParaRPr lang="en-US" sz="1500" dirty="0"/>
          </a:p>
        </p:txBody>
      </p:sp>
      <p:sp>
        <p:nvSpPr>
          <p:cNvPr id="66" name="Text 64"/>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13</a:t>
            </a:r>
            <a:endParaRPr lang="en-US" sz="800" dirty="0"/>
          </a:p>
        </p:txBody>
      </p:sp>
      <p:sp>
        <p:nvSpPr>
          <p:cNvPr id="67" name="Text 65"/>
          <p:cNvSpPr/>
          <p:nvPr/>
        </p:nvSpPr>
        <p:spPr>
          <a:xfrm>
            <a:off x="502920" y="6437376"/>
            <a:ext cx="8412480" cy="164592"/>
          </a:xfrm>
          <a:prstGeom prst="rect">
            <a:avLst/>
          </a:prstGeom>
          <a:noFill/>
          <a:ln/>
        </p:spPr>
        <p:txBody>
          <a:bodyPr wrap="square" lIns="0" tIns="0" rIns="0" bIns="0" rtlCol="0" anchor="ctr"/>
          <a:lstStyle/>
          <a:p>
            <a:pPr indent="0" marL="0">
              <a:buNone/>
            </a:pPr>
            <a:r>
              <a:rPr lang="en-US" sz="650" dirty="0">
                <a:solidFill>
                  <a:srgbClr val="94A3B8"/>
                </a:solidFill>
              </a:rPr>
              <a:t>Sources: Spec Kit docs, BMAD workflow map, OpenSpec docs, GSD docs</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Evaluate tools on axes, not opinions</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Do not label a framework “good” or “bad” in isolation. Ask what trade-off it makes.</a:t>
            </a:r>
            <a:endParaRPr lang="en-US" sz="1400" dirty="0"/>
          </a:p>
        </p:txBody>
      </p:sp>
      <p:sp>
        <p:nvSpPr>
          <p:cNvPr id="5" name="Shape 3"/>
          <p:cNvSpPr/>
          <p:nvPr/>
        </p:nvSpPr>
        <p:spPr>
          <a:xfrm>
            <a:off x="2971800" y="1682496"/>
            <a:ext cx="6766560" cy="0"/>
          </a:xfrm>
          <a:prstGeom prst="line">
            <a:avLst/>
          </a:prstGeom>
          <a:noFill/>
          <a:ln w="38100">
            <a:solidFill>
              <a:srgbClr val="CBD5E1"/>
            </a:solidFill>
            <a:prstDash val="solid"/>
          </a:ln>
        </p:spPr>
      </p:sp>
      <p:sp>
        <p:nvSpPr>
          <p:cNvPr id="6" name="Shape 4"/>
          <p:cNvSpPr/>
          <p:nvPr/>
        </p:nvSpPr>
        <p:spPr>
          <a:xfrm>
            <a:off x="6126480" y="1554480"/>
            <a:ext cx="256032" cy="256032"/>
          </a:xfrm>
          <a:prstGeom prst="ellipse">
            <a:avLst/>
          </a:prstGeom>
          <a:solidFill>
            <a:srgbClr val="F97316"/>
          </a:solidFill>
          <a:ln w="12700">
            <a:solidFill>
              <a:srgbClr val="F97316"/>
            </a:solidFill>
            <a:prstDash val="solid"/>
          </a:ln>
        </p:spPr>
      </p:sp>
      <p:sp>
        <p:nvSpPr>
          <p:cNvPr id="7" name="Text 5"/>
          <p:cNvSpPr/>
          <p:nvPr/>
        </p:nvSpPr>
        <p:spPr>
          <a:xfrm>
            <a:off x="777240" y="1481328"/>
            <a:ext cx="2011680" cy="320040"/>
          </a:xfrm>
          <a:prstGeom prst="rect">
            <a:avLst/>
          </a:prstGeom>
          <a:noFill/>
          <a:ln/>
        </p:spPr>
        <p:txBody>
          <a:bodyPr wrap="square" lIns="0" tIns="0" rIns="0" bIns="0" rtlCol="0" anchor="ctr"/>
          <a:lstStyle/>
          <a:p>
            <a:pPr indent="0" marL="0">
              <a:buNone/>
            </a:pPr>
            <a:r>
              <a:rPr lang="en-US" sz="1600" b="1" dirty="0">
                <a:solidFill>
                  <a:srgbClr val="111827"/>
                </a:solidFill>
              </a:rPr>
              <a:t>Sync tightness</a:t>
            </a:r>
            <a:endParaRPr lang="en-US" sz="1600" dirty="0"/>
          </a:p>
        </p:txBody>
      </p:sp>
      <p:sp>
        <p:nvSpPr>
          <p:cNvPr id="8" name="Text 6"/>
          <p:cNvSpPr/>
          <p:nvPr/>
        </p:nvSpPr>
        <p:spPr>
          <a:xfrm>
            <a:off x="10012680" y="1463040"/>
            <a:ext cx="1554480" cy="365760"/>
          </a:xfrm>
          <a:prstGeom prst="rect">
            <a:avLst/>
          </a:prstGeom>
          <a:noFill/>
          <a:ln/>
        </p:spPr>
        <p:txBody>
          <a:bodyPr wrap="square" lIns="0" tIns="0" rIns="0" bIns="0" rtlCol="0" anchor="ctr">
            <a:normAutofit/>
          </a:bodyPr>
          <a:lstStyle/>
          <a:p>
            <a:pPr indent="0" marL="0">
              <a:buNone/>
            </a:pPr>
            <a:r>
              <a:rPr lang="en-US" sz="980" dirty="0">
                <a:solidFill>
                  <a:srgbClr val="64748B"/>
                </a:solidFill>
              </a:rPr>
              <a:t>How strictly do spec and code stay honest?</a:t>
            </a:r>
            <a:endParaRPr lang="en-US" sz="980" dirty="0"/>
          </a:p>
        </p:txBody>
      </p:sp>
      <p:sp>
        <p:nvSpPr>
          <p:cNvPr id="9" name="Shape 7"/>
          <p:cNvSpPr/>
          <p:nvPr/>
        </p:nvSpPr>
        <p:spPr>
          <a:xfrm>
            <a:off x="2971800" y="2505456"/>
            <a:ext cx="6766560" cy="0"/>
          </a:xfrm>
          <a:prstGeom prst="line">
            <a:avLst/>
          </a:prstGeom>
          <a:noFill/>
          <a:ln w="38100">
            <a:solidFill>
              <a:srgbClr val="CBD5E1"/>
            </a:solidFill>
            <a:prstDash val="solid"/>
          </a:ln>
        </p:spPr>
      </p:sp>
      <p:sp>
        <p:nvSpPr>
          <p:cNvPr id="10" name="Shape 8"/>
          <p:cNvSpPr/>
          <p:nvPr/>
        </p:nvSpPr>
        <p:spPr>
          <a:xfrm>
            <a:off x="6126480" y="2377440"/>
            <a:ext cx="256032" cy="256032"/>
          </a:xfrm>
          <a:prstGeom prst="ellipse">
            <a:avLst/>
          </a:prstGeom>
          <a:solidFill>
            <a:srgbClr val="F97316"/>
          </a:solidFill>
          <a:ln w="12700">
            <a:solidFill>
              <a:srgbClr val="F97316"/>
            </a:solidFill>
            <a:prstDash val="solid"/>
          </a:ln>
        </p:spPr>
      </p:sp>
      <p:sp>
        <p:nvSpPr>
          <p:cNvPr id="11" name="Text 9"/>
          <p:cNvSpPr/>
          <p:nvPr/>
        </p:nvSpPr>
        <p:spPr>
          <a:xfrm>
            <a:off x="777240" y="2304288"/>
            <a:ext cx="2011680" cy="320040"/>
          </a:xfrm>
          <a:prstGeom prst="rect">
            <a:avLst/>
          </a:prstGeom>
          <a:noFill/>
          <a:ln/>
        </p:spPr>
        <p:txBody>
          <a:bodyPr wrap="square" lIns="0" tIns="0" rIns="0" bIns="0" rtlCol="0" anchor="ctr"/>
          <a:lstStyle/>
          <a:p>
            <a:pPr indent="0" marL="0">
              <a:buNone/>
            </a:pPr>
            <a:r>
              <a:rPr lang="en-US" sz="1600" b="1" dirty="0">
                <a:solidFill>
                  <a:srgbClr val="111827"/>
                </a:solidFill>
              </a:rPr>
              <a:t>Process weight</a:t>
            </a:r>
            <a:endParaRPr lang="en-US" sz="1600" dirty="0"/>
          </a:p>
        </p:txBody>
      </p:sp>
      <p:sp>
        <p:nvSpPr>
          <p:cNvPr id="12" name="Text 10"/>
          <p:cNvSpPr/>
          <p:nvPr/>
        </p:nvSpPr>
        <p:spPr>
          <a:xfrm>
            <a:off x="10012680" y="2286000"/>
            <a:ext cx="1554480" cy="365760"/>
          </a:xfrm>
          <a:prstGeom prst="rect">
            <a:avLst/>
          </a:prstGeom>
          <a:noFill/>
          <a:ln/>
        </p:spPr>
        <p:txBody>
          <a:bodyPr wrap="square" lIns="0" tIns="0" rIns="0" bIns="0" rtlCol="0" anchor="ctr">
            <a:normAutofit/>
          </a:bodyPr>
          <a:lstStyle/>
          <a:p>
            <a:pPr indent="0" marL="0">
              <a:buNone/>
            </a:pPr>
            <a:r>
              <a:rPr lang="en-US" sz="980" dirty="0">
                <a:solidFill>
                  <a:srgbClr val="64748B"/>
                </a:solidFill>
              </a:rPr>
              <a:t>How much artifact and ceremony must humans review?</a:t>
            </a:r>
            <a:endParaRPr lang="en-US" sz="980" dirty="0"/>
          </a:p>
        </p:txBody>
      </p:sp>
      <p:sp>
        <p:nvSpPr>
          <p:cNvPr id="13" name="Shape 11"/>
          <p:cNvSpPr/>
          <p:nvPr/>
        </p:nvSpPr>
        <p:spPr>
          <a:xfrm>
            <a:off x="2971800" y="3328416"/>
            <a:ext cx="6766560" cy="0"/>
          </a:xfrm>
          <a:prstGeom prst="line">
            <a:avLst/>
          </a:prstGeom>
          <a:noFill/>
          <a:ln w="38100">
            <a:solidFill>
              <a:srgbClr val="CBD5E1"/>
            </a:solidFill>
            <a:prstDash val="solid"/>
          </a:ln>
        </p:spPr>
      </p:sp>
      <p:sp>
        <p:nvSpPr>
          <p:cNvPr id="14" name="Shape 12"/>
          <p:cNvSpPr/>
          <p:nvPr/>
        </p:nvSpPr>
        <p:spPr>
          <a:xfrm>
            <a:off x="6126480" y="3200400"/>
            <a:ext cx="256032" cy="256032"/>
          </a:xfrm>
          <a:prstGeom prst="ellipse">
            <a:avLst/>
          </a:prstGeom>
          <a:solidFill>
            <a:srgbClr val="F97316"/>
          </a:solidFill>
          <a:ln w="12700">
            <a:solidFill>
              <a:srgbClr val="F97316"/>
            </a:solidFill>
            <a:prstDash val="solid"/>
          </a:ln>
        </p:spPr>
      </p:sp>
      <p:sp>
        <p:nvSpPr>
          <p:cNvPr id="15" name="Text 13"/>
          <p:cNvSpPr/>
          <p:nvPr/>
        </p:nvSpPr>
        <p:spPr>
          <a:xfrm>
            <a:off x="777240" y="3127248"/>
            <a:ext cx="2011680" cy="320040"/>
          </a:xfrm>
          <a:prstGeom prst="rect">
            <a:avLst/>
          </a:prstGeom>
          <a:noFill/>
          <a:ln/>
        </p:spPr>
        <p:txBody>
          <a:bodyPr wrap="square" lIns="0" tIns="0" rIns="0" bIns="0" rtlCol="0" anchor="ctr"/>
          <a:lstStyle/>
          <a:p>
            <a:pPr indent="0" marL="0">
              <a:buNone/>
            </a:pPr>
            <a:r>
              <a:rPr lang="en-US" sz="1600" b="1" dirty="0">
                <a:solidFill>
                  <a:srgbClr val="111827"/>
                </a:solidFill>
              </a:rPr>
              <a:t>Verification depth</a:t>
            </a:r>
            <a:endParaRPr lang="en-US" sz="1600" dirty="0"/>
          </a:p>
        </p:txBody>
      </p:sp>
      <p:sp>
        <p:nvSpPr>
          <p:cNvPr id="16" name="Text 14"/>
          <p:cNvSpPr/>
          <p:nvPr/>
        </p:nvSpPr>
        <p:spPr>
          <a:xfrm>
            <a:off x="10012680" y="3108960"/>
            <a:ext cx="1554480" cy="365760"/>
          </a:xfrm>
          <a:prstGeom prst="rect">
            <a:avLst/>
          </a:prstGeom>
          <a:noFill/>
          <a:ln/>
        </p:spPr>
        <p:txBody>
          <a:bodyPr wrap="square" lIns="0" tIns="0" rIns="0" bIns="0" rtlCol="0" anchor="ctr">
            <a:normAutofit/>
          </a:bodyPr>
          <a:lstStyle/>
          <a:p>
            <a:pPr indent="0" marL="0">
              <a:buNone/>
            </a:pPr>
            <a:r>
              <a:rPr lang="en-US" sz="980" dirty="0">
                <a:solidFill>
                  <a:srgbClr val="64748B"/>
                </a:solidFill>
              </a:rPr>
              <a:t>Is checking advisory, automated, or enforced?</a:t>
            </a:r>
            <a:endParaRPr lang="en-US" sz="980" dirty="0"/>
          </a:p>
        </p:txBody>
      </p:sp>
      <p:sp>
        <p:nvSpPr>
          <p:cNvPr id="17" name="Shape 15"/>
          <p:cNvSpPr/>
          <p:nvPr/>
        </p:nvSpPr>
        <p:spPr>
          <a:xfrm>
            <a:off x="2971800" y="4151376"/>
            <a:ext cx="6766560" cy="0"/>
          </a:xfrm>
          <a:prstGeom prst="line">
            <a:avLst/>
          </a:prstGeom>
          <a:noFill/>
          <a:ln w="38100">
            <a:solidFill>
              <a:srgbClr val="CBD5E1"/>
            </a:solidFill>
            <a:prstDash val="solid"/>
          </a:ln>
        </p:spPr>
      </p:sp>
      <p:sp>
        <p:nvSpPr>
          <p:cNvPr id="18" name="Shape 16"/>
          <p:cNvSpPr/>
          <p:nvPr/>
        </p:nvSpPr>
        <p:spPr>
          <a:xfrm>
            <a:off x="6126480" y="4023360"/>
            <a:ext cx="256032" cy="256032"/>
          </a:xfrm>
          <a:prstGeom prst="ellipse">
            <a:avLst/>
          </a:prstGeom>
          <a:solidFill>
            <a:srgbClr val="F97316"/>
          </a:solidFill>
          <a:ln w="12700">
            <a:solidFill>
              <a:srgbClr val="F97316"/>
            </a:solidFill>
            <a:prstDash val="solid"/>
          </a:ln>
        </p:spPr>
      </p:sp>
      <p:sp>
        <p:nvSpPr>
          <p:cNvPr id="19" name="Text 17"/>
          <p:cNvSpPr/>
          <p:nvPr/>
        </p:nvSpPr>
        <p:spPr>
          <a:xfrm>
            <a:off x="777240" y="3950208"/>
            <a:ext cx="2011680" cy="320040"/>
          </a:xfrm>
          <a:prstGeom prst="rect">
            <a:avLst/>
          </a:prstGeom>
          <a:noFill/>
          <a:ln/>
        </p:spPr>
        <p:txBody>
          <a:bodyPr wrap="square" lIns="0" tIns="0" rIns="0" bIns="0" rtlCol="0" anchor="ctr"/>
          <a:lstStyle/>
          <a:p>
            <a:pPr indent="0" marL="0">
              <a:buNone/>
            </a:pPr>
            <a:r>
              <a:rPr lang="en-US" sz="1600" b="1" dirty="0">
                <a:solidFill>
                  <a:srgbClr val="111827"/>
                </a:solidFill>
              </a:rPr>
              <a:t>Adoption scope</a:t>
            </a:r>
            <a:endParaRPr lang="en-US" sz="1600" dirty="0"/>
          </a:p>
        </p:txBody>
      </p:sp>
      <p:sp>
        <p:nvSpPr>
          <p:cNvPr id="20" name="Text 18"/>
          <p:cNvSpPr/>
          <p:nvPr/>
        </p:nvSpPr>
        <p:spPr>
          <a:xfrm>
            <a:off x="10012680" y="3931920"/>
            <a:ext cx="1554480" cy="365760"/>
          </a:xfrm>
          <a:prstGeom prst="rect">
            <a:avLst/>
          </a:prstGeom>
          <a:noFill/>
          <a:ln/>
        </p:spPr>
        <p:txBody>
          <a:bodyPr wrap="square" lIns="0" tIns="0" rIns="0" bIns="0" rtlCol="0" anchor="ctr">
            <a:normAutofit/>
          </a:bodyPr>
          <a:lstStyle/>
          <a:p>
            <a:pPr indent="0" marL="0">
              <a:buNone/>
            </a:pPr>
            <a:r>
              <a:rPr lang="en-US" sz="980" dirty="0">
                <a:solidFill>
                  <a:srgbClr val="64748B"/>
                </a:solidFill>
              </a:rPr>
              <a:t>Feature, repository, team, or full lifecycle?</a:t>
            </a:r>
            <a:endParaRPr lang="en-US" sz="980" dirty="0"/>
          </a:p>
        </p:txBody>
      </p:sp>
      <p:sp>
        <p:nvSpPr>
          <p:cNvPr id="21" name="Shape 19"/>
          <p:cNvSpPr/>
          <p:nvPr/>
        </p:nvSpPr>
        <p:spPr>
          <a:xfrm>
            <a:off x="2971800" y="4974336"/>
            <a:ext cx="6766560" cy="0"/>
          </a:xfrm>
          <a:prstGeom prst="line">
            <a:avLst/>
          </a:prstGeom>
          <a:noFill/>
          <a:ln w="38100">
            <a:solidFill>
              <a:srgbClr val="CBD5E1"/>
            </a:solidFill>
            <a:prstDash val="solid"/>
          </a:ln>
        </p:spPr>
      </p:sp>
      <p:sp>
        <p:nvSpPr>
          <p:cNvPr id="22" name="Shape 20"/>
          <p:cNvSpPr/>
          <p:nvPr/>
        </p:nvSpPr>
        <p:spPr>
          <a:xfrm>
            <a:off x="6126480" y="4846320"/>
            <a:ext cx="256032" cy="256032"/>
          </a:xfrm>
          <a:prstGeom prst="ellipse">
            <a:avLst/>
          </a:prstGeom>
          <a:solidFill>
            <a:srgbClr val="F97316"/>
          </a:solidFill>
          <a:ln w="12700">
            <a:solidFill>
              <a:srgbClr val="F97316"/>
            </a:solidFill>
            <a:prstDash val="solid"/>
          </a:ln>
        </p:spPr>
      </p:sp>
      <p:sp>
        <p:nvSpPr>
          <p:cNvPr id="23" name="Text 21"/>
          <p:cNvSpPr/>
          <p:nvPr/>
        </p:nvSpPr>
        <p:spPr>
          <a:xfrm>
            <a:off x="777240" y="4773168"/>
            <a:ext cx="2011680" cy="320040"/>
          </a:xfrm>
          <a:prstGeom prst="rect">
            <a:avLst/>
          </a:prstGeom>
          <a:noFill/>
          <a:ln/>
        </p:spPr>
        <p:txBody>
          <a:bodyPr wrap="square" lIns="0" tIns="0" rIns="0" bIns="0" rtlCol="0" anchor="ctr"/>
          <a:lstStyle/>
          <a:p>
            <a:pPr indent="0" marL="0">
              <a:buNone/>
            </a:pPr>
            <a:r>
              <a:rPr lang="en-US" sz="1600" b="1" dirty="0">
                <a:solidFill>
                  <a:srgbClr val="111827"/>
                </a:solidFill>
              </a:rPr>
              <a:t>Tailoring</a:t>
            </a:r>
            <a:endParaRPr lang="en-US" sz="1600" dirty="0"/>
          </a:p>
        </p:txBody>
      </p:sp>
      <p:sp>
        <p:nvSpPr>
          <p:cNvPr id="24" name="Text 22"/>
          <p:cNvSpPr/>
          <p:nvPr/>
        </p:nvSpPr>
        <p:spPr>
          <a:xfrm>
            <a:off x="10012680" y="4754880"/>
            <a:ext cx="1554480" cy="365760"/>
          </a:xfrm>
          <a:prstGeom prst="rect">
            <a:avLst/>
          </a:prstGeom>
          <a:noFill/>
          <a:ln/>
        </p:spPr>
        <p:txBody>
          <a:bodyPr wrap="square" lIns="0" tIns="0" rIns="0" bIns="0" rtlCol="0" anchor="ctr">
            <a:normAutofit/>
          </a:bodyPr>
          <a:lstStyle/>
          <a:p>
            <a:pPr indent="0" marL="0">
              <a:buNone/>
            </a:pPr>
            <a:r>
              <a:rPr lang="en-US" sz="980" dirty="0">
                <a:solidFill>
                  <a:srgbClr val="64748B"/>
                </a:solidFill>
              </a:rPr>
              <a:t>Can it scale down for small work and scale up for risk?</a:t>
            </a:r>
            <a:endParaRPr lang="en-US" sz="980" dirty="0"/>
          </a:p>
        </p:txBody>
      </p:sp>
      <p:sp>
        <p:nvSpPr>
          <p:cNvPr id="25" name="Text 23"/>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The sync-tightness taxonomy</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Adapted from Böckeler: all SDD is spec-first, but not all SDD is spec-anchored.</a:t>
            </a:r>
            <a:endParaRPr lang="en-US" sz="1400" dirty="0"/>
          </a:p>
        </p:txBody>
      </p:sp>
      <p:sp>
        <p:nvSpPr>
          <p:cNvPr id="5" name="Shape 3"/>
          <p:cNvSpPr/>
          <p:nvPr/>
        </p:nvSpPr>
        <p:spPr>
          <a:xfrm>
            <a:off x="822960" y="1828800"/>
            <a:ext cx="3291840" cy="2103120"/>
          </a:xfrm>
          <a:prstGeom prst="roundRect">
            <a:avLst>
              <a:gd name="adj" fmla="val 3478"/>
            </a:avLst>
          </a:prstGeom>
          <a:solidFill>
            <a:srgbClr val="FFFFFF"/>
          </a:solidFill>
          <a:ln w="12700">
            <a:solidFill>
              <a:srgbClr val="CBD5E1"/>
            </a:solidFill>
            <a:prstDash val="solid"/>
          </a:ln>
        </p:spPr>
      </p:sp>
      <p:sp>
        <p:nvSpPr>
          <p:cNvPr id="6" name="Text 4"/>
          <p:cNvSpPr/>
          <p:nvPr/>
        </p:nvSpPr>
        <p:spPr>
          <a:xfrm>
            <a:off x="960120" y="1956816"/>
            <a:ext cx="3017520" cy="1847088"/>
          </a:xfrm>
          <a:prstGeom prst="rect">
            <a:avLst/>
          </a:prstGeom>
          <a:noFill/>
          <a:ln/>
        </p:spPr>
        <p:txBody>
          <a:bodyPr wrap="square" lIns="254" tIns="254" rIns="254" bIns="254" rtlCol="0" anchor="ctr">
            <a:normAutofit/>
          </a:bodyPr>
          <a:lstStyle/>
          <a:p>
            <a:pPr algn="ctr" indent="0" marL="0">
              <a:buNone/>
            </a:pPr>
            <a:r>
              <a:rPr lang="en-US" sz="1700" b="1" dirty="0">
                <a:solidFill>
                  <a:srgbClr val="111827"/>
                </a:solidFill>
              </a:rPr>
              <a:t>SPEC-FIRST</a:t>
            </a:r>
            <a:endParaRPr lang="en-US" sz="1700" dirty="0"/>
          </a:p>
          <a:p>
            <a:pPr algn="ctr" indent="0" marL="0">
              <a:buNone/>
            </a:pPr>
            <a:endParaRPr lang="en-US" sz="1700" dirty="0"/>
          </a:p>
          <a:p>
            <a:pPr algn="ctr" indent="0" marL="0">
              <a:buNone/>
            </a:pPr>
            <a:r>
              <a:rPr lang="en-US" sz="1700" b="1" dirty="0">
                <a:solidFill>
                  <a:srgbClr val="111827"/>
                </a:solidFill>
              </a:rPr>
              <a:t>Spec guides creation. Later code and spec may drift unless the team maintains it.</a:t>
            </a:r>
            <a:endParaRPr lang="en-US" sz="1700" dirty="0"/>
          </a:p>
        </p:txBody>
      </p:sp>
      <p:sp>
        <p:nvSpPr>
          <p:cNvPr id="7" name="Shape 5"/>
          <p:cNvSpPr/>
          <p:nvPr/>
        </p:nvSpPr>
        <p:spPr>
          <a:xfrm>
            <a:off x="4434840" y="1828800"/>
            <a:ext cx="3291840" cy="2103120"/>
          </a:xfrm>
          <a:prstGeom prst="roundRect">
            <a:avLst>
              <a:gd name="adj" fmla="val 3478"/>
            </a:avLst>
          </a:prstGeom>
          <a:solidFill>
            <a:srgbClr val="FFF7ED"/>
          </a:solidFill>
          <a:ln w="12700">
            <a:solidFill>
              <a:srgbClr val="FDBA74"/>
            </a:solidFill>
            <a:prstDash val="solid"/>
          </a:ln>
        </p:spPr>
      </p:sp>
      <p:sp>
        <p:nvSpPr>
          <p:cNvPr id="8" name="Text 6"/>
          <p:cNvSpPr/>
          <p:nvPr/>
        </p:nvSpPr>
        <p:spPr>
          <a:xfrm>
            <a:off x="4572000" y="1956816"/>
            <a:ext cx="3017520" cy="1847088"/>
          </a:xfrm>
          <a:prstGeom prst="rect">
            <a:avLst/>
          </a:prstGeom>
          <a:noFill/>
          <a:ln/>
        </p:spPr>
        <p:txBody>
          <a:bodyPr wrap="square" lIns="254" tIns="254" rIns="254" bIns="254" rtlCol="0" anchor="ctr">
            <a:normAutofit/>
          </a:bodyPr>
          <a:lstStyle/>
          <a:p>
            <a:pPr algn="ctr" indent="0" marL="0">
              <a:buNone/>
            </a:pPr>
            <a:r>
              <a:rPr lang="en-US" sz="1700" b="1" dirty="0">
                <a:solidFill>
                  <a:srgbClr val="111827"/>
                </a:solidFill>
              </a:rPr>
              <a:t>SPEC-ANCHORED</a:t>
            </a:r>
            <a:endParaRPr lang="en-US" sz="1700" dirty="0"/>
          </a:p>
          <a:p>
            <a:pPr algn="ctr" indent="0" marL="0">
              <a:buNone/>
            </a:pPr>
            <a:endParaRPr lang="en-US" sz="1700" dirty="0"/>
          </a:p>
          <a:p>
            <a:pPr algn="ctr" indent="0" marL="0">
              <a:buNone/>
            </a:pPr>
            <a:r>
              <a:rPr lang="en-US" sz="1700" b="1" dirty="0">
                <a:solidFill>
                  <a:srgbClr val="111827"/>
                </a:solidFill>
              </a:rPr>
              <a:t>Spec remains active after delivery and is updated as the feature evolves.</a:t>
            </a:r>
            <a:endParaRPr lang="en-US" sz="1700" dirty="0"/>
          </a:p>
        </p:txBody>
      </p:sp>
      <p:sp>
        <p:nvSpPr>
          <p:cNvPr id="9" name="Shape 7"/>
          <p:cNvSpPr/>
          <p:nvPr/>
        </p:nvSpPr>
        <p:spPr>
          <a:xfrm>
            <a:off x="8046720" y="1828800"/>
            <a:ext cx="3291840" cy="2103120"/>
          </a:xfrm>
          <a:prstGeom prst="roundRect">
            <a:avLst>
              <a:gd name="adj" fmla="val 3478"/>
            </a:avLst>
          </a:prstGeom>
          <a:solidFill>
            <a:srgbClr val="F5F3FF"/>
          </a:solidFill>
          <a:ln w="12700">
            <a:solidFill>
              <a:srgbClr val="C4B5FD"/>
            </a:solidFill>
            <a:prstDash val="solid"/>
          </a:ln>
        </p:spPr>
      </p:sp>
      <p:sp>
        <p:nvSpPr>
          <p:cNvPr id="10" name="Text 8"/>
          <p:cNvSpPr/>
          <p:nvPr/>
        </p:nvSpPr>
        <p:spPr>
          <a:xfrm>
            <a:off x="8183880" y="1956816"/>
            <a:ext cx="3017520" cy="1847088"/>
          </a:xfrm>
          <a:prstGeom prst="rect">
            <a:avLst/>
          </a:prstGeom>
          <a:noFill/>
          <a:ln/>
        </p:spPr>
        <p:txBody>
          <a:bodyPr wrap="square" lIns="254" tIns="254" rIns="254" bIns="254" rtlCol="0" anchor="ctr">
            <a:normAutofit/>
          </a:bodyPr>
          <a:lstStyle/>
          <a:p>
            <a:pPr algn="ctr" indent="0" marL="0">
              <a:buNone/>
            </a:pPr>
            <a:r>
              <a:rPr lang="en-US" sz="1700" b="1" dirty="0">
                <a:solidFill>
                  <a:srgbClr val="111827"/>
                </a:solidFill>
              </a:rPr>
              <a:t>SPEC-AS-SOURCE</a:t>
            </a:r>
            <a:endParaRPr lang="en-US" sz="1700" dirty="0"/>
          </a:p>
          <a:p>
            <a:pPr algn="ctr" indent="0" marL="0">
              <a:buNone/>
            </a:pPr>
            <a:endParaRPr lang="en-US" sz="1700" dirty="0"/>
          </a:p>
          <a:p>
            <a:pPr algn="ctr" indent="0" marL="0">
              <a:buNone/>
            </a:pPr>
            <a:r>
              <a:rPr lang="en-US" sz="1700" b="1" dirty="0">
                <a:solidFill>
                  <a:srgbClr val="111827"/>
                </a:solidFill>
              </a:rPr>
              <a:t>Spec is the primary source. Humans change the spec; agents regenerate code.</a:t>
            </a:r>
            <a:endParaRPr lang="en-US" sz="1700" dirty="0"/>
          </a:p>
        </p:txBody>
      </p:sp>
      <p:sp>
        <p:nvSpPr>
          <p:cNvPr id="11" name="Shape 9"/>
          <p:cNvSpPr/>
          <p:nvPr/>
        </p:nvSpPr>
        <p:spPr>
          <a:xfrm>
            <a:off x="4096512" y="2834640"/>
            <a:ext cx="274320" cy="0"/>
          </a:xfrm>
          <a:prstGeom prst="line">
            <a:avLst/>
          </a:prstGeom>
          <a:noFill/>
          <a:ln w="19050">
            <a:solidFill>
              <a:srgbClr val="64748B"/>
            </a:solidFill>
            <a:prstDash val="solid"/>
            <a:headEnd type="none"/>
            <a:tailEnd type="triangle"/>
          </a:ln>
        </p:spPr>
      </p:sp>
      <p:sp>
        <p:nvSpPr>
          <p:cNvPr id="12" name="Shape 10"/>
          <p:cNvSpPr/>
          <p:nvPr/>
        </p:nvSpPr>
        <p:spPr>
          <a:xfrm>
            <a:off x="7708392" y="2834640"/>
            <a:ext cx="274320" cy="0"/>
          </a:xfrm>
          <a:prstGeom prst="line">
            <a:avLst/>
          </a:prstGeom>
          <a:noFill/>
          <a:ln w="19050">
            <a:solidFill>
              <a:srgbClr val="64748B"/>
            </a:solidFill>
            <a:prstDash val="solid"/>
            <a:headEnd type="none"/>
            <a:tailEnd type="triangle"/>
          </a:ln>
        </p:spPr>
      </p:sp>
      <p:sp>
        <p:nvSpPr>
          <p:cNvPr id="13" name="Text 11"/>
          <p:cNvSpPr/>
          <p:nvPr/>
        </p:nvSpPr>
        <p:spPr>
          <a:xfrm>
            <a:off x="1097280" y="4983480"/>
            <a:ext cx="9875520" cy="365760"/>
          </a:xfrm>
          <a:prstGeom prst="rect">
            <a:avLst/>
          </a:prstGeom>
          <a:noFill/>
          <a:ln/>
        </p:spPr>
        <p:txBody>
          <a:bodyPr wrap="square" lIns="635" tIns="635" rIns="635" bIns="635" rtlCol="0" anchor="t">
            <a:normAutofit/>
          </a:bodyPr>
          <a:lstStyle/>
          <a:p>
            <a:pPr indent="0" marL="0">
              <a:buNone/>
            </a:pPr>
            <a:r>
              <a:rPr lang="en-US" sz="1800" dirty="0">
                <a:solidFill>
                  <a:srgbClr val="64748B"/>
                </a:solidFill>
              </a:rPr>
              <a:t>Use this as a lens. Tool placement is a working assessment, not an official vendor category.</a:t>
            </a:r>
            <a:endParaRPr lang="en-US" sz="1800" dirty="0"/>
          </a:p>
        </p:txBody>
      </p:sp>
      <p:sp>
        <p:nvSpPr>
          <p:cNvPr id="14" name="Text 12"/>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15</a:t>
            </a:r>
            <a:endParaRPr lang="en-US" sz="800" dirty="0"/>
          </a:p>
        </p:txBody>
      </p:sp>
      <p:sp>
        <p:nvSpPr>
          <p:cNvPr id="15" name="Text 13"/>
          <p:cNvSpPr/>
          <p:nvPr/>
        </p:nvSpPr>
        <p:spPr>
          <a:xfrm>
            <a:off x="502920" y="6437376"/>
            <a:ext cx="8412480" cy="164592"/>
          </a:xfrm>
          <a:prstGeom prst="rect">
            <a:avLst/>
          </a:prstGeom>
          <a:noFill/>
          <a:ln/>
        </p:spPr>
        <p:txBody>
          <a:bodyPr wrap="square" lIns="0" tIns="0" rIns="0" bIns="0" rtlCol="0" anchor="ctr"/>
          <a:lstStyle/>
          <a:p>
            <a:pPr indent="0" marL="0">
              <a:buNone/>
            </a:pPr>
            <a:r>
              <a:rPr lang="en-US" sz="650" dirty="0">
                <a:solidFill>
                  <a:srgbClr val="94A3B8"/>
                </a:solidFill>
              </a:rPr>
              <a:t>Source: Martin Fowler / Thoughtworks SDD article</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731520" y="2331720"/>
            <a:ext cx="10789920" cy="685800"/>
          </a:xfrm>
          <a:prstGeom prst="rect">
            <a:avLst/>
          </a:prstGeom>
          <a:noFill/>
          <a:ln/>
        </p:spPr>
        <p:txBody>
          <a:bodyPr wrap="square" lIns="0" tIns="0" rIns="0" bIns="0" rtlCol="0" anchor="ct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SEGMENT 4</a:t>
            </a:r>
            <a:endParaRPr lang="en-US" sz="4200" dirty="0"/>
          </a:p>
        </p:txBody>
      </p:sp>
      <p:sp>
        <p:nvSpPr>
          <p:cNvPr id="4" name="Text 2"/>
          <p:cNvSpPr/>
          <p:nvPr/>
        </p:nvSpPr>
        <p:spPr>
          <a:xfrm>
            <a:off x="777240" y="3127248"/>
            <a:ext cx="9875520" cy="411480"/>
          </a:xfrm>
          <a:prstGeom prst="rect">
            <a:avLst/>
          </a:prstGeom>
          <a:noFill/>
          <a:ln/>
        </p:spPr>
        <p:txBody>
          <a:bodyPr wrap="square" lIns="0" tIns="0" rIns="0" bIns="0" rtlCol="0" anchor="ctr"/>
          <a:lstStyle/>
          <a:p>
            <a:pPr indent="0" marL="0">
              <a:buNone/>
            </a:pPr>
            <a:r>
              <a:rPr lang="en-US" sz="1800" dirty="0">
                <a:solidFill>
                  <a:srgbClr val="CBD5E1"/>
                </a:solidFill>
              </a:rPr>
              <a:t>What the current tools actually provide now</a:t>
            </a:r>
            <a:endParaRPr lang="en-US" sz="1800" dirty="0"/>
          </a:p>
        </p:txBody>
      </p:sp>
      <p:sp>
        <p:nvSpPr>
          <p:cNvPr id="5" name="Shape 3"/>
          <p:cNvSpPr/>
          <p:nvPr/>
        </p:nvSpPr>
        <p:spPr>
          <a:xfrm>
            <a:off x="777240" y="3703320"/>
            <a:ext cx="2926080" cy="0"/>
          </a:xfrm>
          <a:prstGeom prst="line">
            <a:avLst/>
          </a:prstGeom>
          <a:noFill/>
          <a:ln w="50800">
            <a:solidFill>
              <a:srgbClr val="F97316"/>
            </a:solidFill>
            <a:prstDash val="solid"/>
          </a:ln>
        </p:spPr>
      </p:sp>
      <p:sp>
        <p:nvSpPr>
          <p:cNvPr id="6" name="Text 4"/>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CBD5E1"/>
                </a:solidFill>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Spec Kit today: an extensible SDD harness</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Spec-driven by default, agent-agnostic by design, Markdown-artifact driven.</a:t>
            </a:r>
            <a:endParaRPr lang="en-US" sz="1400" dirty="0"/>
          </a:p>
        </p:txBody>
      </p:sp>
      <p:sp>
        <p:nvSpPr>
          <p:cNvPr id="5" name="Shape 3"/>
          <p:cNvSpPr/>
          <p:nvPr/>
        </p:nvSpPr>
        <p:spPr>
          <a:xfrm>
            <a:off x="457200" y="1828800"/>
            <a:ext cx="1005840" cy="502920"/>
          </a:xfrm>
          <a:prstGeom prst="roundRect">
            <a:avLst>
              <a:gd name="adj" fmla="val 14545"/>
            </a:avLst>
          </a:prstGeom>
          <a:solidFill>
            <a:srgbClr val="FFF7ED"/>
          </a:solidFill>
          <a:ln w="12700">
            <a:solidFill>
              <a:srgbClr val="FDBA74"/>
            </a:solidFill>
            <a:prstDash val="solid"/>
          </a:ln>
        </p:spPr>
      </p:sp>
      <p:sp>
        <p:nvSpPr>
          <p:cNvPr id="6" name="Text 4"/>
          <p:cNvSpPr/>
          <p:nvPr/>
        </p:nvSpPr>
        <p:spPr>
          <a:xfrm>
            <a:off x="594360" y="1956816"/>
            <a:ext cx="731520" cy="246888"/>
          </a:xfrm>
          <a:prstGeom prst="rect">
            <a:avLst/>
          </a:prstGeom>
          <a:noFill/>
          <a:ln/>
        </p:spPr>
        <p:txBody>
          <a:bodyPr wrap="square" lIns="254" tIns="254" rIns="254" bIns="254" rtlCol="0" anchor="ctr">
            <a:normAutofit/>
          </a:bodyPr>
          <a:lstStyle/>
          <a:p>
            <a:pPr algn="ctr" indent="0" marL="0">
              <a:buNone/>
            </a:pPr>
            <a:r>
              <a:rPr lang="en-US" sz="1000" b="1" dirty="0">
                <a:solidFill>
                  <a:srgbClr val="111827"/>
                </a:solidFill>
              </a:rPr>
              <a:t>constitution</a:t>
            </a:r>
            <a:endParaRPr lang="en-US" sz="1000" dirty="0"/>
          </a:p>
        </p:txBody>
      </p:sp>
      <p:sp>
        <p:nvSpPr>
          <p:cNvPr id="7" name="Shape 5"/>
          <p:cNvSpPr/>
          <p:nvPr/>
        </p:nvSpPr>
        <p:spPr>
          <a:xfrm>
            <a:off x="1481328" y="2075688"/>
            <a:ext cx="182880" cy="411480"/>
          </a:xfrm>
          <a:prstGeom prst="line">
            <a:avLst/>
          </a:prstGeom>
          <a:noFill/>
          <a:ln w="12700">
            <a:solidFill>
              <a:srgbClr val="64748B"/>
            </a:solidFill>
            <a:prstDash val="solid"/>
            <a:headEnd type="none"/>
            <a:tailEnd type="triangle"/>
          </a:ln>
        </p:spPr>
      </p:sp>
      <p:sp>
        <p:nvSpPr>
          <p:cNvPr id="8" name="Shape 6"/>
          <p:cNvSpPr/>
          <p:nvPr/>
        </p:nvSpPr>
        <p:spPr>
          <a:xfrm>
            <a:off x="1719072" y="2240280"/>
            <a:ext cx="1005840" cy="502920"/>
          </a:xfrm>
          <a:prstGeom prst="roundRect">
            <a:avLst>
              <a:gd name="adj" fmla="val 14545"/>
            </a:avLst>
          </a:prstGeom>
          <a:solidFill>
            <a:srgbClr val="FFFFFF"/>
          </a:solidFill>
          <a:ln w="12700">
            <a:solidFill>
              <a:srgbClr val="CBD5E1"/>
            </a:solidFill>
            <a:prstDash val="solid"/>
          </a:ln>
        </p:spPr>
      </p:sp>
      <p:sp>
        <p:nvSpPr>
          <p:cNvPr id="9" name="Text 7"/>
          <p:cNvSpPr/>
          <p:nvPr/>
        </p:nvSpPr>
        <p:spPr>
          <a:xfrm>
            <a:off x="1856232" y="2368296"/>
            <a:ext cx="731520" cy="246888"/>
          </a:xfrm>
          <a:prstGeom prst="rect">
            <a:avLst/>
          </a:prstGeom>
          <a:noFill/>
          <a:ln/>
        </p:spPr>
        <p:txBody>
          <a:bodyPr wrap="square" lIns="254" tIns="254" rIns="254" bIns="254" rtlCol="0" anchor="ctr">
            <a:normAutofit/>
          </a:bodyPr>
          <a:lstStyle/>
          <a:p>
            <a:pPr algn="ctr" indent="0" marL="0">
              <a:buNone/>
            </a:pPr>
            <a:r>
              <a:rPr lang="en-US" sz="1000" b="1" dirty="0">
                <a:solidFill>
                  <a:srgbClr val="111827"/>
                </a:solidFill>
              </a:rPr>
              <a:t>specify</a:t>
            </a:r>
            <a:endParaRPr lang="en-US" sz="1000" dirty="0"/>
          </a:p>
        </p:txBody>
      </p:sp>
      <p:sp>
        <p:nvSpPr>
          <p:cNvPr id="10" name="Shape 8"/>
          <p:cNvSpPr/>
          <p:nvPr/>
        </p:nvSpPr>
        <p:spPr>
          <a:xfrm>
            <a:off x="2743200" y="2487168"/>
            <a:ext cx="182880" cy="-411480"/>
          </a:xfrm>
          <a:prstGeom prst="line">
            <a:avLst/>
          </a:prstGeom>
          <a:noFill/>
          <a:ln w="12700">
            <a:solidFill>
              <a:srgbClr val="64748B"/>
            </a:solidFill>
            <a:prstDash val="solid"/>
            <a:headEnd type="none"/>
            <a:tailEnd type="triangle"/>
          </a:ln>
        </p:spPr>
      </p:sp>
      <p:sp>
        <p:nvSpPr>
          <p:cNvPr id="11" name="Shape 9"/>
          <p:cNvSpPr/>
          <p:nvPr/>
        </p:nvSpPr>
        <p:spPr>
          <a:xfrm>
            <a:off x="2980944" y="1828800"/>
            <a:ext cx="1005840" cy="502920"/>
          </a:xfrm>
          <a:prstGeom prst="roundRect">
            <a:avLst>
              <a:gd name="adj" fmla="val 14545"/>
            </a:avLst>
          </a:prstGeom>
          <a:solidFill>
            <a:srgbClr val="FFFFFF"/>
          </a:solidFill>
          <a:ln w="12700">
            <a:solidFill>
              <a:srgbClr val="CBD5E1"/>
            </a:solidFill>
            <a:prstDash val="solid"/>
          </a:ln>
        </p:spPr>
      </p:sp>
      <p:sp>
        <p:nvSpPr>
          <p:cNvPr id="12" name="Text 10"/>
          <p:cNvSpPr/>
          <p:nvPr/>
        </p:nvSpPr>
        <p:spPr>
          <a:xfrm>
            <a:off x="3118104" y="1956816"/>
            <a:ext cx="731520" cy="246888"/>
          </a:xfrm>
          <a:prstGeom prst="rect">
            <a:avLst/>
          </a:prstGeom>
          <a:noFill/>
          <a:ln/>
        </p:spPr>
        <p:txBody>
          <a:bodyPr wrap="square" lIns="254" tIns="254" rIns="254" bIns="254" rtlCol="0" anchor="ctr">
            <a:normAutofit/>
          </a:bodyPr>
          <a:lstStyle/>
          <a:p>
            <a:pPr algn="ctr" indent="0" marL="0">
              <a:buNone/>
            </a:pPr>
            <a:r>
              <a:rPr lang="en-US" sz="1000" b="1" dirty="0">
                <a:solidFill>
                  <a:srgbClr val="111827"/>
                </a:solidFill>
              </a:rPr>
              <a:t>clarify</a:t>
            </a:r>
            <a:endParaRPr lang="en-US" sz="1000" dirty="0"/>
          </a:p>
        </p:txBody>
      </p:sp>
      <p:sp>
        <p:nvSpPr>
          <p:cNvPr id="13" name="Shape 11"/>
          <p:cNvSpPr/>
          <p:nvPr/>
        </p:nvSpPr>
        <p:spPr>
          <a:xfrm>
            <a:off x="4005072" y="2075688"/>
            <a:ext cx="182880" cy="411480"/>
          </a:xfrm>
          <a:prstGeom prst="line">
            <a:avLst/>
          </a:prstGeom>
          <a:noFill/>
          <a:ln w="12700">
            <a:solidFill>
              <a:srgbClr val="64748B"/>
            </a:solidFill>
            <a:prstDash val="solid"/>
            <a:headEnd type="none"/>
            <a:tailEnd type="triangle"/>
          </a:ln>
        </p:spPr>
      </p:sp>
      <p:sp>
        <p:nvSpPr>
          <p:cNvPr id="14" name="Shape 12"/>
          <p:cNvSpPr/>
          <p:nvPr/>
        </p:nvSpPr>
        <p:spPr>
          <a:xfrm>
            <a:off x="4242816" y="2240280"/>
            <a:ext cx="1005840" cy="502920"/>
          </a:xfrm>
          <a:prstGeom prst="roundRect">
            <a:avLst>
              <a:gd name="adj" fmla="val 14545"/>
            </a:avLst>
          </a:prstGeom>
          <a:solidFill>
            <a:srgbClr val="FFFFFF"/>
          </a:solidFill>
          <a:ln w="12700">
            <a:solidFill>
              <a:srgbClr val="CBD5E1"/>
            </a:solidFill>
            <a:prstDash val="solid"/>
          </a:ln>
        </p:spPr>
      </p:sp>
      <p:sp>
        <p:nvSpPr>
          <p:cNvPr id="15" name="Text 13"/>
          <p:cNvSpPr/>
          <p:nvPr/>
        </p:nvSpPr>
        <p:spPr>
          <a:xfrm>
            <a:off x="4379976" y="2368296"/>
            <a:ext cx="731520" cy="246888"/>
          </a:xfrm>
          <a:prstGeom prst="rect">
            <a:avLst/>
          </a:prstGeom>
          <a:noFill/>
          <a:ln/>
        </p:spPr>
        <p:txBody>
          <a:bodyPr wrap="square" lIns="254" tIns="254" rIns="254" bIns="254" rtlCol="0" anchor="ctr">
            <a:normAutofit/>
          </a:bodyPr>
          <a:lstStyle/>
          <a:p>
            <a:pPr algn="ctr" indent="0" marL="0">
              <a:buNone/>
            </a:pPr>
            <a:r>
              <a:rPr lang="en-US" sz="1000" b="1" dirty="0">
                <a:solidFill>
                  <a:srgbClr val="111827"/>
                </a:solidFill>
              </a:rPr>
              <a:t>plan</a:t>
            </a:r>
            <a:endParaRPr lang="en-US" sz="1000" dirty="0"/>
          </a:p>
        </p:txBody>
      </p:sp>
      <p:sp>
        <p:nvSpPr>
          <p:cNvPr id="16" name="Shape 14"/>
          <p:cNvSpPr/>
          <p:nvPr/>
        </p:nvSpPr>
        <p:spPr>
          <a:xfrm>
            <a:off x="5266944" y="2487168"/>
            <a:ext cx="182880" cy="-411480"/>
          </a:xfrm>
          <a:prstGeom prst="line">
            <a:avLst/>
          </a:prstGeom>
          <a:noFill/>
          <a:ln w="12700">
            <a:solidFill>
              <a:srgbClr val="64748B"/>
            </a:solidFill>
            <a:prstDash val="solid"/>
            <a:headEnd type="none"/>
            <a:tailEnd type="triangle"/>
          </a:ln>
        </p:spPr>
      </p:sp>
      <p:sp>
        <p:nvSpPr>
          <p:cNvPr id="17" name="Shape 15"/>
          <p:cNvSpPr/>
          <p:nvPr/>
        </p:nvSpPr>
        <p:spPr>
          <a:xfrm>
            <a:off x="5504688" y="1828800"/>
            <a:ext cx="1005840" cy="502920"/>
          </a:xfrm>
          <a:prstGeom prst="roundRect">
            <a:avLst>
              <a:gd name="adj" fmla="val 14545"/>
            </a:avLst>
          </a:prstGeom>
          <a:solidFill>
            <a:srgbClr val="FFFFFF"/>
          </a:solidFill>
          <a:ln w="12700">
            <a:solidFill>
              <a:srgbClr val="CBD5E1"/>
            </a:solidFill>
            <a:prstDash val="solid"/>
          </a:ln>
        </p:spPr>
      </p:sp>
      <p:sp>
        <p:nvSpPr>
          <p:cNvPr id="18" name="Text 16"/>
          <p:cNvSpPr/>
          <p:nvPr/>
        </p:nvSpPr>
        <p:spPr>
          <a:xfrm>
            <a:off x="5641848" y="1956816"/>
            <a:ext cx="731520" cy="246888"/>
          </a:xfrm>
          <a:prstGeom prst="rect">
            <a:avLst/>
          </a:prstGeom>
          <a:noFill/>
          <a:ln/>
        </p:spPr>
        <p:txBody>
          <a:bodyPr wrap="square" lIns="254" tIns="254" rIns="254" bIns="254" rtlCol="0" anchor="ctr">
            <a:normAutofit/>
          </a:bodyPr>
          <a:lstStyle/>
          <a:p>
            <a:pPr algn="ctr" indent="0" marL="0">
              <a:buNone/>
            </a:pPr>
            <a:r>
              <a:rPr lang="en-US" sz="1000" b="1" dirty="0">
                <a:solidFill>
                  <a:srgbClr val="111827"/>
                </a:solidFill>
              </a:rPr>
              <a:t>checklist</a:t>
            </a:r>
            <a:endParaRPr lang="en-US" sz="1000" dirty="0"/>
          </a:p>
        </p:txBody>
      </p:sp>
      <p:sp>
        <p:nvSpPr>
          <p:cNvPr id="19" name="Shape 17"/>
          <p:cNvSpPr/>
          <p:nvPr/>
        </p:nvSpPr>
        <p:spPr>
          <a:xfrm>
            <a:off x="6528816" y="2075688"/>
            <a:ext cx="182880" cy="411480"/>
          </a:xfrm>
          <a:prstGeom prst="line">
            <a:avLst/>
          </a:prstGeom>
          <a:noFill/>
          <a:ln w="12700">
            <a:solidFill>
              <a:srgbClr val="64748B"/>
            </a:solidFill>
            <a:prstDash val="solid"/>
            <a:headEnd type="none"/>
            <a:tailEnd type="triangle"/>
          </a:ln>
        </p:spPr>
      </p:sp>
      <p:sp>
        <p:nvSpPr>
          <p:cNvPr id="20" name="Shape 18"/>
          <p:cNvSpPr/>
          <p:nvPr/>
        </p:nvSpPr>
        <p:spPr>
          <a:xfrm>
            <a:off x="6766560" y="2240280"/>
            <a:ext cx="1005840" cy="502920"/>
          </a:xfrm>
          <a:prstGeom prst="roundRect">
            <a:avLst>
              <a:gd name="adj" fmla="val 14545"/>
            </a:avLst>
          </a:prstGeom>
          <a:solidFill>
            <a:srgbClr val="FFFFFF"/>
          </a:solidFill>
          <a:ln w="12700">
            <a:solidFill>
              <a:srgbClr val="CBD5E1"/>
            </a:solidFill>
            <a:prstDash val="solid"/>
          </a:ln>
        </p:spPr>
      </p:sp>
      <p:sp>
        <p:nvSpPr>
          <p:cNvPr id="21" name="Text 19"/>
          <p:cNvSpPr/>
          <p:nvPr/>
        </p:nvSpPr>
        <p:spPr>
          <a:xfrm>
            <a:off x="6903720" y="2368296"/>
            <a:ext cx="731520" cy="246888"/>
          </a:xfrm>
          <a:prstGeom prst="rect">
            <a:avLst/>
          </a:prstGeom>
          <a:noFill/>
          <a:ln/>
        </p:spPr>
        <p:txBody>
          <a:bodyPr wrap="square" lIns="254" tIns="254" rIns="254" bIns="254" rtlCol="0" anchor="ctr">
            <a:normAutofit/>
          </a:bodyPr>
          <a:lstStyle/>
          <a:p>
            <a:pPr algn="ctr" indent="0" marL="0">
              <a:buNone/>
            </a:pPr>
            <a:r>
              <a:rPr lang="en-US" sz="1000" b="1" dirty="0">
                <a:solidFill>
                  <a:srgbClr val="111827"/>
                </a:solidFill>
              </a:rPr>
              <a:t>tasks</a:t>
            </a:r>
            <a:endParaRPr lang="en-US" sz="1000" dirty="0"/>
          </a:p>
        </p:txBody>
      </p:sp>
      <p:sp>
        <p:nvSpPr>
          <p:cNvPr id="22" name="Shape 20"/>
          <p:cNvSpPr/>
          <p:nvPr/>
        </p:nvSpPr>
        <p:spPr>
          <a:xfrm>
            <a:off x="7790688" y="2487168"/>
            <a:ext cx="182880" cy="-411480"/>
          </a:xfrm>
          <a:prstGeom prst="line">
            <a:avLst/>
          </a:prstGeom>
          <a:noFill/>
          <a:ln w="12700">
            <a:solidFill>
              <a:srgbClr val="64748B"/>
            </a:solidFill>
            <a:prstDash val="solid"/>
            <a:headEnd type="none"/>
            <a:tailEnd type="triangle"/>
          </a:ln>
        </p:spPr>
      </p:sp>
      <p:sp>
        <p:nvSpPr>
          <p:cNvPr id="23" name="Shape 21"/>
          <p:cNvSpPr/>
          <p:nvPr/>
        </p:nvSpPr>
        <p:spPr>
          <a:xfrm>
            <a:off x="8028432" y="1828800"/>
            <a:ext cx="1005840" cy="502920"/>
          </a:xfrm>
          <a:prstGeom prst="roundRect">
            <a:avLst>
              <a:gd name="adj" fmla="val 14545"/>
            </a:avLst>
          </a:prstGeom>
          <a:solidFill>
            <a:srgbClr val="FFFFFF"/>
          </a:solidFill>
          <a:ln w="12700">
            <a:solidFill>
              <a:srgbClr val="CBD5E1"/>
            </a:solidFill>
            <a:prstDash val="solid"/>
          </a:ln>
        </p:spPr>
      </p:sp>
      <p:sp>
        <p:nvSpPr>
          <p:cNvPr id="24" name="Text 22"/>
          <p:cNvSpPr/>
          <p:nvPr/>
        </p:nvSpPr>
        <p:spPr>
          <a:xfrm>
            <a:off x="8165592" y="1956816"/>
            <a:ext cx="731520" cy="246888"/>
          </a:xfrm>
          <a:prstGeom prst="rect">
            <a:avLst/>
          </a:prstGeom>
          <a:noFill/>
          <a:ln/>
        </p:spPr>
        <p:txBody>
          <a:bodyPr wrap="square" lIns="254" tIns="254" rIns="254" bIns="254" rtlCol="0" anchor="ctr">
            <a:normAutofit/>
          </a:bodyPr>
          <a:lstStyle/>
          <a:p>
            <a:pPr algn="ctr" indent="0" marL="0">
              <a:buNone/>
            </a:pPr>
            <a:r>
              <a:rPr lang="en-US" sz="1000" b="1" dirty="0">
                <a:solidFill>
                  <a:srgbClr val="111827"/>
                </a:solidFill>
              </a:rPr>
              <a:t>analyze</a:t>
            </a:r>
            <a:endParaRPr lang="en-US" sz="1000" dirty="0"/>
          </a:p>
        </p:txBody>
      </p:sp>
      <p:sp>
        <p:nvSpPr>
          <p:cNvPr id="25" name="Shape 23"/>
          <p:cNvSpPr/>
          <p:nvPr/>
        </p:nvSpPr>
        <p:spPr>
          <a:xfrm>
            <a:off x="9052560" y="2075688"/>
            <a:ext cx="182880" cy="411480"/>
          </a:xfrm>
          <a:prstGeom prst="line">
            <a:avLst/>
          </a:prstGeom>
          <a:noFill/>
          <a:ln w="12700">
            <a:solidFill>
              <a:srgbClr val="64748B"/>
            </a:solidFill>
            <a:prstDash val="solid"/>
            <a:headEnd type="none"/>
            <a:tailEnd type="triangle"/>
          </a:ln>
        </p:spPr>
      </p:sp>
      <p:sp>
        <p:nvSpPr>
          <p:cNvPr id="26" name="Shape 24"/>
          <p:cNvSpPr/>
          <p:nvPr/>
        </p:nvSpPr>
        <p:spPr>
          <a:xfrm>
            <a:off x="9290304" y="2240280"/>
            <a:ext cx="1005840" cy="502920"/>
          </a:xfrm>
          <a:prstGeom prst="roundRect">
            <a:avLst>
              <a:gd name="adj" fmla="val 14545"/>
            </a:avLst>
          </a:prstGeom>
          <a:solidFill>
            <a:srgbClr val="ECFDF5"/>
          </a:solidFill>
          <a:ln w="12700">
            <a:solidFill>
              <a:srgbClr val="86EFAC"/>
            </a:solidFill>
            <a:prstDash val="solid"/>
          </a:ln>
        </p:spPr>
      </p:sp>
      <p:sp>
        <p:nvSpPr>
          <p:cNvPr id="27" name="Text 25"/>
          <p:cNvSpPr/>
          <p:nvPr/>
        </p:nvSpPr>
        <p:spPr>
          <a:xfrm>
            <a:off x="9427464" y="2368296"/>
            <a:ext cx="731520" cy="246888"/>
          </a:xfrm>
          <a:prstGeom prst="rect">
            <a:avLst/>
          </a:prstGeom>
          <a:noFill/>
          <a:ln/>
        </p:spPr>
        <p:txBody>
          <a:bodyPr wrap="square" lIns="254" tIns="254" rIns="254" bIns="254" rtlCol="0" anchor="ctr">
            <a:normAutofit/>
          </a:bodyPr>
          <a:lstStyle/>
          <a:p>
            <a:pPr algn="ctr" indent="0" marL="0">
              <a:buNone/>
            </a:pPr>
            <a:r>
              <a:rPr lang="en-US" sz="1000" b="1" dirty="0">
                <a:solidFill>
                  <a:srgbClr val="111827"/>
                </a:solidFill>
              </a:rPr>
              <a:t>implement</a:t>
            </a:r>
            <a:endParaRPr lang="en-US" sz="1000" dirty="0"/>
          </a:p>
        </p:txBody>
      </p:sp>
      <p:sp>
        <p:nvSpPr>
          <p:cNvPr id="28" name="Shape 26"/>
          <p:cNvSpPr/>
          <p:nvPr/>
        </p:nvSpPr>
        <p:spPr>
          <a:xfrm>
            <a:off x="10314432" y="2487168"/>
            <a:ext cx="182880" cy="-411480"/>
          </a:xfrm>
          <a:prstGeom prst="line">
            <a:avLst/>
          </a:prstGeom>
          <a:noFill/>
          <a:ln w="12700">
            <a:solidFill>
              <a:srgbClr val="64748B"/>
            </a:solidFill>
            <a:prstDash val="solid"/>
            <a:headEnd type="none"/>
            <a:tailEnd type="triangle"/>
          </a:ln>
        </p:spPr>
      </p:sp>
      <p:sp>
        <p:nvSpPr>
          <p:cNvPr id="29" name="Shape 27"/>
          <p:cNvSpPr/>
          <p:nvPr/>
        </p:nvSpPr>
        <p:spPr>
          <a:xfrm>
            <a:off x="10552176" y="1828800"/>
            <a:ext cx="1005840" cy="502920"/>
          </a:xfrm>
          <a:prstGeom prst="roundRect">
            <a:avLst>
              <a:gd name="adj" fmla="val 14545"/>
            </a:avLst>
          </a:prstGeom>
          <a:solidFill>
            <a:srgbClr val="ECFDF5"/>
          </a:solidFill>
          <a:ln w="12700">
            <a:solidFill>
              <a:srgbClr val="86EFAC"/>
            </a:solidFill>
            <a:prstDash val="solid"/>
          </a:ln>
        </p:spPr>
      </p:sp>
      <p:sp>
        <p:nvSpPr>
          <p:cNvPr id="30" name="Text 28"/>
          <p:cNvSpPr/>
          <p:nvPr/>
        </p:nvSpPr>
        <p:spPr>
          <a:xfrm>
            <a:off x="10689336" y="1956816"/>
            <a:ext cx="731520" cy="246888"/>
          </a:xfrm>
          <a:prstGeom prst="rect">
            <a:avLst/>
          </a:prstGeom>
          <a:noFill/>
          <a:ln/>
        </p:spPr>
        <p:txBody>
          <a:bodyPr wrap="square" lIns="254" tIns="254" rIns="254" bIns="254" rtlCol="0" anchor="ctr">
            <a:normAutofit/>
          </a:bodyPr>
          <a:lstStyle/>
          <a:p>
            <a:pPr algn="ctr" indent="0" marL="0">
              <a:buNone/>
            </a:pPr>
            <a:r>
              <a:rPr lang="en-US" sz="1000" b="1" dirty="0">
                <a:solidFill>
                  <a:srgbClr val="111827"/>
                </a:solidFill>
              </a:rPr>
              <a:t>converge</a:t>
            </a:r>
            <a:endParaRPr lang="en-US" sz="1000" dirty="0"/>
          </a:p>
        </p:txBody>
      </p:sp>
      <p:sp>
        <p:nvSpPr>
          <p:cNvPr id="31" name="Text 29"/>
          <p:cNvSpPr/>
          <p:nvPr/>
        </p:nvSpPr>
        <p:spPr>
          <a:xfrm>
            <a:off x="822960" y="3657600"/>
            <a:ext cx="10789920" cy="548640"/>
          </a:xfrm>
          <a:prstGeom prst="rect">
            <a:avLst/>
          </a:prstGeom>
          <a:noFill/>
          <a:ln/>
        </p:spPr>
        <p:txBody>
          <a:bodyPr wrap="square" lIns="635" tIns="635" rIns="635" bIns="635" rtlCol="0" anchor="t">
            <a:normAutofit/>
          </a:bodyPr>
          <a:lstStyle/>
          <a:p>
            <a:pPr indent="0" marL="0">
              <a:buNone/>
            </a:pPr>
            <a:r>
              <a:rPr lang="en-US" sz="2000" dirty="0">
                <a:solidFill>
                  <a:srgbClr val="111827"/>
                </a:solidFill>
              </a:rPr>
              <a:t>Also important: `/speckit.taskstoissues` converts generated tasks into GitHub Issues for tracking and execution.</a:t>
            </a:r>
            <a:endParaRPr lang="en-US" sz="2000" dirty="0"/>
          </a:p>
        </p:txBody>
      </p:sp>
      <p:sp>
        <p:nvSpPr>
          <p:cNvPr id="32" name="Text 30"/>
          <p:cNvSpPr/>
          <p:nvPr/>
        </p:nvSpPr>
        <p:spPr>
          <a:xfrm>
            <a:off x="822960" y="4434840"/>
            <a:ext cx="10424160" cy="457200"/>
          </a:xfrm>
          <a:prstGeom prst="rect">
            <a:avLst/>
          </a:prstGeom>
          <a:noFill/>
          <a:ln/>
        </p:spPr>
        <p:txBody>
          <a:bodyPr wrap="square" lIns="635" tIns="635" rIns="635" bIns="635" rtlCol="0" anchor="t">
            <a:normAutofit/>
          </a:bodyPr>
          <a:lstStyle/>
          <a:p>
            <a:pPr indent="0" marL="0">
              <a:buNone/>
            </a:pPr>
            <a:r>
              <a:rPr lang="en-US" sz="1800" dirty="0">
                <a:solidFill>
                  <a:srgbClr val="64748B"/>
                </a:solidFill>
              </a:rPr>
              <a:t>Quality gates are optional but important for meaningful ambiguity: clarify, checklist, analyze, converge.</a:t>
            </a:r>
            <a:endParaRPr lang="en-US" sz="1800" dirty="0"/>
          </a:p>
        </p:txBody>
      </p:sp>
      <p:sp>
        <p:nvSpPr>
          <p:cNvPr id="33" name="Text 31"/>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17</a:t>
            </a:r>
            <a:endParaRPr lang="en-US" sz="800" dirty="0"/>
          </a:p>
        </p:txBody>
      </p:sp>
      <p:sp>
        <p:nvSpPr>
          <p:cNvPr id="34" name="Text 32"/>
          <p:cNvSpPr/>
          <p:nvPr/>
        </p:nvSpPr>
        <p:spPr>
          <a:xfrm>
            <a:off x="502920" y="6437376"/>
            <a:ext cx="8412480" cy="164592"/>
          </a:xfrm>
          <a:prstGeom prst="rect">
            <a:avLst/>
          </a:prstGeom>
          <a:noFill/>
          <a:ln/>
        </p:spPr>
        <p:txBody>
          <a:bodyPr wrap="square" lIns="0" tIns="0" rIns="0" bIns="0" rtlCol="0" anchor="ctr"/>
          <a:lstStyle/>
          <a:p>
            <a:pPr indent="0" marL="0">
              <a:buNone/>
            </a:pPr>
            <a:r>
              <a:rPr lang="en-US" sz="650" dirty="0">
                <a:solidFill>
                  <a:srgbClr val="94A3B8"/>
                </a:solidFill>
              </a:rPr>
              <a:t>Source: GitHub Spec Kit docs</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BMAD today: context engineering across a lifecycle</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Do not reduce BMAD to “party mode.” Its current workflow is broader and more flexible.</a:t>
            </a:r>
            <a:endParaRPr lang="en-US" sz="1400" dirty="0"/>
          </a:p>
        </p:txBody>
      </p:sp>
      <p:sp>
        <p:nvSpPr>
          <p:cNvPr id="5" name="Shape 3"/>
          <p:cNvSpPr/>
          <p:nvPr/>
        </p:nvSpPr>
        <p:spPr>
          <a:xfrm>
            <a:off x="822960" y="1828800"/>
            <a:ext cx="2194560" cy="1051560"/>
          </a:xfrm>
          <a:prstGeom prst="roundRect">
            <a:avLst>
              <a:gd name="adj" fmla="val 6957"/>
            </a:avLst>
          </a:prstGeom>
          <a:solidFill>
            <a:srgbClr val="FFFFFF"/>
          </a:solidFill>
          <a:ln w="12700">
            <a:solidFill>
              <a:srgbClr val="CBD5E1"/>
            </a:solidFill>
            <a:prstDash val="solid"/>
          </a:ln>
        </p:spPr>
      </p:sp>
      <p:sp>
        <p:nvSpPr>
          <p:cNvPr id="6" name="Text 4"/>
          <p:cNvSpPr/>
          <p:nvPr/>
        </p:nvSpPr>
        <p:spPr>
          <a:xfrm>
            <a:off x="960120" y="1956816"/>
            <a:ext cx="1920240" cy="795528"/>
          </a:xfrm>
          <a:prstGeom prst="rect">
            <a:avLst/>
          </a:prstGeom>
          <a:noFill/>
          <a:ln/>
        </p:spPr>
        <p:txBody>
          <a:bodyPr wrap="square" lIns="254" tIns="254" rIns="254" bIns="254" rtlCol="0" anchor="ctr">
            <a:normAutofit/>
          </a:bodyPr>
          <a:lstStyle/>
          <a:p>
            <a:pPr algn="ctr" indent="0" marL="0">
              <a:buNone/>
            </a:pPr>
            <a:r>
              <a:rPr lang="en-US" sz="1500" b="1" dirty="0">
                <a:solidFill>
                  <a:srgbClr val="111827"/>
                </a:solidFill>
              </a:rPr>
              <a:t>Analysis</a:t>
            </a:r>
            <a:endParaRPr lang="en-US" sz="1500" dirty="0"/>
          </a:p>
          <a:p>
            <a:pPr algn="ctr" indent="0" marL="0">
              <a:buNone/>
            </a:pPr>
            <a:r>
              <a:rPr lang="en-US" sz="1500" b="1" dirty="0">
                <a:solidFill>
                  <a:srgbClr val="111827"/>
                </a:solidFill>
              </a:rPr>
              <a:t>optional exploration</a:t>
            </a:r>
            <a:endParaRPr lang="en-US" sz="1500" dirty="0"/>
          </a:p>
        </p:txBody>
      </p:sp>
      <p:sp>
        <p:nvSpPr>
          <p:cNvPr id="7" name="Shape 5"/>
          <p:cNvSpPr/>
          <p:nvPr/>
        </p:nvSpPr>
        <p:spPr>
          <a:xfrm>
            <a:off x="3063240" y="2359152"/>
            <a:ext cx="320040" cy="0"/>
          </a:xfrm>
          <a:prstGeom prst="line">
            <a:avLst/>
          </a:prstGeom>
          <a:noFill/>
          <a:ln w="12700">
            <a:solidFill>
              <a:srgbClr val="64748B"/>
            </a:solidFill>
            <a:prstDash val="solid"/>
            <a:headEnd type="none"/>
            <a:tailEnd type="triangle"/>
          </a:ln>
        </p:spPr>
      </p:sp>
      <p:sp>
        <p:nvSpPr>
          <p:cNvPr id="8" name="Shape 6"/>
          <p:cNvSpPr/>
          <p:nvPr/>
        </p:nvSpPr>
        <p:spPr>
          <a:xfrm>
            <a:off x="3474720" y="1828800"/>
            <a:ext cx="2194560" cy="1051560"/>
          </a:xfrm>
          <a:prstGeom prst="roundRect">
            <a:avLst>
              <a:gd name="adj" fmla="val 6957"/>
            </a:avLst>
          </a:prstGeom>
          <a:solidFill>
            <a:srgbClr val="FFFFFF"/>
          </a:solidFill>
          <a:ln w="12700">
            <a:solidFill>
              <a:srgbClr val="CBD5E1"/>
            </a:solidFill>
            <a:prstDash val="solid"/>
          </a:ln>
        </p:spPr>
      </p:sp>
      <p:sp>
        <p:nvSpPr>
          <p:cNvPr id="9" name="Text 7"/>
          <p:cNvSpPr/>
          <p:nvPr/>
        </p:nvSpPr>
        <p:spPr>
          <a:xfrm>
            <a:off x="3611880" y="1956816"/>
            <a:ext cx="1920240" cy="795528"/>
          </a:xfrm>
          <a:prstGeom prst="rect">
            <a:avLst/>
          </a:prstGeom>
          <a:noFill/>
          <a:ln/>
        </p:spPr>
        <p:txBody>
          <a:bodyPr wrap="square" lIns="254" tIns="254" rIns="254" bIns="254" rtlCol="0" anchor="ctr">
            <a:normAutofit/>
          </a:bodyPr>
          <a:lstStyle/>
          <a:p>
            <a:pPr algn="ctr" indent="0" marL="0">
              <a:buNone/>
            </a:pPr>
            <a:r>
              <a:rPr lang="en-US" sz="1500" b="1" dirty="0">
                <a:solidFill>
                  <a:srgbClr val="111827"/>
                </a:solidFill>
              </a:rPr>
              <a:t>Planning</a:t>
            </a:r>
            <a:endParaRPr lang="en-US" sz="1500" dirty="0"/>
          </a:p>
          <a:p>
            <a:pPr algn="ctr" indent="0" marL="0">
              <a:buNone/>
            </a:pPr>
            <a:r>
              <a:rPr lang="en-US" sz="1500" b="1" dirty="0">
                <a:solidFill>
                  <a:srgbClr val="111827"/>
                </a:solidFill>
              </a:rPr>
              <a:t>PRD / specs</a:t>
            </a:r>
            <a:endParaRPr lang="en-US" sz="1500" dirty="0"/>
          </a:p>
        </p:txBody>
      </p:sp>
      <p:sp>
        <p:nvSpPr>
          <p:cNvPr id="10" name="Shape 8"/>
          <p:cNvSpPr/>
          <p:nvPr/>
        </p:nvSpPr>
        <p:spPr>
          <a:xfrm>
            <a:off x="5715000" y="2359152"/>
            <a:ext cx="320040" cy="0"/>
          </a:xfrm>
          <a:prstGeom prst="line">
            <a:avLst/>
          </a:prstGeom>
          <a:noFill/>
          <a:ln w="12700">
            <a:solidFill>
              <a:srgbClr val="64748B"/>
            </a:solidFill>
            <a:prstDash val="solid"/>
            <a:headEnd type="none"/>
            <a:tailEnd type="triangle"/>
          </a:ln>
        </p:spPr>
      </p:sp>
      <p:sp>
        <p:nvSpPr>
          <p:cNvPr id="11" name="Shape 9"/>
          <p:cNvSpPr/>
          <p:nvPr/>
        </p:nvSpPr>
        <p:spPr>
          <a:xfrm>
            <a:off x="6126480" y="1828800"/>
            <a:ext cx="2194560" cy="1051560"/>
          </a:xfrm>
          <a:prstGeom prst="roundRect">
            <a:avLst>
              <a:gd name="adj" fmla="val 6957"/>
            </a:avLst>
          </a:prstGeom>
          <a:solidFill>
            <a:srgbClr val="FFFFFF"/>
          </a:solidFill>
          <a:ln w="12700">
            <a:solidFill>
              <a:srgbClr val="CBD5E1"/>
            </a:solidFill>
            <a:prstDash val="solid"/>
          </a:ln>
        </p:spPr>
      </p:sp>
      <p:sp>
        <p:nvSpPr>
          <p:cNvPr id="12" name="Text 10"/>
          <p:cNvSpPr/>
          <p:nvPr/>
        </p:nvSpPr>
        <p:spPr>
          <a:xfrm>
            <a:off x="6263640" y="1956816"/>
            <a:ext cx="1920240" cy="795528"/>
          </a:xfrm>
          <a:prstGeom prst="rect">
            <a:avLst/>
          </a:prstGeom>
          <a:noFill/>
          <a:ln/>
        </p:spPr>
        <p:txBody>
          <a:bodyPr wrap="square" lIns="254" tIns="254" rIns="254" bIns="254" rtlCol="0" anchor="ctr">
            <a:normAutofit/>
          </a:bodyPr>
          <a:lstStyle/>
          <a:p>
            <a:pPr algn="ctr" indent="0" marL="0">
              <a:buNone/>
            </a:pPr>
            <a:r>
              <a:rPr lang="en-US" sz="1500" b="1" dirty="0">
                <a:solidFill>
                  <a:srgbClr val="111827"/>
                </a:solidFill>
              </a:rPr>
              <a:t>Solutioning</a:t>
            </a:r>
            <a:endParaRPr lang="en-US" sz="1500" dirty="0"/>
          </a:p>
          <a:p>
            <a:pPr algn="ctr" indent="0" marL="0">
              <a:buNone/>
            </a:pPr>
            <a:r>
              <a:rPr lang="en-US" sz="1500" b="1" dirty="0">
                <a:solidFill>
                  <a:srgbClr val="111827"/>
                </a:solidFill>
              </a:rPr>
              <a:t>architecture, epics</a:t>
            </a:r>
            <a:endParaRPr lang="en-US" sz="1500" dirty="0"/>
          </a:p>
        </p:txBody>
      </p:sp>
      <p:sp>
        <p:nvSpPr>
          <p:cNvPr id="13" name="Shape 11"/>
          <p:cNvSpPr/>
          <p:nvPr/>
        </p:nvSpPr>
        <p:spPr>
          <a:xfrm>
            <a:off x="8366760" y="2359152"/>
            <a:ext cx="320040" cy="0"/>
          </a:xfrm>
          <a:prstGeom prst="line">
            <a:avLst/>
          </a:prstGeom>
          <a:noFill/>
          <a:ln w="12700">
            <a:solidFill>
              <a:srgbClr val="64748B"/>
            </a:solidFill>
            <a:prstDash val="solid"/>
            <a:headEnd type="none"/>
            <a:tailEnd type="triangle"/>
          </a:ln>
        </p:spPr>
      </p:sp>
      <p:sp>
        <p:nvSpPr>
          <p:cNvPr id="14" name="Shape 12"/>
          <p:cNvSpPr/>
          <p:nvPr/>
        </p:nvSpPr>
        <p:spPr>
          <a:xfrm>
            <a:off x="8778240" y="1828800"/>
            <a:ext cx="2194560" cy="1051560"/>
          </a:xfrm>
          <a:prstGeom prst="roundRect">
            <a:avLst>
              <a:gd name="adj" fmla="val 6957"/>
            </a:avLst>
          </a:prstGeom>
          <a:solidFill>
            <a:srgbClr val="FFFFFF"/>
          </a:solidFill>
          <a:ln w="12700">
            <a:solidFill>
              <a:srgbClr val="CBD5E1"/>
            </a:solidFill>
            <a:prstDash val="solid"/>
          </a:ln>
        </p:spPr>
      </p:sp>
      <p:sp>
        <p:nvSpPr>
          <p:cNvPr id="15" name="Text 13"/>
          <p:cNvSpPr/>
          <p:nvPr/>
        </p:nvSpPr>
        <p:spPr>
          <a:xfrm>
            <a:off x="8915400" y="1956816"/>
            <a:ext cx="1920240" cy="795528"/>
          </a:xfrm>
          <a:prstGeom prst="rect">
            <a:avLst/>
          </a:prstGeom>
          <a:noFill/>
          <a:ln/>
        </p:spPr>
        <p:txBody>
          <a:bodyPr wrap="square" lIns="254" tIns="254" rIns="254" bIns="254" rtlCol="0" anchor="ctr">
            <a:normAutofit/>
          </a:bodyPr>
          <a:lstStyle/>
          <a:p>
            <a:pPr algn="ctr" indent="0" marL="0">
              <a:buNone/>
            </a:pPr>
            <a:r>
              <a:rPr lang="en-US" sz="1500" b="1" dirty="0">
                <a:solidFill>
                  <a:srgbClr val="111827"/>
                </a:solidFill>
              </a:rPr>
              <a:t>Implementation</a:t>
            </a:r>
            <a:endParaRPr lang="en-US" sz="1500" dirty="0"/>
          </a:p>
          <a:p>
            <a:pPr algn="ctr" indent="0" marL="0">
              <a:buNone/>
            </a:pPr>
            <a:r>
              <a:rPr lang="en-US" sz="1500" b="1" dirty="0">
                <a:solidFill>
                  <a:srgbClr val="111827"/>
                </a:solidFill>
              </a:rPr>
              <a:t>story, dev, review</a:t>
            </a:r>
            <a:endParaRPr lang="en-US" sz="1500" dirty="0"/>
          </a:p>
        </p:txBody>
      </p:sp>
      <p:sp>
        <p:nvSpPr>
          <p:cNvPr id="16" name="Shape 14"/>
          <p:cNvSpPr/>
          <p:nvPr/>
        </p:nvSpPr>
        <p:spPr>
          <a:xfrm>
            <a:off x="1828800" y="3886200"/>
            <a:ext cx="8686800" cy="1005840"/>
          </a:xfrm>
          <a:prstGeom prst="roundRect">
            <a:avLst>
              <a:gd name="adj" fmla="val 7273"/>
            </a:avLst>
          </a:prstGeom>
          <a:solidFill>
            <a:srgbClr val="FFF7ED"/>
          </a:solidFill>
          <a:ln w="12700">
            <a:solidFill>
              <a:srgbClr val="FDBA74"/>
            </a:solidFill>
            <a:prstDash val="solid"/>
          </a:ln>
        </p:spPr>
      </p:sp>
      <p:sp>
        <p:nvSpPr>
          <p:cNvPr id="17" name="Text 15"/>
          <p:cNvSpPr/>
          <p:nvPr/>
        </p:nvSpPr>
        <p:spPr>
          <a:xfrm>
            <a:off x="1965960" y="4014216"/>
            <a:ext cx="8412480" cy="749808"/>
          </a:xfrm>
          <a:prstGeom prst="rect">
            <a:avLst/>
          </a:prstGeom>
          <a:noFill/>
          <a:ln/>
        </p:spPr>
        <p:txBody>
          <a:bodyPr wrap="square" lIns="254" tIns="254" rIns="254" bIns="254" rtlCol="0" anchor="ctr">
            <a:normAutofit/>
          </a:bodyPr>
          <a:lstStyle/>
          <a:p>
            <a:pPr algn="ctr" indent="0" marL="0">
              <a:buNone/>
            </a:pPr>
            <a:r>
              <a:rPr lang="en-US" sz="1900" b="1" dirty="0">
                <a:solidFill>
                  <a:srgbClr val="111827"/>
                </a:solidFill>
              </a:rPr>
              <a:t>Quick Flow exists for small, well-understood changes: clarify → plan → implement → review</a:t>
            </a:r>
            <a:endParaRPr lang="en-US" sz="1900" dirty="0"/>
          </a:p>
        </p:txBody>
      </p:sp>
      <p:sp>
        <p:nvSpPr>
          <p:cNvPr id="18" name="Text 16"/>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18</a:t>
            </a:r>
            <a:endParaRPr lang="en-US" sz="800" dirty="0"/>
          </a:p>
        </p:txBody>
      </p:sp>
      <p:sp>
        <p:nvSpPr>
          <p:cNvPr id="19" name="Text 17"/>
          <p:cNvSpPr/>
          <p:nvPr/>
        </p:nvSpPr>
        <p:spPr>
          <a:xfrm>
            <a:off x="502920" y="6437376"/>
            <a:ext cx="8412480" cy="164592"/>
          </a:xfrm>
          <a:prstGeom prst="rect">
            <a:avLst/>
          </a:prstGeom>
          <a:noFill/>
          <a:ln/>
        </p:spPr>
        <p:txBody>
          <a:bodyPr wrap="square" lIns="0" tIns="0" rIns="0" bIns="0" rtlCol="0" anchor="ctr"/>
          <a:lstStyle/>
          <a:p>
            <a:pPr indent="0" marL="0">
              <a:buNone/>
            </a:pPr>
            <a:r>
              <a:rPr lang="en-US" sz="650" dirty="0">
                <a:solidFill>
                  <a:srgbClr val="94A3B8"/>
                </a:solidFill>
              </a:rPr>
              <a:t>Source: BMAD Method workflow map</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OpenSpec today: change proposals and synced specs</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Core profile is quick; expanded profile gives finer control.</a:t>
            </a:r>
            <a:endParaRPr lang="en-US" sz="1400" dirty="0"/>
          </a:p>
        </p:txBody>
      </p:sp>
      <p:sp>
        <p:nvSpPr>
          <p:cNvPr id="5" name="Shape 3"/>
          <p:cNvSpPr/>
          <p:nvPr/>
        </p:nvSpPr>
        <p:spPr>
          <a:xfrm>
            <a:off x="868680" y="1965960"/>
            <a:ext cx="1737360" cy="731520"/>
          </a:xfrm>
          <a:prstGeom prst="roundRect">
            <a:avLst>
              <a:gd name="adj" fmla="val 10000"/>
            </a:avLst>
          </a:prstGeom>
          <a:solidFill>
            <a:srgbClr val="FFFFFF"/>
          </a:solidFill>
          <a:ln w="12700">
            <a:solidFill>
              <a:srgbClr val="CBD5E1"/>
            </a:solidFill>
            <a:prstDash val="solid"/>
          </a:ln>
        </p:spPr>
      </p:sp>
      <p:sp>
        <p:nvSpPr>
          <p:cNvPr id="6" name="Text 4"/>
          <p:cNvSpPr/>
          <p:nvPr/>
        </p:nvSpPr>
        <p:spPr>
          <a:xfrm>
            <a:off x="1005840" y="2093976"/>
            <a:ext cx="1463040" cy="475488"/>
          </a:xfrm>
          <a:prstGeom prst="rect">
            <a:avLst/>
          </a:prstGeom>
          <a:noFill/>
          <a:ln/>
        </p:spPr>
        <p:txBody>
          <a:bodyPr wrap="square" lIns="254" tIns="254" rIns="254" bIns="254" rtlCol="0" anchor="ctr">
            <a:normAutofit/>
          </a:bodyPr>
          <a:lstStyle/>
          <a:p>
            <a:pPr algn="ctr" indent="0" marL="0">
              <a:buNone/>
            </a:pPr>
            <a:r>
              <a:rPr lang="en-US" sz="1300" b="1" dirty="0">
                <a:solidFill>
                  <a:srgbClr val="111827"/>
                </a:solidFill>
              </a:rPr>
              <a:t>/opsx:explore</a:t>
            </a:r>
            <a:endParaRPr lang="en-US" sz="1300" dirty="0"/>
          </a:p>
        </p:txBody>
      </p:sp>
      <p:sp>
        <p:nvSpPr>
          <p:cNvPr id="7" name="Shape 5"/>
          <p:cNvSpPr/>
          <p:nvPr/>
        </p:nvSpPr>
        <p:spPr>
          <a:xfrm>
            <a:off x="2624328" y="2331720"/>
            <a:ext cx="438912" cy="0"/>
          </a:xfrm>
          <a:prstGeom prst="line">
            <a:avLst/>
          </a:prstGeom>
          <a:noFill/>
          <a:ln w="15240">
            <a:solidFill>
              <a:srgbClr val="64748B"/>
            </a:solidFill>
            <a:prstDash val="solid"/>
            <a:headEnd type="none"/>
            <a:tailEnd type="triangle"/>
          </a:ln>
        </p:spPr>
      </p:sp>
      <p:sp>
        <p:nvSpPr>
          <p:cNvPr id="8" name="Shape 6"/>
          <p:cNvSpPr/>
          <p:nvPr/>
        </p:nvSpPr>
        <p:spPr>
          <a:xfrm>
            <a:off x="3108960" y="1965960"/>
            <a:ext cx="1737360" cy="731520"/>
          </a:xfrm>
          <a:prstGeom prst="roundRect">
            <a:avLst>
              <a:gd name="adj" fmla="val 10000"/>
            </a:avLst>
          </a:prstGeom>
          <a:solidFill>
            <a:srgbClr val="FFF7ED"/>
          </a:solidFill>
          <a:ln w="12700">
            <a:solidFill>
              <a:srgbClr val="FDBA74"/>
            </a:solidFill>
            <a:prstDash val="solid"/>
          </a:ln>
        </p:spPr>
      </p:sp>
      <p:sp>
        <p:nvSpPr>
          <p:cNvPr id="9" name="Text 7"/>
          <p:cNvSpPr/>
          <p:nvPr/>
        </p:nvSpPr>
        <p:spPr>
          <a:xfrm>
            <a:off x="3246120" y="2093976"/>
            <a:ext cx="1463040" cy="475488"/>
          </a:xfrm>
          <a:prstGeom prst="rect">
            <a:avLst/>
          </a:prstGeom>
          <a:noFill/>
          <a:ln/>
        </p:spPr>
        <p:txBody>
          <a:bodyPr wrap="square" lIns="254" tIns="254" rIns="254" bIns="254" rtlCol="0" anchor="ctr">
            <a:normAutofit/>
          </a:bodyPr>
          <a:lstStyle/>
          <a:p>
            <a:pPr algn="ctr" indent="0" marL="0">
              <a:buNone/>
            </a:pPr>
            <a:r>
              <a:rPr lang="en-US" sz="1300" b="1" dirty="0">
                <a:solidFill>
                  <a:srgbClr val="111827"/>
                </a:solidFill>
              </a:rPr>
              <a:t>/opsx:propose</a:t>
            </a:r>
            <a:endParaRPr lang="en-US" sz="1300" dirty="0"/>
          </a:p>
        </p:txBody>
      </p:sp>
      <p:sp>
        <p:nvSpPr>
          <p:cNvPr id="10" name="Shape 8"/>
          <p:cNvSpPr/>
          <p:nvPr/>
        </p:nvSpPr>
        <p:spPr>
          <a:xfrm>
            <a:off x="4864608" y="2331720"/>
            <a:ext cx="438912" cy="0"/>
          </a:xfrm>
          <a:prstGeom prst="line">
            <a:avLst/>
          </a:prstGeom>
          <a:noFill/>
          <a:ln w="15240">
            <a:solidFill>
              <a:srgbClr val="64748B"/>
            </a:solidFill>
            <a:prstDash val="solid"/>
            <a:headEnd type="none"/>
            <a:tailEnd type="triangle"/>
          </a:ln>
        </p:spPr>
      </p:sp>
      <p:sp>
        <p:nvSpPr>
          <p:cNvPr id="11" name="Shape 9"/>
          <p:cNvSpPr/>
          <p:nvPr/>
        </p:nvSpPr>
        <p:spPr>
          <a:xfrm>
            <a:off x="5349240" y="1965960"/>
            <a:ext cx="1737360" cy="731520"/>
          </a:xfrm>
          <a:prstGeom prst="roundRect">
            <a:avLst>
              <a:gd name="adj" fmla="val 10000"/>
            </a:avLst>
          </a:prstGeom>
          <a:solidFill>
            <a:srgbClr val="FFFFFF"/>
          </a:solidFill>
          <a:ln w="12700">
            <a:solidFill>
              <a:srgbClr val="CBD5E1"/>
            </a:solidFill>
            <a:prstDash val="solid"/>
          </a:ln>
        </p:spPr>
      </p:sp>
      <p:sp>
        <p:nvSpPr>
          <p:cNvPr id="12" name="Text 10"/>
          <p:cNvSpPr/>
          <p:nvPr/>
        </p:nvSpPr>
        <p:spPr>
          <a:xfrm>
            <a:off x="5486400" y="2093976"/>
            <a:ext cx="1463040" cy="475488"/>
          </a:xfrm>
          <a:prstGeom prst="rect">
            <a:avLst/>
          </a:prstGeom>
          <a:noFill/>
          <a:ln/>
        </p:spPr>
        <p:txBody>
          <a:bodyPr wrap="square" lIns="254" tIns="254" rIns="254" bIns="254" rtlCol="0" anchor="ctr">
            <a:normAutofit/>
          </a:bodyPr>
          <a:lstStyle/>
          <a:p>
            <a:pPr algn="ctr" indent="0" marL="0">
              <a:buNone/>
            </a:pPr>
            <a:r>
              <a:rPr lang="en-US" sz="1300" b="1" dirty="0">
                <a:solidFill>
                  <a:srgbClr val="111827"/>
                </a:solidFill>
              </a:rPr>
              <a:t>/opsx:apply</a:t>
            </a:r>
            <a:endParaRPr lang="en-US" sz="1300" dirty="0"/>
          </a:p>
        </p:txBody>
      </p:sp>
      <p:sp>
        <p:nvSpPr>
          <p:cNvPr id="13" name="Shape 11"/>
          <p:cNvSpPr/>
          <p:nvPr/>
        </p:nvSpPr>
        <p:spPr>
          <a:xfrm>
            <a:off x="7104888" y="2331720"/>
            <a:ext cx="438912" cy="0"/>
          </a:xfrm>
          <a:prstGeom prst="line">
            <a:avLst/>
          </a:prstGeom>
          <a:noFill/>
          <a:ln w="15240">
            <a:solidFill>
              <a:srgbClr val="64748B"/>
            </a:solidFill>
            <a:prstDash val="solid"/>
            <a:headEnd type="none"/>
            <a:tailEnd type="triangle"/>
          </a:ln>
        </p:spPr>
      </p:sp>
      <p:sp>
        <p:nvSpPr>
          <p:cNvPr id="14" name="Shape 12"/>
          <p:cNvSpPr/>
          <p:nvPr/>
        </p:nvSpPr>
        <p:spPr>
          <a:xfrm>
            <a:off x="7589520" y="1965960"/>
            <a:ext cx="1737360" cy="731520"/>
          </a:xfrm>
          <a:prstGeom prst="roundRect">
            <a:avLst>
              <a:gd name="adj" fmla="val 10000"/>
            </a:avLst>
          </a:prstGeom>
          <a:solidFill>
            <a:srgbClr val="FFFFFF"/>
          </a:solidFill>
          <a:ln w="12700">
            <a:solidFill>
              <a:srgbClr val="CBD5E1"/>
            </a:solidFill>
            <a:prstDash val="solid"/>
          </a:ln>
        </p:spPr>
      </p:sp>
      <p:sp>
        <p:nvSpPr>
          <p:cNvPr id="15" name="Text 13"/>
          <p:cNvSpPr/>
          <p:nvPr/>
        </p:nvSpPr>
        <p:spPr>
          <a:xfrm>
            <a:off x="7726680" y="2093976"/>
            <a:ext cx="1463040" cy="475488"/>
          </a:xfrm>
          <a:prstGeom prst="rect">
            <a:avLst/>
          </a:prstGeom>
          <a:noFill/>
          <a:ln/>
        </p:spPr>
        <p:txBody>
          <a:bodyPr wrap="square" lIns="254" tIns="254" rIns="254" bIns="254" rtlCol="0" anchor="ctr">
            <a:normAutofit/>
          </a:bodyPr>
          <a:lstStyle/>
          <a:p>
            <a:pPr algn="ctr" indent="0" marL="0">
              <a:buNone/>
            </a:pPr>
            <a:r>
              <a:rPr lang="en-US" sz="1300" b="1" dirty="0">
                <a:solidFill>
                  <a:srgbClr val="111827"/>
                </a:solidFill>
              </a:rPr>
              <a:t>/opsx:sync</a:t>
            </a:r>
            <a:endParaRPr lang="en-US" sz="1300" dirty="0"/>
          </a:p>
        </p:txBody>
      </p:sp>
      <p:sp>
        <p:nvSpPr>
          <p:cNvPr id="16" name="Shape 14"/>
          <p:cNvSpPr/>
          <p:nvPr/>
        </p:nvSpPr>
        <p:spPr>
          <a:xfrm>
            <a:off x="9345168" y="2331720"/>
            <a:ext cx="438912" cy="0"/>
          </a:xfrm>
          <a:prstGeom prst="line">
            <a:avLst/>
          </a:prstGeom>
          <a:noFill/>
          <a:ln w="15240">
            <a:solidFill>
              <a:srgbClr val="64748B"/>
            </a:solidFill>
            <a:prstDash val="solid"/>
            <a:headEnd type="none"/>
            <a:tailEnd type="triangle"/>
          </a:ln>
        </p:spPr>
      </p:sp>
      <p:sp>
        <p:nvSpPr>
          <p:cNvPr id="17" name="Shape 15"/>
          <p:cNvSpPr/>
          <p:nvPr/>
        </p:nvSpPr>
        <p:spPr>
          <a:xfrm>
            <a:off x="9829800" y="1965960"/>
            <a:ext cx="1737360" cy="731520"/>
          </a:xfrm>
          <a:prstGeom prst="roundRect">
            <a:avLst>
              <a:gd name="adj" fmla="val 10000"/>
            </a:avLst>
          </a:prstGeom>
          <a:solidFill>
            <a:srgbClr val="FFFFFF"/>
          </a:solidFill>
          <a:ln w="12700">
            <a:solidFill>
              <a:srgbClr val="CBD5E1"/>
            </a:solidFill>
            <a:prstDash val="solid"/>
          </a:ln>
        </p:spPr>
      </p:sp>
      <p:sp>
        <p:nvSpPr>
          <p:cNvPr id="18" name="Text 16"/>
          <p:cNvSpPr/>
          <p:nvPr/>
        </p:nvSpPr>
        <p:spPr>
          <a:xfrm>
            <a:off x="9966960" y="2093976"/>
            <a:ext cx="1463040" cy="475488"/>
          </a:xfrm>
          <a:prstGeom prst="rect">
            <a:avLst/>
          </a:prstGeom>
          <a:noFill/>
          <a:ln/>
        </p:spPr>
        <p:txBody>
          <a:bodyPr wrap="square" lIns="254" tIns="254" rIns="254" bIns="254" rtlCol="0" anchor="ctr">
            <a:normAutofit/>
          </a:bodyPr>
          <a:lstStyle/>
          <a:p>
            <a:pPr algn="ctr" indent="0" marL="0">
              <a:buNone/>
            </a:pPr>
            <a:r>
              <a:rPr lang="en-US" sz="1300" b="1" dirty="0">
                <a:solidFill>
                  <a:srgbClr val="111827"/>
                </a:solidFill>
              </a:rPr>
              <a:t>/opsx:archive</a:t>
            </a:r>
            <a:endParaRPr lang="en-US" sz="1300" dirty="0"/>
          </a:p>
        </p:txBody>
      </p:sp>
      <p:sp>
        <p:nvSpPr>
          <p:cNvPr id="19" name="Text 17"/>
          <p:cNvSpPr/>
          <p:nvPr/>
        </p:nvSpPr>
        <p:spPr>
          <a:xfrm>
            <a:off x="1005840" y="3703320"/>
            <a:ext cx="10058400" cy="457200"/>
          </a:xfrm>
          <a:prstGeom prst="rect">
            <a:avLst/>
          </a:prstGeom>
          <a:noFill/>
          <a:ln/>
        </p:spPr>
        <p:txBody>
          <a:bodyPr wrap="square" lIns="635" tIns="635" rIns="635" bIns="635" rtlCol="0" anchor="t">
            <a:normAutofit/>
          </a:bodyPr>
          <a:lstStyle/>
          <a:p>
            <a:pPr indent="0" marL="0">
              <a:buNone/>
            </a:pPr>
            <a:r>
              <a:rPr lang="en-US" sz="2000" dirty="0">
                <a:solidFill>
                  <a:srgbClr val="111827"/>
                </a:solidFill>
              </a:rPr>
              <a:t>Expanded workflow adds `/opsx:verify`, `/opsx:update`, `/opsx:onboard` and other controls.</a:t>
            </a:r>
            <a:endParaRPr lang="en-US" sz="2000" dirty="0"/>
          </a:p>
        </p:txBody>
      </p:sp>
      <p:sp>
        <p:nvSpPr>
          <p:cNvPr id="20" name="Text 18"/>
          <p:cNvSpPr/>
          <p:nvPr/>
        </p:nvSpPr>
        <p:spPr>
          <a:xfrm>
            <a:off x="1005840" y="4434840"/>
            <a:ext cx="10058400" cy="411480"/>
          </a:xfrm>
          <a:prstGeom prst="rect">
            <a:avLst/>
          </a:prstGeom>
          <a:noFill/>
          <a:ln/>
        </p:spPr>
        <p:txBody>
          <a:bodyPr wrap="square" lIns="635" tIns="635" rIns="635" bIns="635" rtlCol="0" anchor="t">
            <a:normAutofit/>
          </a:bodyPr>
          <a:lstStyle/>
          <a:p>
            <a:pPr indent="0" marL="0">
              <a:buNone/>
            </a:pPr>
            <a:r>
              <a:rPr lang="en-US" sz="1800" dirty="0">
                <a:solidFill>
                  <a:srgbClr val="64748B"/>
                </a:solidFill>
              </a:rPr>
              <a:t>Useful positioning: more spec-anchored than a one-off spec, because changes can sync into current specs.</a:t>
            </a:r>
            <a:endParaRPr lang="en-US" sz="1800" dirty="0"/>
          </a:p>
        </p:txBody>
      </p:sp>
      <p:sp>
        <p:nvSpPr>
          <p:cNvPr id="21" name="Text 19"/>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19</a:t>
            </a:r>
            <a:endParaRPr lang="en-US" sz="800" dirty="0"/>
          </a:p>
        </p:txBody>
      </p:sp>
      <p:sp>
        <p:nvSpPr>
          <p:cNvPr id="22" name="Text 20"/>
          <p:cNvSpPr/>
          <p:nvPr/>
        </p:nvSpPr>
        <p:spPr>
          <a:xfrm>
            <a:off x="502920" y="6437376"/>
            <a:ext cx="8412480" cy="164592"/>
          </a:xfrm>
          <a:prstGeom prst="rect">
            <a:avLst/>
          </a:prstGeom>
          <a:noFill/>
          <a:ln/>
        </p:spPr>
        <p:txBody>
          <a:bodyPr wrap="square" lIns="0" tIns="0" rIns="0" bIns="0" rtlCol="0" anchor="ctr"/>
          <a:lstStyle/>
          <a:p>
            <a:pPr indent="0" marL="0">
              <a:buNone/>
            </a:pPr>
            <a:r>
              <a:rPr lang="en-US" sz="650" dirty="0">
                <a:solidFill>
                  <a:srgbClr val="94A3B8"/>
                </a:solidFill>
              </a:rPr>
              <a:t>Source: OpenSpec OPSX docs</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Current market lesson: frameworks are shrinking around stronger base agents</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Do not bet the mindset on one framework feature list.</a:t>
            </a:r>
            <a:endParaRPr lang="en-US" sz="1400" dirty="0"/>
          </a:p>
        </p:txBody>
      </p:sp>
      <p:sp>
        <p:nvSpPr>
          <p:cNvPr id="5" name="Shape 3"/>
          <p:cNvSpPr/>
          <p:nvPr/>
        </p:nvSpPr>
        <p:spPr>
          <a:xfrm>
            <a:off x="914400" y="1645920"/>
            <a:ext cx="4754880" cy="2468880"/>
          </a:xfrm>
          <a:prstGeom prst="roundRect">
            <a:avLst>
              <a:gd name="adj" fmla="val 2963"/>
            </a:avLst>
          </a:prstGeom>
          <a:solidFill>
            <a:srgbClr val="FFFFFF"/>
          </a:solidFill>
          <a:ln w="12700">
            <a:solidFill>
              <a:srgbClr val="CBD5E1"/>
            </a:solidFill>
            <a:prstDash val="solid"/>
          </a:ln>
        </p:spPr>
      </p:sp>
      <p:sp>
        <p:nvSpPr>
          <p:cNvPr id="6" name="Text 4"/>
          <p:cNvSpPr/>
          <p:nvPr/>
        </p:nvSpPr>
        <p:spPr>
          <a:xfrm>
            <a:off x="1051560" y="1773936"/>
            <a:ext cx="4480560" cy="2212848"/>
          </a:xfrm>
          <a:prstGeom prst="rect">
            <a:avLst/>
          </a:prstGeom>
          <a:noFill/>
          <a:ln/>
        </p:spPr>
        <p:txBody>
          <a:bodyPr wrap="square" lIns="254" tIns="254" rIns="254" bIns="254" rtlCol="0" anchor="ctr">
            <a:normAutofit/>
          </a:bodyPr>
          <a:lstStyle/>
          <a:p>
            <a:pPr algn="ctr" indent="0" marL="0">
              <a:buNone/>
            </a:pPr>
            <a:r>
              <a:rPr lang="en-US" sz="1800" b="1" dirty="0">
                <a:solidFill>
                  <a:srgbClr val="111827"/>
                </a:solidFill>
              </a:rPr>
              <a:t>Agent OS v3 example</a:t>
            </a:r>
            <a:endParaRPr lang="en-US" sz="1800" dirty="0"/>
          </a:p>
          <a:p>
            <a:pPr algn="ctr" indent="0" marL="0">
              <a:buNone/>
            </a:pPr>
            <a:endParaRPr lang="en-US" sz="1800" dirty="0"/>
          </a:p>
          <a:p>
            <a:pPr algn="ctr" indent="0" marL="0">
              <a:buNone/>
            </a:pPr>
            <a:r>
              <a:rPr lang="en-US" sz="1800" b="1" dirty="0">
                <a:solidFill>
                  <a:srgbClr val="111827"/>
                </a:solidFill>
              </a:rPr>
              <a:t>Removed or delegated older spec-writing, task-breakdown and orchestration features as base AI planning improved.</a:t>
            </a:r>
            <a:endParaRPr lang="en-US" sz="1800" dirty="0"/>
          </a:p>
        </p:txBody>
      </p:sp>
      <p:sp>
        <p:nvSpPr>
          <p:cNvPr id="7" name="Shape 5"/>
          <p:cNvSpPr/>
          <p:nvPr/>
        </p:nvSpPr>
        <p:spPr>
          <a:xfrm>
            <a:off x="6400800" y="1645920"/>
            <a:ext cx="4754880" cy="2468880"/>
          </a:xfrm>
          <a:prstGeom prst="roundRect">
            <a:avLst>
              <a:gd name="adj" fmla="val 2963"/>
            </a:avLst>
          </a:prstGeom>
          <a:solidFill>
            <a:srgbClr val="ECFDF5"/>
          </a:solidFill>
          <a:ln w="12700">
            <a:solidFill>
              <a:srgbClr val="86EFAC"/>
            </a:solidFill>
            <a:prstDash val="solid"/>
          </a:ln>
        </p:spPr>
      </p:sp>
      <p:sp>
        <p:nvSpPr>
          <p:cNvPr id="8" name="Text 6"/>
          <p:cNvSpPr/>
          <p:nvPr/>
        </p:nvSpPr>
        <p:spPr>
          <a:xfrm>
            <a:off x="6537960" y="1773936"/>
            <a:ext cx="4480560" cy="2212848"/>
          </a:xfrm>
          <a:prstGeom prst="rect">
            <a:avLst/>
          </a:prstGeom>
          <a:noFill/>
          <a:ln/>
        </p:spPr>
        <p:txBody>
          <a:bodyPr wrap="square" lIns="254" tIns="254" rIns="254" bIns="254" rtlCol="0" anchor="ctr">
            <a:normAutofit/>
          </a:bodyPr>
          <a:lstStyle/>
          <a:p>
            <a:pPr algn="ctr" indent="0" marL="0">
              <a:buNone/>
            </a:pPr>
            <a:r>
              <a:rPr lang="en-US" sz="1800" b="1" dirty="0">
                <a:solidFill>
                  <a:srgbClr val="111827"/>
                </a:solidFill>
              </a:rPr>
              <a:t>What remains valuable</a:t>
            </a:r>
            <a:endParaRPr lang="en-US" sz="1800" dirty="0"/>
          </a:p>
          <a:p>
            <a:pPr algn="ctr" indent="0" marL="0">
              <a:buNone/>
            </a:pPr>
            <a:endParaRPr lang="en-US" sz="1800" dirty="0"/>
          </a:p>
          <a:p>
            <a:pPr algn="ctr" indent="0" marL="0">
              <a:buNone/>
            </a:pPr>
            <a:r>
              <a:rPr lang="en-US" sz="1800" b="1" dirty="0">
                <a:solidFill>
                  <a:srgbClr val="111827"/>
                </a:solidFill>
              </a:rPr>
              <a:t>Standards, context injection, durable intent, human review, verification and governance.</a:t>
            </a:r>
            <a:endParaRPr lang="en-US" sz="1800" dirty="0"/>
          </a:p>
        </p:txBody>
      </p:sp>
      <p:sp>
        <p:nvSpPr>
          <p:cNvPr id="9" name="Text 7"/>
          <p:cNvSpPr/>
          <p:nvPr/>
        </p:nvSpPr>
        <p:spPr>
          <a:xfrm>
            <a:off x="1097280" y="4937760"/>
            <a:ext cx="9966960" cy="457200"/>
          </a:xfrm>
          <a:prstGeom prst="rect">
            <a:avLst/>
          </a:prstGeom>
          <a:noFill/>
          <a:ln/>
        </p:spPr>
        <p:txBody>
          <a:bodyPr wrap="square" lIns="635" tIns="635" rIns="635" bIns="635" rtlCol="0" anchor="t">
            <a:normAutofit/>
          </a:bodyPr>
          <a:lstStyle/>
          <a:p>
            <a:pPr indent="0" marL="0">
              <a:buNone/>
            </a:pPr>
            <a:r>
              <a:rPr lang="en-US" sz="2000" dirty="0">
                <a:solidFill>
                  <a:srgbClr val="111827"/>
                </a:solidFill>
              </a:rPr>
              <a:t>The winning capability is not “more generated Markdown.” It is governed intent plus controlled execution.</a:t>
            </a:r>
            <a:endParaRPr lang="en-US" sz="2000" dirty="0"/>
          </a:p>
        </p:txBody>
      </p:sp>
      <p:sp>
        <p:nvSpPr>
          <p:cNvPr id="10" name="Text 8"/>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20</a:t>
            </a:r>
            <a:endParaRPr lang="en-US" sz="800" dirty="0"/>
          </a:p>
        </p:txBody>
      </p:sp>
      <p:sp>
        <p:nvSpPr>
          <p:cNvPr id="11" name="Text 9"/>
          <p:cNvSpPr/>
          <p:nvPr/>
        </p:nvSpPr>
        <p:spPr>
          <a:xfrm>
            <a:off x="502920" y="6437376"/>
            <a:ext cx="8412480" cy="164592"/>
          </a:xfrm>
          <a:prstGeom prst="rect">
            <a:avLst/>
          </a:prstGeom>
          <a:noFill/>
          <a:ln/>
        </p:spPr>
        <p:txBody>
          <a:bodyPr wrap="square" lIns="0" tIns="0" rIns="0" bIns="0" rtlCol="0" anchor="ctr"/>
          <a:lstStyle/>
          <a:p>
            <a:pPr indent="0" marL="0">
              <a:buNone/>
            </a:pPr>
            <a:r>
              <a:rPr lang="en-US" sz="650" dirty="0">
                <a:solidFill>
                  <a:srgbClr val="94A3B8"/>
                </a:solidFill>
              </a:rPr>
              <a:t>Source: Agent OS v3 migration</a:t>
            </a:r>
            <a:endParaRPr lang="en-US" sz="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731520" y="2331720"/>
            <a:ext cx="10789920" cy="685800"/>
          </a:xfrm>
          <a:prstGeom prst="rect">
            <a:avLst/>
          </a:prstGeom>
          <a:noFill/>
          <a:ln/>
        </p:spPr>
        <p:txBody>
          <a:bodyPr wrap="square" lIns="0" tIns="0" rIns="0" bIns="0" rtlCol="0" anchor="ct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SEGMENT 5</a:t>
            </a:r>
            <a:endParaRPr lang="en-US" sz="4200" dirty="0"/>
          </a:p>
        </p:txBody>
      </p:sp>
      <p:sp>
        <p:nvSpPr>
          <p:cNvPr id="4" name="Text 2"/>
          <p:cNvSpPr/>
          <p:nvPr/>
        </p:nvSpPr>
        <p:spPr>
          <a:xfrm>
            <a:off x="777240" y="3127248"/>
            <a:ext cx="9875520" cy="411480"/>
          </a:xfrm>
          <a:prstGeom prst="rect">
            <a:avLst/>
          </a:prstGeom>
          <a:noFill/>
          <a:ln/>
        </p:spPr>
        <p:txBody>
          <a:bodyPr wrap="square" lIns="0" tIns="0" rIns="0" bIns="0" rtlCol="0" anchor="ctr"/>
          <a:lstStyle/>
          <a:p>
            <a:pPr indent="0" marL="0">
              <a:buNone/>
            </a:pPr>
            <a:r>
              <a:rPr lang="en-US" sz="1800" dirty="0">
                <a:solidFill>
                  <a:srgbClr val="CBD5E1"/>
                </a:solidFill>
              </a:rPr>
              <a:t>Evidence and guardrails — specs help, but they do not guarantee correctness</a:t>
            </a:r>
            <a:endParaRPr lang="en-US" sz="1800" dirty="0"/>
          </a:p>
        </p:txBody>
      </p:sp>
      <p:sp>
        <p:nvSpPr>
          <p:cNvPr id="5" name="Shape 3"/>
          <p:cNvSpPr/>
          <p:nvPr/>
        </p:nvSpPr>
        <p:spPr>
          <a:xfrm>
            <a:off x="777240" y="3703320"/>
            <a:ext cx="2926080" cy="0"/>
          </a:xfrm>
          <a:prstGeom prst="line">
            <a:avLst/>
          </a:prstGeom>
          <a:noFill/>
          <a:ln w="50800">
            <a:solidFill>
              <a:srgbClr val="F97316"/>
            </a:solidFill>
            <a:prstDash val="solid"/>
          </a:ln>
        </p:spPr>
      </p:sp>
      <p:sp>
        <p:nvSpPr>
          <p:cNvPr id="6" name="Text 4"/>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CBD5E1"/>
                </a:solidFill>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Writing the rule is necessary. It is not sufficient.</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Our pilot showed why verification must stay in the process.</a:t>
            </a:r>
            <a:endParaRPr lang="en-US" sz="1400" dirty="0"/>
          </a:p>
        </p:txBody>
      </p:sp>
      <p:sp>
        <p:nvSpPr>
          <p:cNvPr id="5" name="Shape 3"/>
          <p:cNvSpPr/>
          <p:nvPr/>
        </p:nvSpPr>
        <p:spPr>
          <a:xfrm>
            <a:off x="822960" y="1828800"/>
            <a:ext cx="2834640" cy="1097280"/>
          </a:xfrm>
          <a:prstGeom prst="roundRect">
            <a:avLst>
              <a:gd name="adj" fmla="val 6667"/>
            </a:avLst>
          </a:prstGeom>
          <a:solidFill>
            <a:srgbClr val="FFFFFF"/>
          </a:solidFill>
          <a:ln w="12700">
            <a:solidFill>
              <a:srgbClr val="CBD5E1"/>
            </a:solidFill>
            <a:prstDash val="solid"/>
          </a:ln>
        </p:spPr>
      </p:sp>
      <p:sp>
        <p:nvSpPr>
          <p:cNvPr id="6" name="Text 4"/>
          <p:cNvSpPr/>
          <p:nvPr/>
        </p:nvSpPr>
        <p:spPr>
          <a:xfrm>
            <a:off x="960120" y="1956816"/>
            <a:ext cx="2560320" cy="841248"/>
          </a:xfrm>
          <a:prstGeom prst="rect">
            <a:avLst/>
          </a:prstGeom>
          <a:noFill/>
          <a:ln/>
        </p:spPr>
        <p:txBody>
          <a:bodyPr wrap="square" lIns="254" tIns="254" rIns="254" bIns="254" rtlCol="0" anchor="ctr">
            <a:normAutofit/>
          </a:bodyPr>
          <a:lstStyle/>
          <a:p>
            <a:pPr algn="ctr" indent="0" marL="0">
              <a:buNone/>
            </a:pPr>
            <a:r>
              <a:rPr lang="en-US" sz="1700" b="1" dirty="0">
                <a:solidFill>
                  <a:srgbClr val="111827"/>
                </a:solidFill>
              </a:rPr>
              <a:t>RULE</a:t>
            </a:r>
            <a:endParaRPr lang="en-US" sz="1700" dirty="0"/>
          </a:p>
          <a:p>
            <a:pPr algn="ctr" indent="0" marL="0">
              <a:buNone/>
            </a:pPr>
            <a:r>
              <a:rPr lang="en-US" sz="1700" b="1" dirty="0">
                <a:solidFill>
                  <a:srgbClr val="111827"/>
                </a:solidFill>
              </a:rPr>
              <a:t>“No business logic in controllers”</a:t>
            </a:r>
            <a:endParaRPr lang="en-US" sz="1700" dirty="0"/>
          </a:p>
        </p:txBody>
      </p:sp>
      <p:sp>
        <p:nvSpPr>
          <p:cNvPr id="7" name="Shape 5"/>
          <p:cNvSpPr/>
          <p:nvPr/>
        </p:nvSpPr>
        <p:spPr>
          <a:xfrm>
            <a:off x="3749040" y="2377440"/>
            <a:ext cx="594360" cy="0"/>
          </a:xfrm>
          <a:prstGeom prst="line">
            <a:avLst/>
          </a:prstGeom>
          <a:noFill/>
          <a:ln w="19050">
            <a:solidFill>
              <a:srgbClr val="64748B"/>
            </a:solidFill>
            <a:prstDash val="solid"/>
            <a:headEnd type="none"/>
            <a:tailEnd type="triangle"/>
          </a:ln>
        </p:spPr>
      </p:sp>
      <p:sp>
        <p:nvSpPr>
          <p:cNvPr id="8" name="Shape 6"/>
          <p:cNvSpPr/>
          <p:nvPr/>
        </p:nvSpPr>
        <p:spPr>
          <a:xfrm>
            <a:off x="4526280" y="1828800"/>
            <a:ext cx="2971800" cy="1097280"/>
          </a:xfrm>
          <a:prstGeom prst="roundRect">
            <a:avLst>
              <a:gd name="adj" fmla="val 6667"/>
            </a:avLst>
          </a:prstGeom>
          <a:solidFill>
            <a:srgbClr val="FEF2F2"/>
          </a:solidFill>
          <a:ln w="12700">
            <a:solidFill>
              <a:srgbClr val="FCA5A5"/>
            </a:solidFill>
            <a:prstDash val="solid"/>
          </a:ln>
        </p:spPr>
      </p:sp>
      <p:sp>
        <p:nvSpPr>
          <p:cNvPr id="9" name="Text 7"/>
          <p:cNvSpPr/>
          <p:nvPr/>
        </p:nvSpPr>
        <p:spPr>
          <a:xfrm>
            <a:off x="4663440" y="1956816"/>
            <a:ext cx="2697480" cy="841248"/>
          </a:xfrm>
          <a:prstGeom prst="rect">
            <a:avLst/>
          </a:prstGeom>
          <a:noFill/>
          <a:ln/>
        </p:spPr>
        <p:txBody>
          <a:bodyPr wrap="square" lIns="254" tIns="254" rIns="254" bIns="254" rtlCol="0" anchor="ctr">
            <a:normAutofit/>
          </a:bodyPr>
          <a:lstStyle/>
          <a:p>
            <a:pPr algn="ctr" indent="0" marL="0">
              <a:buNone/>
            </a:pPr>
            <a:r>
              <a:rPr lang="en-US" sz="1700" b="1" dirty="0">
                <a:solidFill>
                  <a:srgbClr val="111827"/>
                </a:solidFill>
              </a:rPr>
              <a:t>GENERATED RESULT</a:t>
            </a:r>
            <a:endParaRPr lang="en-US" sz="1700" dirty="0"/>
          </a:p>
          <a:p>
            <a:pPr algn="ctr" indent="0" marL="0">
              <a:buNone/>
            </a:pPr>
            <a:r>
              <a:rPr lang="en-US" sz="1700" b="1" dirty="0">
                <a:solidFill>
                  <a:srgbClr val="111827"/>
                </a:solidFill>
              </a:rPr>
              <a:t>Controller called database directly</a:t>
            </a:r>
            <a:endParaRPr lang="en-US" sz="1700" dirty="0"/>
          </a:p>
        </p:txBody>
      </p:sp>
      <p:sp>
        <p:nvSpPr>
          <p:cNvPr id="10" name="Shape 8"/>
          <p:cNvSpPr/>
          <p:nvPr/>
        </p:nvSpPr>
        <p:spPr>
          <a:xfrm>
            <a:off x="7589520" y="2377440"/>
            <a:ext cx="594360" cy="0"/>
          </a:xfrm>
          <a:prstGeom prst="line">
            <a:avLst/>
          </a:prstGeom>
          <a:noFill/>
          <a:ln w="19050">
            <a:solidFill>
              <a:srgbClr val="64748B"/>
            </a:solidFill>
            <a:prstDash val="solid"/>
            <a:headEnd type="none"/>
            <a:tailEnd type="triangle"/>
          </a:ln>
        </p:spPr>
      </p:sp>
      <p:sp>
        <p:nvSpPr>
          <p:cNvPr id="11" name="Shape 9"/>
          <p:cNvSpPr/>
          <p:nvPr/>
        </p:nvSpPr>
        <p:spPr>
          <a:xfrm>
            <a:off x="8366760" y="1828800"/>
            <a:ext cx="3017520" cy="1097280"/>
          </a:xfrm>
          <a:prstGeom prst="roundRect">
            <a:avLst>
              <a:gd name="adj" fmla="val 6667"/>
            </a:avLst>
          </a:prstGeom>
          <a:solidFill>
            <a:srgbClr val="ECFDF5"/>
          </a:solidFill>
          <a:ln w="12700">
            <a:solidFill>
              <a:srgbClr val="86EFAC"/>
            </a:solidFill>
            <a:prstDash val="solid"/>
          </a:ln>
        </p:spPr>
      </p:sp>
      <p:sp>
        <p:nvSpPr>
          <p:cNvPr id="12" name="Text 10"/>
          <p:cNvSpPr/>
          <p:nvPr/>
        </p:nvSpPr>
        <p:spPr>
          <a:xfrm>
            <a:off x="8503920" y="1956816"/>
            <a:ext cx="2743200" cy="841248"/>
          </a:xfrm>
          <a:prstGeom prst="rect">
            <a:avLst/>
          </a:prstGeom>
          <a:noFill/>
          <a:ln/>
        </p:spPr>
        <p:txBody>
          <a:bodyPr wrap="square" lIns="254" tIns="254" rIns="254" bIns="254" rtlCol="0" anchor="ctr">
            <a:normAutofit/>
          </a:bodyPr>
          <a:lstStyle/>
          <a:p>
            <a:pPr algn="ctr" indent="0" marL="0">
              <a:buNone/>
            </a:pPr>
            <a:r>
              <a:rPr lang="en-US" sz="1700" b="1" dirty="0">
                <a:solidFill>
                  <a:srgbClr val="111827"/>
                </a:solidFill>
              </a:rPr>
              <a:t>LESSON</a:t>
            </a:r>
            <a:endParaRPr lang="en-US" sz="1700" dirty="0"/>
          </a:p>
          <a:p>
            <a:pPr algn="ctr" indent="0" marL="0">
              <a:buNone/>
            </a:pPr>
            <a:r>
              <a:rPr lang="en-US" sz="1700" b="1" dirty="0">
                <a:solidFill>
                  <a:srgbClr val="111827"/>
                </a:solidFill>
              </a:rPr>
              <a:t>Verify the implementation, not just the document</a:t>
            </a:r>
            <a:endParaRPr lang="en-US" sz="1700" dirty="0"/>
          </a:p>
        </p:txBody>
      </p:sp>
      <p:sp>
        <p:nvSpPr>
          <p:cNvPr id="13" name="Text 11"/>
          <p:cNvSpPr/>
          <p:nvPr/>
        </p:nvSpPr>
        <p:spPr>
          <a:xfrm>
            <a:off x="960120" y="4206240"/>
            <a:ext cx="10332720" cy="548640"/>
          </a:xfrm>
          <a:prstGeom prst="rect">
            <a:avLst/>
          </a:prstGeom>
          <a:noFill/>
          <a:ln/>
        </p:spPr>
        <p:txBody>
          <a:bodyPr wrap="square" lIns="635" tIns="635" rIns="635" bIns="635" rtlCol="0" anchor="t">
            <a:normAutofit/>
          </a:bodyPr>
          <a:lstStyle/>
          <a:p>
            <a:pPr indent="0" marL="0">
              <a:buNone/>
            </a:pPr>
            <a:r>
              <a:rPr lang="en-US" sz="2200" dirty="0">
                <a:solidFill>
                  <a:srgbClr val="111827"/>
                </a:solidFill>
              </a:rPr>
              <a:t>This is not a reason to avoid SDD. It is the reason SDD must include review, tests and convergence checks.</a:t>
            </a:r>
            <a:endParaRPr lang="en-US" sz="2200" dirty="0"/>
          </a:p>
        </p:txBody>
      </p:sp>
      <p:sp>
        <p:nvSpPr>
          <p:cNvPr id="14" name="Text 12"/>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22</a:t>
            </a:r>
            <a:endParaRPr lang="en-US" sz="800" dirty="0"/>
          </a:p>
        </p:txBody>
      </p:sp>
      <p:sp>
        <p:nvSpPr>
          <p:cNvPr id="15" name="Text 13"/>
          <p:cNvSpPr/>
          <p:nvPr/>
        </p:nvSpPr>
        <p:spPr>
          <a:xfrm>
            <a:off x="502920" y="6437376"/>
            <a:ext cx="8412480" cy="164592"/>
          </a:xfrm>
          <a:prstGeom prst="rect">
            <a:avLst/>
          </a:prstGeom>
          <a:noFill/>
          <a:ln/>
        </p:spPr>
        <p:txBody>
          <a:bodyPr wrap="square" lIns="0" tIns="0" rIns="0" bIns="0" rtlCol="0" anchor="ctr"/>
          <a:lstStyle/>
          <a:p>
            <a:pPr indent="0" marL="0">
              <a:buNone/>
            </a:pPr>
            <a:r>
              <a:rPr lang="en-US" sz="650" dirty="0">
                <a:solidFill>
                  <a:srgbClr val="94A3B8"/>
                </a:solidFill>
              </a:rPr>
              <a:t>Source: internal pilot + Martin Fowler / Thoughtworks caution on AI-interpreted artifacts</a:t>
            </a:r>
            <a:endParaRPr lang="en-US" sz="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When something goes wrong, classify the gap first</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This is the behavior change SDD should create in teams.</a:t>
            </a:r>
            <a:endParaRPr lang="en-US" sz="1400" dirty="0"/>
          </a:p>
        </p:txBody>
      </p:sp>
      <p:sp>
        <p:nvSpPr>
          <p:cNvPr id="5" name="Shape 3"/>
          <p:cNvSpPr/>
          <p:nvPr/>
        </p:nvSpPr>
        <p:spPr>
          <a:xfrm>
            <a:off x="868680" y="1783080"/>
            <a:ext cx="5120640" cy="3063240"/>
          </a:xfrm>
          <a:prstGeom prst="roundRect">
            <a:avLst>
              <a:gd name="adj" fmla="val 2388"/>
            </a:avLst>
          </a:prstGeom>
          <a:solidFill>
            <a:srgbClr val="FEF2F2"/>
          </a:solidFill>
          <a:ln w="12700">
            <a:solidFill>
              <a:srgbClr val="FCA5A5"/>
            </a:solidFill>
            <a:prstDash val="solid"/>
          </a:ln>
        </p:spPr>
      </p:sp>
      <p:sp>
        <p:nvSpPr>
          <p:cNvPr id="6" name="Text 4"/>
          <p:cNvSpPr/>
          <p:nvPr/>
        </p:nvSpPr>
        <p:spPr>
          <a:xfrm>
            <a:off x="1005840" y="1911096"/>
            <a:ext cx="4846320" cy="2807208"/>
          </a:xfrm>
          <a:prstGeom prst="rect">
            <a:avLst/>
          </a:prstGeom>
          <a:noFill/>
          <a:ln/>
        </p:spPr>
        <p:txBody>
          <a:bodyPr wrap="square" lIns="254" tIns="254" rIns="254" bIns="254" rtlCol="0" anchor="ctr">
            <a:normAutofit/>
          </a:bodyPr>
          <a:lstStyle/>
          <a:p>
            <a:pPr algn="ctr" indent="0" marL="0">
              <a:buNone/>
            </a:pPr>
            <a:r>
              <a:rPr lang="en-US" sz="1900" b="1" dirty="0">
                <a:solidFill>
                  <a:srgbClr val="111827"/>
                </a:solidFill>
              </a:rPr>
              <a:t>SPEC → IMPLEMENTATION GAP</a:t>
            </a:r>
            <a:endParaRPr lang="en-US" sz="1900" dirty="0"/>
          </a:p>
          <a:p>
            <a:pPr algn="ctr" indent="0" marL="0">
              <a:buNone/>
            </a:pPr>
            <a:endParaRPr lang="en-US" sz="1900" dirty="0"/>
          </a:p>
          <a:p>
            <a:pPr algn="ctr" indent="0" marL="0">
              <a:buNone/>
            </a:pPr>
            <a:r>
              <a:rPr lang="en-US" sz="1900" b="1" dirty="0">
                <a:solidFill>
                  <a:srgbClr val="111827"/>
                </a:solidFill>
              </a:rPr>
              <a:t>We described it correctly.</a:t>
            </a:r>
            <a:endParaRPr lang="en-US" sz="1900" dirty="0"/>
          </a:p>
          <a:p>
            <a:pPr algn="ctr" indent="0" marL="0">
              <a:buNone/>
            </a:pPr>
            <a:r>
              <a:rPr lang="en-US" sz="1900" b="1" dirty="0">
                <a:solidFill>
                  <a:srgbClr val="111827"/>
                </a:solidFill>
              </a:rPr>
              <a:t>The code did something else.</a:t>
            </a:r>
            <a:endParaRPr lang="en-US" sz="1900" dirty="0"/>
          </a:p>
          <a:p>
            <a:pPr algn="ctr" indent="0" marL="0">
              <a:buNone/>
            </a:pPr>
            <a:endParaRPr lang="en-US" sz="1900" dirty="0"/>
          </a:p>
          <a:p>
            <a:pPr algn="ctr" indent="0" marL="0">
              <a:buNone/>
            </a:pPr>
            <a:r>
              <a:rPr lang="en-US" sz="1900" b="1" dirty="0">
                <a:solidFill>
                  <a:srgbClr val="111827"/>
                </a:solidFill>
              </a:rPr>
              <a:t>Fix the code and verify it now matches.</a:t>
            </a:r>
            <a:endParaRPr lang="en-US" sz="1900" dirty="0"/>
          </a:p>
        </p:txBody>
      </p:sp>
      <p:sp>
        <p:nvSpPr>
          <p:cNvPr id="7" name="Shape 5"/>
          <p:cNvSpPr/>
          <p:nvPr/>
        </p:nvSpPr>
        <p:spPr>
          <a:xfrm>
            <a:off x="6309360" y="1783080"/>
            <a:ext cx="5120640" cy="3063240"/>
          </a:xfrm>
          <a:prstGeom prst="roundRect">
            <a:avLst>
              <a:gd name="adj" fmla="val 2388"/>
            </a:avLst>
          </a:prstGeom>
          <a:solidFill>
            <a:srgbClr val="FFF7ED"/>
          </a:solidFill>
          <a:ln w="12700">
            <a:solidFill>
              <a:srgbClr val="FDBA74"/>
            </a:solidFill>
            <a:prstDash val="solid"/>
          </a:ln>
        </p:spPr>
      </p:sp>
      <p:sp>
        <p:nvSpPr>
          <p:cNvPr id="8" name="Text 6"/>
          <p:cNvSpPr/>
          <p:nvPr/>
        </p:nvSpPr>
        <p:spPr>
          <a:xfrm>
            <a:off x="6446520" y="1911096"/>
            <a:ext cx="4846320" cy="2807208"/>
          </a:xfrm>
          <a:prstGeom prst="rect">
            <a:avLst/>
          </a:prstGeom>
          <a:noFill/>
          <a:ln/>
        </p:spPr>
        <p:txBody>
          <a:bodyPr wrap="square" lIns="254" tIns="254" rIns="254" bIns="254" rtlCol="0" anchor="ctr">
            <a:normAutofit/>
          </a:bodyPr>
          <a:lstStyle/>
          <a:p>
            <a:pPr algn="ctr" indent="0" marL="0">
              <a:buNone/>
            </a:pPr>
            <a:r>
              <a:rPr lang="en-US" sz="1900" b="1" dirty="0">
                <a:solidFill>
                  <a:srgbClr val="111827"/>
                </a:solidFill>
              </a:rPr>
              <a:t>INTENT → SPEC GAP</a:t>
            </a:r>
            <a:endParaRPr lang="en-US" sz="1900" dirty="0"/>
          </a:p>
          <a:p>
            <a:pPr algn="ctr" indent="0" marL="0">
              <a:buNone/>
            </a:pPr>
            <a:endParaRPr lang="en-US" sz="1900" dirty="0"/>
          </a:p>
          <a:p>
            <a:pPr algn="ctr" indent="0" marL="0">
              <a:buNone/>
            </a:pPr>
            <a:r>
              <a:rPr lang="en-US" sz="1900" b="1" dirty="0">
                <a:solidFill>
                  <a:srgbClr val="111827"/>
                </a:solidFill>
              </a:rPr>
              <a:t>The code followed the spec.</a:t>
            </a:r>
            <a:endParaRPr lang="en-US" sz="1900" dirty="0"/>
          </a:p>
          <a:p>
            <a:pPr algn="ctr" indent="0" marL="0">
              <a:buNone/>
            </a:pPr>
            <a:r>
              <a:rPr lang="en-US" sz="1900" b="1" dirty="0">
                <a:solidFill>
                  <a:srgbClr val="111827"/>
                </a:solidFill>
              </a:rPr>
              <a:t>The spec expressed the wrong intent.</a:t>
            </a:r>
            <a:endParaRPr lang="en-US" sz="1900" dirty="0"/>
          </a:p>
          <a:p>
            <a:pPr algn="ctr" indent="0" marL="0">
              <a:buNone/>
            </a:pPr>
            <a:endParaRPr lang="en-US" sz="1900" dirty="0"/>
          </a:p>
          <a:p>
            <a:pPr algn="ctr" indent="0" marL="0">
              <a:buNone/>
            </a:pPr>
            <a:r>
              <a:rPr lang="en-US" sz="1900" b="1" dirty="0">
                <a:solidFill>
                  <a:srgbClr val="111827"/>
                </a:solidFill>
              </a:rPr>
              <a:t>Fix the description first, or the bug returns.</a:t>
            </a:r>
            <a:endParaRPr lang="en-US" sz="1900" dirty="0"/>
          </a:p>
        </p:txBody>
      </p:sp>
      <p:sp>
        <p:nvSpPr>
          <p:cNvPr id="9" name="Text 7"/>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Brownfield reality: do not spec the whole past before making progress</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For existing systems, specify the slice you are about to change.</a:t>
            </a:r>
            <a:endParaRPr lang="en-US" sz="1400" dirty="0"/>
          </a:p>
        </p:txBody>
      </p:sp>
      <p:sp>
        <p:nvSpPr>
          <p:cNvPr id="5" name="Shape 3"/>
          <p:cNvSpPr/>
          <p:nvPr/>
        </p:nvSpPr>
        <p:spPr>
          <a:xfrm>
            <a:off x="731520" y="2057400"/>
            <a:ext cx="2560320" cy="1280160"/>
          </a:xfrm>
          <a:prstGeom prst="roundRect">
            <a:avLst>
              <a:gd name="adj" fmla="val 5714"/>
            </a:avLst>
          </a:prstGeom>
          <a:solidFill>
            <a:srgbClr val="FFFFFF"/>
          </a:solidFill>
          <a:ln w="12700">
            <a:solidFill>
              <a:srgbClr val="CBD5E1"/>
            </a:solidFill>
            <a:prstDash val="solid"/>
          </a:ln>
        </p:spPr>
      </p:sp>
      <p:sp>
        <p:nvSpPr>
          <p:cNvPr id="6" name="Text 4"/>
          <p:cNvSpPr/>
          <p:nvPr/>
        </p:nvSpPr>
        <p:spPr>
          <a:xfrm>
            <a:off x="868680" y="2185416"/>
            <a:ext cx="2286000" cy="1024128"/>
          </a:xfrm>
          <a:prstGeom prst="rect">
            <a:avLst/>
          </a:prstGeom>
          <a:noFill/>
          <a:ln/>
        </p:spPr>
        <p:txBody>
          <a:bodyPr wrap="square" lIns="254" tIns="254" rIns="254" bIns="254" rtlCol="0" anchor="ctr">
            <a:normAutofit/>
          </a:bodyPr>
          <a:lstStyle/>
          <a:p>
            <a:pPr algn="ctr" indent="0" marL="0">
              <a:buNone/>
            </a:pPr>
            <a:r>
              <a:rPr lang="en-US" sz="1500" b="1" dirty="0">
                <a:solidFill>
                  <a:srgbClr val="111827"/>
                </a:solidFill>
              </a:rPr>
              <a:t>Existing system</a:t>
            </a:r>
            <a:endParaRPr lang="en-US" sz="1500" dirty="0"/>
          </a:p>
          <a:p>
            <a:pPr algn="ctr" indent="0" marL="0">
              <a:buNone/>
            </a:pPr>
            <a:r>
              <a:rPr lang="en-US" sz="1500" b="1" dirty="0">
                <a:solidFill>
                  <a:srgbClr val="111827"/>
                </a:solidFill>
              </a:rPr>
              <a:t>large, uneven, partially understood</a:t>
            </a:r>
            <a:endParaRPr lang="en-US" sz="1500" dirty="0"/>
          </a:p>
        </p:txBody>
      </p:sp>
      <p:sp>
        <p:nvSpPr>
          <p:cNvPr id="7" name="Shape 5"/>
          <p:cNvSpPr/>
          <p:nvPr/>
        </p:nvSpPr>
        <p:spPr>
          <a:xfrm>
            <a:off x="3383280" y="2697480"/>
            <a:ext cx="502920" cy="0"/>
          </a:xfrm>
          <a:prstGeom prst="line">
            <a:avLst/>
          </a:prstGeom>
          <a:noFill/>
          <a:ln w="15240">
            <a:solidFill>
              <a:srgbClr val="64748B"/>
            </a:solidFill>
            <a:prstDash val="solid"/>
            <a:headEnd type="none"/>
            <a:tailEnd type="triangle"/>
          </a:ln>
        </p:spPr>
      </p:sp>
      <p:sp>
        <p:nvSpPr>
          <p:cNvPr id="8" name="Shape 6"/>
          <p:cNvSpPr/>
          <p:nvPr/>
        </p:nvSpPr>
        <p:spPr>
          <a:xfrm>
            <a:off x="3977640" y="2057400"/>
            <a:ext cx="2377440" cy="1280160"/>
          </a:xfrm>
          <a:prstGeom prst="roundRect">
            <a:avLst>
              <a:gd name="adj" fmla="val 5714"/>
            </a:avLst>
          </a:prstGeom>
          <a:solidFill>
            <a:srgbClr val="FFF7ED"/>
          </a:solidFill>
          <a:ln w="12700">
            <a:solidFill>
              <a:srgbClr val="FDBA74"/>
            </a:solidFill>
            <a:prstDash val="solid"/>
          </a:ln>
        </p:spPr>
      </p:sp>
      <p:sp>
        <p:nvSpPr>
          <p:cNvPr id="9" name="Text 7"/>
          <p:cNvSpPr/>
          <p:nvPr/>
        </p:nvSpPr>
        <p:spPr>
          <a:xfrm>
            <a:off x="4114800" y="2185416"/>
            <a:ext cx="2103120" cy="1024128"/>
          </a:xfrm>
          <a:prstGeom prst="rect">
            <a:avLst/>
          </a:prstGeom>
          <a:noFill/>
          <a:ln/>
        </p:spPr>
        <p:txBody>
          <a:bodyPr wrap="square" lIns="254" tIns="254" rIns="254" bIns="254" rtlCol="0" anchor="ctr">
            <a:normAutofit/>
          </a:bodyPr>
          <a:lstStyle/>
          <a:p>
            <a:pPr algn="ctr" indent="0" marL="0">
              <a:buNone/>
            </a:pPr>
            <a:r>
              <a:rPr lang="en-US" sz="1500" b="1" dirty="0">
                <a:solidFill>
                  <a:srgbClr val="111827"/>
                </a:solidFill>
              </a:rPr>
              <a:t>Pick one change</a:t>
            </a:r>
            <a:endParaRPr lang="en-US" sz="1500" dirty="0"/>
          </a:p>
          <a:p>
            <a:pPr algn="ctr" indent="0" marL="0">
              <a:buNone/>
            </a:pPr>
            <a:r>
              <a:rPr lang="en-US" sz="1500" b="1" dirty="0">
                <a:solidFill>
                  <a:srgbClr val="111827"/>
                </a:solidFill>
              </a:rPr>
              <a:t>focused business value</a:t>
            </a:r>
            <a:endParaRPr lang="en-US" sz="1500" dirty="0"/>
          </a:p>
        </p:txBody>
      </p:sp>
      <p:sp>
        <p:nvSpPr>
          <p:cNvPr id="10" name="Shape 8"/>
          <p:cNvSpPr/>
          <p:nvPr/>
        </p:nvSpPr>
        <p:spPr>
          <a:xfrm>
            <a:off x="6446520" y="2697480"/>
            <a:ext cx="502920" cy="0"/>
          </a:xfrm>
          <a:prstGeom prst="line">
            <a:avLst/>
          </a:prstGeom>
          <a:noFill/>
          <a:ln w="15240">
            <a:solidFill>
              <a:srgbClr val="64748B"/>
            </a:solidFill>
            <a:prstDash val="solid"/>
            <a:headEnd type="none"/>
            <a:tailEnd type="triangle"/>
          </a:ln>
        </p:spPr>
      </p:sp>
      <p:sp>
        <p:nvSpPr>
          <p:cNvPr id="11" name="Shape 9"/>
          <p:cNvSpPr/>
          <p:nvPr/>
        </p:nvSpPr>
        <p:spPr>
          <a:xfrm>
            <a:off x="7040880" y="2057400"/>
            <a:ext cx="2377440" cy="1280160"/>
          </a:xfrm>
          <a:prstGeom prst="roundRect">
            <a:avLst>
              <a:gd name="adj" fmla="val 5714"/>
            </a:avLst>
          </a:prstGeom>
          <a:solidFill>
            <a:srgbClr val="FFFFFF"/>
          </a:solidFill>
          <a:ln w="12700">
            <a:solidFill>
              <a:srgbClr val="CBD5E1"/>
            </a:solidFill>
            <a:prstDash val="solid"/>
          </a:ln>
        </p:spPr>
      </p:sp>
      <p:sp>
        <p:nvSpPr>
          <p:cNvPr id="12" name="Text 10"/>
          <p:cNvSpPr/>
          <p:nvPr/>
        </p:nvSpPr>
        <p:spPr>
          <a:xfrm>
            <a:off x="7178040" y="2185416"/>
            <a:ext cx="2103120" cy="1024128"/>
          </a:xfrm>
          <a:prstGeom prst="rect">
            <a:avLst/>
          </a:prstGeom>
          <a:noFill/>
          <a:ln/>
        </p:spPr>
        <p:txBody>
          <a:bodyPr wrap="square" lIns="254" tIns="254" rIns="254" bIns="254" rtlCol="0" anchor="ctr">
            <a:normAutofit/>
          </a:bodyPr>
          <a:lstStyle/>
          <a:p>
            <a:pPr algn="ctr" indent="0" marL="0">
              <a:buNone/>
            </a:pPr>
            <a:r>
              <a:rPr lang="en-US" sz="1500" b="1" dirty="0">
                <a:solidFill>
                  <a:srgbClr val="111827"/>
                </a:solidFill>
              </a:rPr>
              <a:t>Explore code + tests</a:t>
            </a:r>
            <a:endParaRPr lang="en-US" sz="1500" dirty="0"/>
          </a:p>
          <a:p>
            <a:pPr algn="ctr" indent="0" marL="0">
              <a:buNone/>
            </a:pPr>
            <a:r>
              <a:rPr lang="en-US" sz="1500" b="1" dirty="0">
                <a:solidFill>
                  <a:srgbClr val="111827"/>
                </a:solidFill>
              </a:rPr>
              <a:t>lock current behavior</a:t>
            </a:r>
            <a:endParaRPr lang="en-US" sz="1500" dirty="0"/>
          </a:p>
        </p:txBody>
      </p:sp>
      <p:sp>
        <p:nvSpPr>
          <p:cNvPr id="13" name="Shape 11"/>
          <p:cNvSpPr/>
          <p:nvPr/>
        </p:nvSpPr>
        <p:spPr>
          <a:xfrm>
            <a:off x="9509760" y="2697480"/>
            <a:ext cx="502920" cy="0"/>
          </a:xfrm>
          <a:prstGeom prst="line">
            <a:avLst/>
          </a:prstGeom>
          <a:noFill/>
          <a:ln w="15240">
            <a:solidFill>
              <a:srgbClr val="64748B"/>
            </a:solidFill>
            <a:prstDash val="solid"/>
            <a:headEnd type="none"/>
            <a:tailEnd type="triangle"/>
          </a:ln>
        </p:spPr>
      </p:sp>
      <p:sp>
        <p:nvSpPr>
          <p:cNvPr id="14" name="Shape 12"/>
          <p:cNvSpPr/>
          <p:nvPr/>
        </p:nvSpPr>
        <p:spPr>
          <a:xfrm>
            <a:off x="10104120" y="2057400"/>
            <a:ext cx="1645920" cy="1280160"/>
          </a:xfrm>
          <a:prstGeom prst="roundRect">
            <a:avLst>
              <a:gd name="adj" fmla="val 5714"/>
            </a:avLst>
          </a:prstGeom>
          <a:solidFill>
            <a:srgbClr val="ECFDF5"/>
          </a:solidFill>
          <a:ln w="12700">
            <a:solidFill>
              <a:srgbClr val="86EFAC"/>
            </a:solidFill>
            <a:prstDash val="solid"/>
          </a:ln>
        </p:spPr>
      </p:sp>
      <p:sp>
        <p:nvSpPr>
          <p:cNvPr id="15" name="Text 13"/>
          <p:cNvSpPr/>
          <p:nvPr/>
        </p:nvSpPr>
        <p:spPr>
          <a:xfrm>
            <a:off x="10241280" y="2185416"/>
            <a:ext cx="1371600" cy="1024128"/>
          </a:xfrm>
          <a:prstGeom prst="rect">
            <a:avLst/>
          </a:prstGeom>
          <a:noFill/>
          <a:ln/>
        </p:spPr>
        <p:txBody>
          <a:bodyPr wrap="square" lIns="254" tIns="254" rIns="254" bIns="254" rtlCol="0" anchor="ctr">
            <a:normAutofit/>
          </a:bodyPr>
          <a:lstStyle/>
          <a:p>
            <a:pPr algn="ctr" indent="0" marL="0">
              <a:buNone/>
            </a:pPr>
            <a:r>
              <a:rPr lang="en-US" sz="1300" b="1" dirty="0">
                <a:solidFill>
                  <a:srgbClr val="111827"/>
                </a:solidFill>
              </a:rPr>
              <a:t>Spec the change</a:t>
            </a:r>
            <a:endParaRPr lang="en-US" sz="1300" dirty="0"/>
          </a:p>
          <a:p>
            <a:pPr algn="ctr" indent="0" marL="0">
              <a:buNone/>
            </a:pPr>
            <a:r>
              <a:rPr lang="en-US" sz="1300" b="1" dirty="0">
                <a:solidFill>
                  <a:srgbClr val="111827"/>
                </a:solidFill>
              </a:rPr>
              <a:t>then implement safely</a:t>
            </a:r>
            <a:endParaRPr lang="en-US" sz="1300" dirty="0"/>
          </a:p>
        </p:txBody>
      </p:sp>
      <p:sp>
        <p:nvSpPr>
          <p:cNvPr id="16" name="Text 14"/>
          <p:cNvSpPr/>
          <p:nvPr/>
        </p:nvSpPr>
        <p:spPr>
          <a:xfrm>
            <a:off x="1051560" y="4663440"/>
            <a:ext cx="10149840" cy="502920"/>
          </a:xfrm>
          <a:prstGeom prst="rect">
            <a:avLst/>
          </a:prstGeom>
          <a:noFill/>
          <a:ln/>
        </p:spPr>
        <p:txBody>
          <a:bodyPr wrap="square" lIns="635" tIns="635" rIns="635" bIns="635" rtlCol="0" anchor="t">
            <a:normAutofit/>
          </a:bodyPr>
          <a:lstStyle/>
          <a:p>
            <a:pPr indent="0" marL="0">
              <a:buNone/>
            </a:pPr>
            <a:r>
              <a:rPr lang="en-US" sz="2000" dirty="0">
                <a:solidFill>
                  <a:srgbClr val="111827"/>
                </a:solidFill>
              </a:rPr>
              <a:t>Over time, important areas become well-specified and test-covered. Stable or dead areas can remain untouched.</a:t>
            </a:r>
            <a:endParaRPr lang="en-US" sz="2000" dirty="0"/>
          </a:p>
        </p:txBody>
      </p:sp>
      <p:sp>
        <p:nvSpPr>
          <p:cNvPr id="17" name="Text 15"/>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731520" y="2331720"/>
            <a:ext cx="10789920" cy="685800"/>
          </a:xfrm>
          <a:prstGeom prst="rect">
            <a:avLst/>
          </a:prstGeom>
          <a:noFill/>
          <a:ln/>
        </p:spPr>
        <p:txBody>
          <a:bodyPr wrap="square" lIns="0" tIns="0" rIns="0" bIns="0" rtlCol="0" anchor="ct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SEGMENT 6</a:t>
            </a:r>
            <a:endParaRPr lang="en-US" sz="4200" dirty="0"/>
          </a:p>
        </p:txBody>
      </p:sp>
      <p:sp>
        <p:nvSpPr>
          <p:cNvPr id="4" name="Text 2"/>
          <p:cNvSpPr/>
          <p:nvPr/>
        </p:nvSpPr>
        <p:spPr>
          <a:xfrm>
            <a:off x="777240" y="3127248"/>
            <a:ext cx="9875520" cy="411480"/>
          </a:xfrm>
          <a:prstGeom prst="rect">
            <a:avLst/>
          </a:prstGeom>
          <a:noFill/>
          <a:ln/>
        </p:spPr>
        <p:txBody>
          <a:bodyPr wrap="square" lIns="0" tIns="0" rIns="0" bIns="0" rtlCol="0" anchor="ctr"/>
          <a:lstStyle/>
          <a:p>
            <a:pPr indent="0" marL="0">
              <a:buNone/>
            </a:pPr>
            <a:r>
              <a:rPr lang="en-US" sz="1800" dirty="0">
                <a:solidFill>
                  <a:srgbClr val="CBD5E1"/>
                </a:solidFill>
              </a:rPr>
              <a:t>How to decide for your actual production project</a:t>
            </a:r>
            <a:endParaRPr lang="en-US" sz="1800" dirty="0"/>
          </a:p>
        </p:txBody>
      </p:sp>
      <p:sp>
        <p:nvSpPr>
          <p:cNvPr id="5" name="Shape 3"/>
          <p:cNvSpPr/>
          <p:nvPr/>
        </p:nvSpPr>
        <p:spPr>
          <a:xfrm>
            <a:off x="777240" y="3703320"/>
            <a:ext cx="2926080" cy="0"/>
          </a:xfrm>
          <a:prstGeom prst="line">
            <a:avLst/>
          </a:prstGeom>
          <a:noFill/>
          <a:ln w="50800">
            <a:solidFill>
              <a:srgbClr val="F97316"/>
            </a:solidFill>
            <a:prstDash val="solid"/>
          </a:ln>
        </p:spPr>
      </p:sp>
      <p:sp>
        <p:nvSpPr>
          <p:cNvPr id="6" name="Text 4"/>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CBD5E1"/>
                </a:solidFill>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Decision framework — value and risk</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Use proportional discipline. Not every task needs the same ceremony.</a:t>
            </a:r>
            <a:endParaRPr lang="en-US" sz="1400" dirty="0"/>
          </a:p>
        </p:txBody>
      </p:sp>
      <p:sp>
        <p:nvSpPr>
          <p:cNvPr id="5" name="Shape 3"/>
          <p:cNvSpPr/>
          <p:nvPr/>
        </p:nvSpPr>
        <p:spPr>
          <a:xfrm>
            <a:off x="1005840" y="1691640"/>
            <a:ext cx="10058400" cy="822960"/>
          </a:xfrm>
          <a:prstGeom prst="roundRect">
            <a:avLst>
              <a:gd name="adj" fmla="val 8889"/>
            </a:avLst>
          </a:prstGeom>
          <a:solidFill>
            <a:srgbClr val="FFFFFF"/>
          </a:solidFill>
          <a:ln w="12700">
            <a:solidFill>
              <a:srgbClr val="CBD5E1"/>
            </a:solidFill>
            <a:prstDash val="solid"/>
          </a:ln>
        </p:spPr>
      </p:sp>
      <p:sp>
        <p:nvSpPr>
          <p:cNvPr id="6" name="Text 4"/>
          <p:cNvSpPr/>
          <p:nvPr/>
        </p:nvSpPr>
        <p:spPr>
          <a:xfrm>
            <a:off x="1143000" y="1819656"/>
            <a:ext cx="9784080" cy="566928"/>
          </a:xfrm>
          <a:prstGeom prst="rect">
            <a:avLst/>
          </a:prstGeom>
          <a:noFill/>
          <a:ln/>
        </p:spPr>
        <p:txBody>
          <a:bodyPr wrap="square" lIns="254" tIns="254" rIns="254" bIns="254" rtlCol="0" anchor="ctr">
            <a:normAutofit/>
          </a:bodyPr>
          <a:lstStyle/>
          <a:p>
            <a:pPr algn="l" indent="0" marL="0">
              <a:buNone/>
            </a:pPr>
            <a:r>
              <a:rPr lang="en-US" sz="1700" b="1" dirty="0">
                <a:solidFill>
                  <a:srgbClr val="111827"/>
                </a:solidFill>
              </a:rPr>
              <a:t>1. How often does the project change hands?</a:t>
            </a:r>
            <a:endParaRPr lang="en-US" sz="1700" dirty="0"/>
          </a:p>
          <a:p>
            <a:pPr algn="l" indent="0" marL="0">
              <a:buNone/>
            </a:pPr>
            <a:r>
              <a:rPr lang="en-US" sz="1700" b="1" dirty="0">
                <a:solidFill>
                  <a:srgbClr val="111827"/>
                </a:solidFill>
              </a:rPr>
              <a:t>Frequent handover → durable written intent pays back quickly.</a:t>
            </a:r>
            <a:endParaRPr lang="en-US" sz="1700" dirty="0"/>
          </a:p>
        </p:txBody>
      </p:sp>
      <p:sp>
        <p:nvSpPr>
          <p:cNvPr id="7" name="Shape 5"/>
          <p:cNvSpPr/>
          <p:nvPr/>
        </p:nvSpPr>
        <p:spPr>
          <a:xfrm>
            <a:off x="1005840" y="2926080"/>
            <a:ext cx="10058400" cy="822960"/>
          </a:xfrm>
          <a:prstGeom prst="roundRect">
            <a:avLst>
              <a:gd name="adj" fmla="val 8889"/>
            </a:avLst>
          </a:prstGeom>
          <a:solidFill>
            <a:srgbClr val="FFF7ED"/>
          </a:solidFill>
          <a:ln w="12700">
            <a:solidFill>
              <a:srgbClr val="FDBA74"/>
            </a:solidFill>
            <a:prstDash val="solid"/>
          </a:ln>
        </p:spPr>
      </p:sp>
      <p:sp>
        <p:nvSpPr>
          <p:cNvPr id="8" name="Text 6"/>
          <p:cNvSpPr/>
          <p:nvPr/>
        </p:nvSpPr>
        <p:spPr>
          <a:xfrm>
            <a:off x="1143000" y="3054096"/>
            <a:ext cx="9784080" cy="566928"/>
          </a:xfrm>
          <a:prstGeom prst="rect">
            <a:avLst/>
          </a:prstGeom>
          <a:noFill/>
          <a:ln/>
        </p:spPr>
        <p:txBody>
          <a:bodyPr wrap="square" lIns="254" tIns="254" rIns="254" bIns="254" rtlCol="0" anchor="ctr">
            <a:normAutofit/>
          </a:bodyPr>
          <a:lstStyle/>
          <a:p>
            <a:pPr algn="l" indent="0" marL="0">
              <a:buNone/>
            </a:pPr>
            <a:r>
              <a:rPr lang="en-US" sz="1700" b="1" dirty="0">
                <a:solidFill>
                  <a:srgbClr val="111827"/>
                </a:solidFill>
              </a:rPr>
              <a:t>2. How complex and long-lived is the system?</a:t>
            </a:r>
            <a:endParaRPr lang="en-US" sz="1700" dirty="0"/>
          </a:p>
          <a:p>
            <a:pPr algn="l" indent="0" marL="0">
              <a:buNone/>
            </a:pPr>
            <a:r>
              <a:rPr lang="en-US" sz="1700" b="1" dirty="0">
                <a:solidFill>
                  <a:srgbClr val="111827"/>
                </a:solidFill>
              </a:rPr>
              <a:t>Long-lived + complex → the discipline earns its cost.</a:t>
            </a:r>
            <a:endParaRPr lang="en-US" sz="1700" dirty="0"/>
          </a:p>
        </p:txBody>
      </p:sp>
      <p:sp>
        <p:nvSpPr>
          <p:cNvPr id="9" name="Shape 7"/>
          <p:cNvSpPr/>
          <p:nvPr/>
        </p:nvSpPr>
        <p:spPr>
          <a:xfrm>
            <a:off x="1005840" y="4160520"/>
            <a:ext cx="10058400" cy="822960"/>
          </a:xfrm>
          <a:prstGeom prst="roundRect">
            <a:avLst>
              <a:gd name="adj" fmla="val 8889"/>
            </a:avLst>
          </a:prstGeom>
          <a:solidFill>
            <a:srgbClr val="FFFFFF"/>
          </a:solidFill>
          <a:ln w="12700">
            <a:solidFill>
              <a:srgbClr val="CBD5E1"/>
            </a:solidFill>
            <a:prstDash val="solid"/>
          </a:ln>
        </p:spPr>
      </p:sp>
      <p:sp>
        <p:nvSpPr>
          <p:cNvPr id="10" name="Text 8"/>
          <p:cNvSpPr/>
          <p:nvPr/>
        </p:nvSpPr>
        <p:spPr>
          <a:xfrm>
            <a:off x="1143000" y="4288536"/>
            <a:ext cx="9784080" cy="566928"/>
          </a:xfrm>
          <a:prstGeom prst="rect">
            <a:avLst/>
          </a:prstGeom>
          <a:noFill/>
          <a:ln/>
        </p:spPr>
        <p:txBody>
          <a:bodyPr wrap="square" lIns="254" tIns="254" rIns="254" bIns="254" rtlCol="0" anchor="ctr">
            <a:normAutofit/>
          </a:bodyPr>
          <a:lstStyle/>
          <a:p>
            <a:pPr algn="l" indent="0" marL="0">
              <a:buNone/>
            </a:pPr>
            <a:r>
              <a:rPr lang="en-US" sz="1700" b="1" dirty="0">
                <a:solidFill>
                  <a:srgbClr val="111827"/>
                </a:solidFill>
              </a:rPr>
              <a:t>3. What is the cost of a missed requirement?</a:t>
            </a:r>
            <a:endParaRPr lang="en-US" sz="1700" dirty="0"/>
          </a:p>
          <a:p>
            <a:pPr algn="l" indent="0" marL="0">
              <a:buNone/>
            </a:pPr>
            <a:r>
              <a:rPr lang="en-US" sz="1700" b="1" dirty="0">
                <a:solidFill>
                  <a:srgbClr val="111827"/>
                </a:solidFill>
              </a:rPr>
              <a:t>Regulatory, financial, safety or client impact → use tighter review and verification.</a:t>
            </a:r>
            <a:endParaRPr lang="en-US" sz="1700" dirty="0"/>
          </a:p>
        </p:txBody>
      </p:sp>
      <p:sp>
        <p:nvSpPr>
          <p:cNvPr id="11" name="Text 9"/>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Decision framework — team and evidence</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Adoption is not a slogan. It needs ownership and a small real trial.</a:t>
            </a:r>
            <a:endParaRPr lang="en-US" sz="1400" dirty="0"/>
          </a:p>
        </p:txBody>
      </p:sp>
      <p:sp>
        <p:nvSpPr>
          <p:cNvPr id="5" name="Shape 3"/>
          <p:cNvSpPr/>
          <p:nvPr/>
        </p:nvSpPr>
        <p:spPr>
          <a:xfrm>
            <a:off x="1005840" y="1691640"/>
            <a:ext cx="10058400" cy="822960"/>
          </a:xfrm>
          <a:prstGeom prst="roundRect">
            <a:avLst>
              <a:gd name="adj" fmla="val 8889"/>
            </a:avLst>
          </a:prstGeom>
          <a:solidFill>
            <a:srgbClr val="FFFFFF"/>
          </a:solidFill>
          <a:ln w="12700">
            <a:solidFill>
              <a:srgbClr val="CBD5E1"/>
            </a:solidFill>
            <a:prstDash val="solid"/>
          </a:ln>
        </p:spPr>
      </p:sp>
      <p:sp>
        <p:nvSpPr>
          <p:cNvPr id="6" name="Text 4"/>
          <p:cNvSpPr/>
          <p:nvPr/>
        </p:nvSpPr>
        <p:spPr>
          <a:xfrm>
            <a:off x="1143000" y="1819656"/>
            <a:ext cx="9784080" cy="566928"/>
          </a:xfrm>
          <a:prstGeom prst="rect">
            <a:avLst/>
          </a:prstGeom>
          <a:noFill/>
          <a:ln/>
        </p:spPr>
        <p:txBody>
          <a:bodyPr wrap="square" lIns="254" tIns="254" rIns="254" bIns="254" rtlCol="0" anchor="ctr">
            <a:normAutofit/>
          </a:bodyPr>
          <a:lstStyle/>
          <a:p>
            <a:pPr algn="l" indent="0" marL="0">
              <a:buNone/>
            </a:pPr>
            <a:r>
              <a:rPr lang="en-US" sz="1700" b="1" dirty="0">
                <a:solidFill>
                  <a:srgbClr val="111827"/>
                </a:solidFill>
              </a:rPr>
              <a:t>4. Does the client need traceability?</a:t>
            </a:r>
            <a:endParaRPr lang="en-US" sz="1700" dirty="0"/>
          </a:p>
          <a:p>
            <a:pPr algn="l" indent="0" marL="0">
              <a:buNone/>
            </a:pPr>
            <a:r>
              <a:rPr lang="en-US" sz="1700" b="1" dirty="0">
                <a:solidFill>
                  <a:srgbClr val="111827"/>
                </a:solidFill>
              </a:rPr>
              <a:t>Versioned specs can be part of an audit trail when linked to approvals, PRs, tests and releases.</a:t>
            </a:r>
            <a:endParaRPr lang="en-US" sz="1700" dirty="0"/>
          </a:p>
        </p:txBody>
      </p:sp>
      <p:sp>
        <p:nvSpPr>
          <p:cNvPr id="7" name="Shape 5"/>
          <p:cNvSpPr/>
          <p:nvPr/>
        </p:nvSpPr>
        <p:spPr>
          <a:xfrm>
            <a:off x="1005840" y="2926080"/>
            <a:ext cx="10058400" cy="822960"/>
          </a:xfrm>
          <a:prstGeom prst="roundRect">
            <a:avLst>
              <a:gd name="adj" fmla="val 8889"/>
            </a:avLst>
          </a:prstGeom>
          <a:solidFill>
            <a:srgbClr val="FFFFFF"/>
          </a:solidFill>
          <a:ln w="12700">
            <a:solidFill>
              <a:srgbClr val="CBD5E1"/>
            </a:solidFill>
            <a:prstDash val="solid"/>
          </a:ln>
        </p:spPr>
      </p:sp>
      <p:sp>
        <p:nvSpPr>
          <p:cNvPr id="8" name="Text 6"/>
          <p:cNvSpPr/>
          <p:nvPr/>
        </p:nvSpPr>
        <p:spPr>
          <a:xfrm>
            <a:off x="1143000" y="3054096"/>
            <a:ext cx="9784080" cy="566928"/>
          </a:xfrm>
          <a:prstGeom prst="rect">
            <a:avLst/>
          </a:prstGeom>
          <a:noFill/>
          <a:ln/>
        </p:spPr>
        <p:txBody>
          <a:bodyPr wrap="square" lIns="254" tIns="254" rIns="254" bIns="254" rtlCol="0" anchor="ctr">
            <a:normAutofit/>
          </a:bodyPr>
          <a:lstStyle/>
          <a:p>
            <a:pPr algn="l" indent="0" marL="0">
              <a:buNone/>
            </a:pPr>
            <a:r>
              <a:rPr lang="en-US" sz="1700" b="1" dirty="0">
                <a:solidFill>
                  <a:srgbClr val="111827"/>
                </a:solidFill>
              </a:rPr>
              <a:t>5. How will ownership work in this team?</a:t>
            </a:r>
            <a:endParaRPr lang="en-US" sz="1700" dirty="0"/>
          </a:p>
          <a:p>
            <a:pPr algn="l" indent="0" marL="0">
              <a:buNone/>
            </a:pPr>
            <a:r>
              <a:rPr lang="en-US" sz="1700" b="1" dirty="0">
                <a:solidFill>
                  <a:srgbClr val="111827"/>
                </a:solidFill>
              </a:rPr>
              <a:t>Define who writes, reviews, updates and approves specs.</a:t>
            </a:r>
            <a:endParaRPr lang="en-US" sz="1700" dirty="0"/>
          </a:p>
        </p:txBody>
      </p:sp>
      <p:sp>
        <p:nvSpPr>
          <p:cNvPr id="9" name="Shape 7"/>
          <p:cNvSpPr/>
          <p:nvPr/>
        </p:nvSpPr>
        <p:spPr>
          <a:xfrm>
            <a:off x="1005840" y="4160520"/>
            <a:ext cx="10058400" cy="822960"/>
          </a:xfrm>
          <a:prstGeom prst="roundRect">
            <a:avLst>
              <a:gd name="adj" fmla="val 8889"/>
            </a:avLst>
          </a:prstGeom>
          <a:solidFill>
            <a:srgbClr val="ECFDF5"/>
          </a:solidFill>
          <a:ln w="12700">
            <a:solidFill>
              <a:srgbClr val="86EFAC"/>
            </a:solidFill>
            <a:prstDash val="solid"/>
          </a:ln>
        </p:spPr>
      </p:sp>
      <p:sp>
        <p:nvSpPr>
          <p:cNvPr id="10" name="Text 8"/>
          <p:cNvSpPr/>
          <p:nvPr/>
        </p:nvSpPr>
        <p:spPr>
          <a:xfrm>
            <a:off x="1143000" y="4288536"/>
            <a:ext cx="9784080" cy="566928"/>
          </a:xfrm>
          <a:prstGeom prst="rect">
            <a:avLst/>
          </a:prstGeom>
          <a:noFill/>
          <a:ln/>
        </p:spPr>
        <p:txBody>
          <a:bodyPr wrap="square" lIns="254" tIns="254" rIns="254" bIns="254" rtlCol="0" anchor="ctr">
            <a:normAutofit/>
          </a:bodyPr>
          <a:lstStyle/>
          <a:p>
            <a:pPr algn="l" indent="0" marL="0">
              <a:buNone/>
            </a:pPr>
            <a:r>
              <a:rPr lang="en-US" sz="1700" b="1" dirty="0">
                <a:solidFill>
                  <a:srgbClr val="111827"/>
                </a:solidFill>
              </a:rPr>
              <a:t>6. What evidence would convince us?</a:t>
            </a:r>
            <a:endParaRPr lang="en-US" sz="1700" dirty="0"/>
          </a:p>
          <a:p>
            <a:pPr algn="l" indent="0" marL="0">
              <a:buNone/>
            </a:pPr>
            <a:r>
              <a:rPr lang="en-US" sz="1700" b="1" dirty="0">
                <a:solidFill>
                  <a:srgbClr val="111827"/>
                </a:solidFill>
              </a:rPr>
              <a:t>Pick one feature and measure review effort, rework, quality and confidence.</a:t>
            </a:r>
            <a:endParaRPr lang="en-US" sz="1700" dirty="0"/>
          </a:p>
        </p:txBody>
      </p:sp>
      <p:sp>
        <p:nvSpPr>
          <p:cNvPr id="11" name="Text 9"/>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Practical pilot: one feature, two weeks, measurable evidence</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Do not start with tool standardization. Start with a controlled learning loop.</a:t>
            </a:r>
            <a:endParaRPr lang="en-US" sz="1400" dirty="0"/>
          </a:p>
        </p:txBody>
      </p:sp>
      <p:sp>
        <p:nvSpPr>
          <p:cNvPr id="5" name="Shape 3"/>
          <p:cNvSpPr/>
          <p:nvPr/>
        </p:nvSpPr>
        <p:spPr>
          <a:xfrm>
            <a:off x="685800" y="2194560"/>
            <a:ext cx="1508760" cy="914400"/>
          </a:xfrm>
          <a:prstGeom prst="roundRect">
            <a:avLst>
              <a:gd name="adj" fmla="val 8000"/>
            </a:avLst>
          </a:prstGeom>
          <a:solidFill>
            <a:srgbClr val="FFF7ED"/>
          </a:solidFill>
          <a:ln w="12700">
            <a:solidFill>
              <a:srgbClr val="FDBA74"/>
            </a:solidFill>
            <a:prstDash val="solid"/>
          </a:ln>
        </p:spPr>
      </p:sp>
      <p:sp>
        <p:nvSpPr>
          <p:cNvPr id="6" name="Text 4"/>
          <p:cNvSpPr/>
          <p:nvPr/>
        </p:nvSpPr>
        <p:spPr>
          <a:xfrm>
            <a:off x="822960" y="2322576"/>
            <a:ext cx="1234440" cy="658368"/>
          </a:xfrm>
          <a:prstGeom prst="rect">
            <a:avLst/>
          </a:prstGeom>
          <a:noFill/>
          <a:ln/>
        </p:spPr>
        <p:txBody>
          <a:bodyPr wrap="square" lIns="254" tIns="254" rIns="254" bIns="254" rtlCol="0" anchor="ctr">
            <a:normAutofit/>
          </a:bodyPr>
          <a:lstStyle/>
          <a:p>
            <a:pPr algn="ctr" indent="0" marL="0">
              <a:buNone/>
            </a:pPr>
            <a:r>
              <a:rPr lang="en-US" sz="1150" b="1" dirty="0">
                <a:solidFill>
                  <a:srgbClr val="111827"/>
                </a:solidFill>
              </a:rPr>
              <a:t>Choose one real change</a:t>
            </a:r>
            <a:endParaRPr lang="en-US" sz="1150" dirty="0"/>
          </a:p>
        </p:txBody>
      </p:sp>
      <p:sp>
        <p:nvSpPr>
          <p:cNvPr id="7" name="Shape 5"/>
          <p:cNvSpPr/>
          <p:nvPr/>
        </p:nvSpPr>
        <p:spPr>
          <a:xfrm>
            <a:off x="2212848" y="2651760"/>
            <a:ext cx="301752" cy="0"/>
          </a:xfrm>
          <a:prstGeom prst="line">
            <a:avLst/>
          </a:prstGeom>
          <a:noFill/>
          <a:ln w="12700">
            <a:solidFill>
              <a:srgbClr val="64748B"/>
            </a:solidFill>
            <a:prstDash val="solid"/>
            <a:headEnd type="none"/>
            <a:tailEnd type="triangle"/>
          </a:ln>
        </p:spPr>
      </p:sp>
      <p:sp>
        <p:nvSpPr>
          <p:cNvPr id="8" name="Shape 6"/>
          <p:cNvSpPr/>
          <p:nvPr/>
        </p:nvSpPr>
        <p:spPr>
          <a:xfrm>
            <a:off x="2560320" y="2194560"/>
            <a:ext cx="1508760" cy="914400"/>
          </a:xfrm>
          <a:prstGeom prst="roundRect">
            <a:avLst>
              <a:gd name="adj" fmla="val 8000"/>
            </a:avLst>
          </a:prstGeom>
          <a:solidFill>
            <a:srgbClr val="FFFFFF"/>
          </a:solidFill>
          <a:ln w="12700">
            <a:solidFill>
              <a:srgbClr val="CBD5E1"/>
            </a:solidFill>
            <a:prstDash val="solid"/>
          </a:ln>
        </p:spPr>
      </p:sp>
      <p:sp>
        <p:nvSpPr>
          <p:cNvPr id="9" name="Text 7"/>
          <p:cNvSpPr/>
          <p:nvPr/>
        </p:nvSpPr>
        <p:spPr>
          <a:xfrm>
            <a:off x="2697480" y="2322576"/>
            <a:ext cx="1234440" cy="658368"/>
          </a:xfrm>
          <a:prstGeom prst="rect">
            <a:avLst/>
          </a:prstGeom>
          <a:noFill/>
          <a:ln/>
        </p:spPr>
        <p:txBody>
          <a:bodyPr wrap="square" lIns="254" tIns="254" rIns="254" bIns="254" rtlCol="0" anchor="ctr">
            <a:normAutofit/>
          </a:bodyPr>
          <a:lstStyle/>
          <a:p>
            <a:pPr algn="ctr" indent="0" marL="0">
              <a:buNone/>
            </a:pPr>
            <a:r>
              <a:rPr lang="en-US" sz="1150" b="1" dirty="0">
                <a:solidFill>
                  <a:srgbClr val="111827"/>
                </a:solidFill>
              </a:rPr>
              <a:t>Capture durable intent</a:t>
            </a:r>
            <a:endParaRPr lang="en-US" sz="1150" dirty="0"/>
          </a:p>
        </p:txBody>
      </p:sp>
      <p:sp>
        <p:nvSpPr>
          <p:cNvPr id="10" name="Shape 8"/>
          <p:cNvSpPr/>
          <p:nvPr/>
        </p:nvSpPr>
        <p:spPr>
          <a:xfrm>
            <a:off x="4087368" y="2651760"/>
            <a:ext cx="301752" cy="0"/>
          </a:xfrm>
          <a:prstGeom prst="line">
            <a:avLst/>
          </a:prstGeom>
          <a:noFill/>
          <a:ln w="12700">
            <a:solidFill>
              <a:srgbClr val="64748B"/>
            </a:solidFill>
            <a:prstDash val="solid"/>
            <a:headEnd type="none"/>
            <a:tailEnd type="triangle"/>
          </a:ln>
        </p:spPr>
      </p:sp>
      <p:sp>
        <p:nvSpPr>
          <p:cNvPr id="11" name="Shape 9"/>
          <p:cNvSpPr/>
          <p:nvPr/>
        </p:nvSpPr>
        <p:spPr>
          <a:xfrm>
            <a:off x="4434840" y="2194560"/>
            <a:ext cx="1508760" cy="914400"/>
          </a:xfrm>
          <a:prstGeom prst="roundRect">
            <a:avLst>
              <a:gd name="adj" fmla="val 8000"/>
            </a:avLst>
          </a:prstGeom>
          <a:solidFill>
            <a:srgbClr val="FFFFFF"/>
          </a:solidFill>
          <a:ln w="12700">
            <a:solidFill>
              <a:srgbClr val="CBD5E1"/>
            </a:solidFill>
            <a:prstDash val="solid"/>
          </a:ln>
        </p:spPr>
      </p:sp>
      <p:sp>
        <p:nvSpPr>
          <p:cNvPr id="12" name="Text 10"/>
          <p:cNvSpPr/>
          <p:nvPr/>
        </p:nvSpPr>
        <p:spPr>
          <a:xfrm>
            <a:off x="4572000" y="2322576"/>
            <a:ext cx="1234440" cy="658368"/>
          </a:xfrm>
          <a:prstGeom prst="rect">
            <a:avLst/>
          </a:prstGeom>
          <a:noFill/>
          <a:ln/>
        </p:spPr>
        <p:txBody>
          <a:bodyPr wrap="square" lIns="254" tIns="254" rIns="254" bIns="254" rtlCol="0" anchor="ctr">
            <a:normAutofit/>
          </a:bodyPr>
          <a:lstStyle/>
          <a:p>
            <a:pPr algn="ctr" indent="0" marL="0">
              <a:buNone/>
            </a:pPr>
            <a:r>
              <a:rPr lang="en-US" sz="1150" b="1" dirty="0">
                <a:solidFill>
                  <a:srgbClr val="111827"/>
                </a:solidFill>
              </a:rPr>
              <a:t>Plan and task it</a:t>
            </a:r>
            <a:endParaRPr lang="en-US" sz="1150" dirty="0"/>
          </a:p>
        </p:txBody>
      </p:sp>
      <p:sp>
        <p:nvSpPr>
          <p:cNvPr id="13" name="Shape 11"/>
          <p:cNvSpPr/>
          <p:nvPr/>
        </p:nvSpPr>
        <p:spPr>
          <a:xfrm>
            <a:off x="5961888" y="2651760"/>
            <a:ext cx="301752" cy="0"/>
          </a:xfrm>
          <a:prstGeom prst="line">
            <a:avLst/>
          </a:prstGeom>
          <a:noFill/>
          <a:ln w="12700">
            <a:solidFill>
              <a:srgbClr val="64748B"/>
            </a:solidFill>
            <a:prstDash val="solid"/>
            <a:headEnd type="none"/>
            <a:tailEnd type="triangle"/>
          </a:ln>
        </p:spPr>
      </p:sp>
      <p:sp>
        <p:nvSpPr>
          <p:cNvPr id="14" name="Shape 12"/>
          <p:cNvSpPr/>
          <p:nvPr/>
        </p:nvSpPr>
        <p:spPr>
          <a:xfrm>
            <a:off x="6309360" y="2194560"/>
            <a:ext cx="1508760" cy="914400"/>
          </a:xfrm>
          <a:prstGeom prst="roundRect">
            <a:avLst>
              <a:gd name="adj" fmla="val 8000"/>
            </a:avLst>
          </a:prstGeom>
          <a:solidFill>
            <a:srgbClr val="FFFFFF"/>
          </a:solidFill>
          <a:ln w="12700">
            <a:solidFill>
              <a:srgbClr val="CBD5E1"/>
            </a:solidFill>
            <a:prstDash val="solid"/>
          </a:ln>
        </p:spPr>
      </p:sp>
      <p:sp>
        <p:nvSpPr>
          <p:cNvPr id="15" name="Text 13"/>
          <p:cNvSpPr/>
          <p:nvPr/>
        </p:nvSpPr>
        <p:spPr>
          <a:xfrm>
            <a:off x="6446520" y="2322576"/>
            <a:ext cx="1234440" cy="658368"/>
          </a:xfrm>
          <a:prstGeom prst="rect">
            <a:avLst/>
          </a:prstGeom>
          <a:noFill/>
          <a:ln/>
        </p:spPr>
        <p:txBody>
          <a:bodyPr wrap="square" lIns="254" tIns="254" rIns="254" bIns="254" rtlCol="0" anchor="ctr">
            <a:normAutofit/>
          </a:bodyPr>
          <a:lstStyle/>
          <a:p>
            <a:pPr algn="ctr" indent="0" marL="0">
              <a:buNone/>
            </a:pPr>
            <a:r>
              <a:rPr lang="en-US" sz="1150" b="1" dirty="0">
                <a:solidFill>
                  <a:srgbClr val="111827"/>
                </a:solidFill>
              </a:rPr>
              <a:t>Implement in small slices</a:t>
            </a:r>
            <a:endParaRPr lang="en-US" sz="1150" dirty="0"/>
          </a:p>
        </p:txBody>
      </p:sp>
      <p:sp>
        <p:nvSpPr>
          <p:cNvPr id="16" name="Shape 14"/>
          <p:cNvSpPr/>
          <p:nvPr/>
        </p:nvSpPr>
        <p:spPr>
          <a:xfrm>
            <a:off x="7836408" y="2651760"/>
            <a:ext cx="301752" cy="0"/>
          </a:xfrm>
          <a:prstGeom prst="line">
            <a:avLst/>
          </a:prstGeom>
          <a:noFill/>
          <a:ln w="12700">
            <a:solidFill>
              <a:srgbClr val="64748B"/>
            </a:solidFill>
            <a:prstDash val="solid"/>
            <a:headEnd type="none"/>
            <a:tailEnd type="triangle"/>
          </a:ln>
        </p:spPr>
      </p:sp>
      <p:sp>
        <p:nvSpPr>
          <p:cNvPr id="17" name="Shape 15"/>
          <p:cNvSpPr/>
          <p:nvPr/>
        </p:nvSpPr>
        <p:spPr>
          <a:xfrm>
            <a:off x="8183880" y="2194560"/>
            <a:ext cx="1508760" cy="914400"/>
          </a:xfrm>
          <a:prstGeom prst="roundRect">
            <a:avLst>
              <a:gd name="adj" fmla="val 8000"/>
            </a:avLst>
          </a:prstGeom>
          <a:solidFill>
            <a:srgbClr val="FFFFFF"/>
          </a:solidFill>
          <a:ln w="12700">
            <a:solidFill>
              <a:srgbClr val="CBD5E1"/>
            </a:solidFill>
            <a:prstDash val="solid"/>
          </a:ln>
        </p:spPr>
      </p:sp>
      <p:sp>
        <p:nvSpPr>
          <p:cNvPr id="18" name="Text 16"/>
          <p:cNvSpPr/>
          <p:nvPr/>
        </p:nvSpPr>
        <p:spPr>
          <a:xfrm>
            <a:off x="8321040" y="2322576"/>
            <a:ext cx="1234440" cy="658368"/>
          </a:xfrm>
          <a:prstGeom prst="rect">
            <a:avLst/>
          </a:prstGeom>
          <a:noFill/>
          <a:ln/>
        </p:spPr>
        <p:txBody>
          <a:bodyPr wrap="square" lIns="254" tIns="254" rIns="254" bIns="254" rtlCol="0" anchor="ctr">
            <a:normAutofit/>
          </a:bodyPr>
          <a:lstStyle/>
          <a:p>
            <a:pPr algn="ctr" indent="0" marL="0">
              <a:buNone/>
            </a:pPr>
            <a:r>
              <a:rPr lang="en-US" sz="1150" b="1" dirty="0">
                <a:solidFill>
                  <a:srgbClr val="111827"/>
                </a:solidFill>
              </a:rPr>
              <a:t>Verify against spec</a:t>
            </a:r>
            <a:endParaRPr lang="en-US" sz="1150" dirty="0"/>
          </a:p>
        </p:txBody>
      </p:sp>
      <p:sp>
        <p:nvSpPr>
          <p:cNvPr id="19" name="Shape 17"/>
          <p:cNvSpPr/>
          <p:nvPr/>
        </p:nvSpPr>
        <p:spPr>
          <a:xfrm>
            <a:off x="9710928" y="2651760"/>
            <a:ext cx="301752" cy="0"/>
          </a:xfrm>
          <a:prstGeom prst="line">
            <a:avLst/>
          </a:prstGeom>
          <a:noFill/>
          <a:ln w="12700">
            <a:solidFill>
              <a:srgbClr val="64748B"/>
            </a:solidFill>
            <a:prstDash val="solid"/>
            <a:headEnd type="none"/>
            <a:tailEnd type="triangle"/>
          </a:ln>
        </p:spPr>
      </p:sp>
      <p:sp>
        <p:nvSpPr>
          <p:cNvPr id="20" name="Shape 18"/>
          <p:cNvSpPr/>
          <p:nvPr/>
        </p:nvSpPr>
        <p:spPr>
          <a:xfrm>
            <a:off x="10058400" y="2194560"/>
            <a:ext cx="1508760" cy="914400"/>
          </a:xfrm>
          <a:prstGeom prst="roundRect">
            <a:avLst>
              <a:gd name="adj" fmla="val 8000"/>
            </a:avLst>
          </a:prstGeom>
          <a:solidFill>
            <a:srgbClr val="ECFDF5"/>
          </a:solidFill>
          <a:ln w="12700">
            <a:solidFill>
              <a:srgbClr val="86EFAC"/>
            </a:solidFill>
            <a:prstDash val="solid"/>
          </a:ln>
        </p:spPr>
      </p:sp>
      <p:sp>
        <p:nvSpPr>
          <p:cNvPr id="21" name="Text 19"/>
          <p:cNvSpPr/>
          <p:nvPr/>
        </p:nvSpPr>
        <p:spPr>
          <a:xfrm>
            <a:off x="10195560" y="2322576"/>
            <a:ext cx="1234440" cy="658368"/>
          </a:xfrm>
          <a:prstGeom prst="rect">
            <a:avLst/>
          </a:prstGeom>
          <a:noFill/>
          <a:ln/>
        </p:spPr>
        <p:txBody>
          <a:bodyPr wrap="square" lIns="254" tIns="254" rIns="254" bIns="254" rtlCol="0" anchor="ctr">
            <a:normAutofit/>
          </a:bodyPr>
          <a:lstStyle/>
          <a:p>
            <a:pPr algn="ctr" indent="0" marL="0">
              <a:buNone/>
            </a:pPr>
            <a:r>
              <a:rPr lang="en-US" sz="1150" b="1" dirty="0">
                <a:solidFill>
                  <a:srgbClr val="111827"/>
                </a:solidFill>
              </a:rPr>
              <a:t>Retrospect and decide</a:t>
            </a:r>
            <a:endParaRPr lang="en-US" sz="1150" dirty="0"/>
          </a:p>
        </p:txBody>
      </p:sp>
      <p:sp>
        <p:nvSpPr>
          <p:cNvPr id="22" name="Text 20"/>
          <p:cNvSpPr/>
          <p:nvPr/>
        </p:nvSpPr>
        <p:spPr>
          <a:xfrm>
            <a:off x="1005840" y="4617720"/>
            <a:ext cx="10241280" cy="594360"/>
          </a:xfrm>
          <a:prstGeom prst="rect">
            <a:avLst/>
          </a:prstGeom>
          <a:noFill/>
          <a:ln/>
        </p:spPr>
        <p:txBody>
          <a:bodyPr wrap="square" lIns="635" tIns="635" rIns="635" bIns="635" rtlCol="0" anchor="t">
            <a:normAutofit/>
          </a:bodyPr>
          <a:lstStyle/>
          <a:p>
            <a:pPr indent="0" marL="0">
              <a:buNone/>
            </a:pPr>
            <a:r>
              <a:rPr lang="en-US" sz="2000" dirty="0">
                <a:solidFill>
                  <a:srgbClr val="111827"/>
                </a:solidFill>
              </a:rPr>
              <a:t>Measure: clarification quality, review effort, implementation drift, defects caught, developer confidence, and client traceability value.</a:t>
            </a:r>
            <a:endParaRPr lang="en-US" sz="2000" dirty="0"/>
          </a:p>
        </p:txBody>
      </p:sp>
      <p:sp>
        <p:nvSpPr>
          <p:cNvPr id="23" name="Text 21"/>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Guardrails for safe adoption</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The goal is better delivery, not more Markdown.</a:t>
            </a:r>
            <a:endParaRPr lang="en-US" sz="1400" dirty="0"/>
          </a:p>
        </p:txBody>
      </p:sp>
      <p:sp>
        <p:nvSpPr>
          <p:cNvPr id="5" name="Shape 3"/>
          <p:cNvSpPr/>
          <p:nvPr/>
        </p:nvSpPr>
        <p:spPr>
          <a:xfrm>
            <a:off x="1005840" y="1737360"/>
            <a:ext cx="4754880" cy="1005840"/>
          </a:xfrm>
          <a:prstGeom prst="roundRect">
            <a:avLst>
              <a:gd name="adj" fmla="val 7273"/>
            </a:avLst>
          </a:prstGeom>
          <a:solidFill>
            <a:srgbClr val="ECFDF5"/>
          </a:solidFill>
          <a:ln w="12700">
            <a:solidFill>
              <a:srgbClr val="86EFAC"/>
            </a:solidFill>
            <a:prstDash val="solid"/>
          </a:ln>
        </p:spPr>
      </p:sp>
      <p:sp>
        <p:nvSpPr>
          <p:cNvPr id="6" name="Text 4"/>
          <p:cNvSpPr/>
          <p:nvPr/>
        </p:nvSpPr>
        <p:spPr>
          <a:xfrm>
            <a:off x="1143000" y="1865376"/>
            <a:ext cx="4480560" cy="749808"/>
          </a:xfrm>
          <a:prstGeom prst="rect">
            <a:avLst/>
          </a:prstGeom>
          <a:noFill/>
          <a:ln/>
        </p:spPr>
        <p:txBody>
          <a:bodyPr wrap="square" lIns="254" tIns="254" rIns="254" bIns="254" rtlCol="0" anchor="ctr">
            <a:normAutofit/>
          </a:bodyPr>
          <a:lstStyle/>
          <a:p>
            <a:pPr algn="l" indent="0" marL="0">
              <a:buNone/>
            </a:pPr>
            <a:r>
              <a:rPr lang="en-US" sz="1600" b="1" dirty="0">
                <a:solidFill>
                  <a:srgbClr val="111827"/>
                </a:solidFill>
              </a:rPr>
              <a:t>Do</a:t>
            </a:r>
            <a:endParaRPr lang="en-US" sz="1600" dirty="0"/>
          </a:p>
          <a:p>
            <a:pPr algn="l" indent="0" marL="0">
              <a:buNone/>
            </a:pPr>
            <a:r>
              <a:rPr lang="en-US" sz="1600" b="1" dirty="0">
                <a:solidFill>
                  <a:srgbClr val="111827"/>
                </a:solidFill>
              </a:rPr>
              <a:t>Keep specs focused, reviewed, versioned and linked to tests.</a:t>
            </a:r>
            <a:endParaRPr lang="en-US" sz="1600" dirty="0"/>
          </a:p>
        </p:txBody>
      </p:sp>
      <p:sp>
        <p:nvSpPr>
          <p:cNvPr id="7" name="Shape 5"/>
          <p:cNvSpPr/>
          <p:nvPr/>
        </p:nvSpPr>
        <p:spPr>
          <a:xfrm>
            <a:off x="6492240" y="1737360"/>
            <a:ext cx="4754880" cy="1005840"/>
          </a:xfrm>
          <a:prstGeom prst="roundRect">
            <a:avLst>
              <a:gd name="adj" fmla="val 7273"/>
            </a:avLst>
          </a:prstGeom>
          <a:solidFill>
            <a:srgbClr val="ECFDF5"/>
          </a:solidFill>
          <a:ln w="12700">
            <a:solidFill>
              <a:srgbClr val="86EFAC"/>
            </a:solidFill>
            <a:prstDash val="solid"/>
          </a:ln>
        </p:spPr>
      </p:sp>
      <p:sp>
        <p:nvSpPr>
          <p:cNvPr id="8" name="Text 6"/>
          <p:cNvSpPr/>
          <p:nvPr/>
        </p:nvSpPr>
        <p:spPr>
          <a:xfrm>
            <a:off x="6629400" y="1865376"/>
            <a:ext cx="4480560" cy="749808"/>
          </a:xfrm>
          <a:prstGeom prst="rect">
            <a:avLst/>
          </a:prstGeom>
          <a:noFill/>
          <a:ln/>
        </p:spPr>
        <p:txBody>
          <a:bodyPr wrap="square" lIns="254" tIns="254" rIns="254" bIns="254" rtlCol="0" anchor="ctr">
            <a:normAutofit/>
          </a:bodyPr>
          <a:lstStyle/>
          <a:p>
            <a:pPr algn="l" indent="0" marL="0">
              <a:buNone/>
            </a:pPr>
            <a:r>
              <a:rPr lang="en-US" sz="1600" b="1" dirty="0">
                <a:solidFill>
                  <a:srgbClr val="111827"/>
                </a:solidFill>
              </a:rPr>
              <a:t>Do</a:t>
            </a:r>
            <a:endParaRPr lang="en-US" sz="1600" dirty="0"/>
          </a:p>
          <a:p>
            <a:pPr algn="l" indent="0" marL="0">
              <a:buNone/>
            </a:pPr>
            <a:r>
              <a:rPr lang="en-US" sz="1600" b="1" dirty="0">
                <a:solidFill>
                  <a:srgbClr val="111827"/>
                </a:solidFill>
              </a:rPr>
              <a:t>Use checks: clarify, checklist, analyze, converge or equivalent.</a:t>
            </a:r>
            <a:endParaRPr lang="en-US" sz="1600" dirty="0"/>
          </a:p>
        </p:txBody>
      </p:sp>
      <p:sp>
        <p:nvSpPr>
          <p:cNvPr id="9" name="Shape 7"/>
          <p:cNvSpPr/>
          <p:nvPr/>
        </p:nvSpPr>
        <p:spPr>
          <a:xfrm>
            <a:off x="1005840" y="3246120"/>
            <a:ext cx="4754880" cy="1005840"/>
          </a:xfrm>
          <a:prstGeom prst="roundRect">
            <a:avLst>
              <a:gd name="adj" fmla="val 7273"/>
            </a:avLst>
          </a:prstGeom>
          <a:solidFill>
            <a:srgbClr val="FEF2F2"/>
          </a:solidFill>
          <a:ln w="12700">
            <a:solidFill>
              <a:srgbClr val="FCA5A5"/>
            </a:solidFill>
            <a:prstDash val="solid"/>
          </a:ln>
        </p:spPr>
      </p:sp>
      <p:sp>
        <p:nvSpPr>
          <p:cNvPr id="10" name="Text 8"/>
          <p:cNvSpPr/>
          <p:nvPr/>
        </p:nvSpPr>
        <p:spPr>
          <a:xfrm>
            <a:off x="1143000" y="3374136"/>
            <a:ext cx="4480560" cy="749808"/>
          </a:xfrm>
          <a:prstGeom prst="rect">
            <a:avLst/>
          </a:prstGeom>
          <a:noFill/>
          <a:ln/>
        </p:spPr>
        <p:txBody>
          <a:bodyPr wrap="square" lIns="254" tIns="254" rIns="254" bIns="254" rtlCol="0" anchor="ctr">
            <a:normAutofit/>
          </a:bodyPr>
          <a:lstStyle/>
          <a:p>
            <a:pPr algn="l" indent="0" marL="0">
              <a:buNone/>
            </a:pPr>
            <a:r>
              <a:rPr lang="en-US" sz="1600" b="1" dirty="0">
                <a:solidFill>
                  <a:srgbClr val="111827"/>
                </a:solidFill>
              </a:rPr>
              <a:t>Don’t</a:t>
            </a:r>
            <a:endParaRPr lang="en-US" sz="1600" dirty="0"/>
          </a:p>
          <a:p>
            <a:pPr algn="l" indent="0" marL="0">
              <a:buNone/>
            </a:pPr>
            <a:r>
              <a:rPr lang="en-US" sz="1600" b="1" dirty="0">
                <a:solidFill>
                  <a:srgbClr val="111827"/>
                </a:solidFill>
              </a:rPr>
              <a:t>Run commands mechanically and call it transformation.</a:t>
            </a:r>
            <a:endParaRPr lang="en-US" sz="1600" dirty="0"/>
          </a:p>
        </p:txBody>
      </p:sp>
      <p:sp>
        <p:nvSpPr>
          <p:cNvPr id="11" name="Shape 9"/>
          <p:cNvSpPr/>
          <p:nvPr/>
        </p:nvSpPr>
        <p:spPr>
          <a:xfrm>
            <a:off x="6492240" y="3246120"/>
            <a:ext cx="4754880" cy="1005840"/>
          </a:xfrm>
          <a:prstGeom prst="roundRect">
            <a:avLst>
              <a:gd name="adj" fmla="val 7273"/>
            </a:avLst>
          </a:prstGeom>
          <a:solidFill>
            <a:srgbClr val="FEF2F2"/>
          </a:solidFill>
          <a:ln w="12700">
            <a:solidFill>
              <a:srgbClr val="FCA5A5"/>
            </a:solidFill>
            <a:prstDash val="solid"/>
          </a:ln>
        </p:spPr>
      </p:sp>
      <p:sp>
        <p:nvSpPr>
          <p:cNvPr id="12" name="Text 10"/>
          <p:cNvSpPr/>
          <p:nvPr/>
        </p:nvSpPr>
        <p:spPr>
          <a:xfrm>
            <a:off x="6629400" y="3374136"/>
            <a:ext cx="4480560" cy="749808"/>
          </a:xfrm>
          <a:prstGeom prst="rect">
            <a:avLst/>
          </a:prstGeom>
          <a:noFill/>
          <a:ln/>
        </p:spPr>
        <p:txBody>
          <a:bodyPr wrap="square" lIns="254" tIns="254" rIns="254" bIns="254" rtlCol="0" anchor="ctr">
            <a:normAutofit/>
          </a:bodyPr>
          <a:lstStyle/>
          <a:p>
            <a:pPr algn="l" indent="0" marL="0">
              <a:buNone/>
            </a:pPr>
            <a:r>
              <a:rPr lang="en-US" sz="1600" b="1" dirty="0">
                <a:solidFill>
                  <a:srgbClr val="111827"/>
                </a:solidFill>
              </a:rPr>
              <a:t>Don’t</a:t>
            </a:r>
            <a:endParaRPr lang="en-US" sz="1600" dirty="0"/>
          </a:p>
          <a:p>
            <a:pPr algn="l" indent="0" marL="0">
              <a:buNone/>
            </a:pPr>
            <a:r>
              <a:rPr lang="en-US" sz="1600" b="1" dirty="0">
                <a:solidFill>
                  <a:srgbClr val="111827"/>
                </a:solidFill>
              </a:rPr>
              <a:t>Treat generated specs or code as production-ready without review.</a:t>
            </a:r>
            <a:endParaRPr lang="en-US" sz="1600" dirty="0"/>
          </a:p>
        </p:txBody>
      </p:sp>
      <p:sp>
        <p:nvSpPr>
          <p:cNvPr id="13" name="Text 11"/>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731520" y="1143000"/>
            <a:ext cx="9601200" cy="411480"/>
          </a:xfrm>
          <a:prstGeom prst="rect">
            <a:avLst/>
          </a:prstGeom>
          <a:noFill/>
          <a:ln/>
        </p:spPr>
        <p:txBody>
          <a:bodyPr wrap="square" lIns="0" tIns="0" rIns="0" bIns="0" rtlCol="0" anchor="ctr"/>
          <a:lstStyle/>
          <a:p>
            <a:pPr indent="0" marL="0">
              <a:buNone/>
            </a:pPr>
            <a:r>
              <a:rPr lang="en-US" sz="2200" dirty="0">
                <a:solidFill>
                  <a:srgbClr val="CBD5E1"/>
                </a:solidFill>
              </a:rPr>
              <a:t>The ask</a:t>
            </a:r>
            <a:endParaRPr lang="en-US" sz="2200" dirty="0"/>
          </a:p>
        </p:txBody>
      </p:sp>
      <p:sp>
        <p:nvSpPr>
          <p:cNvPr id="4" name="Text 2"/>
          <p:cNvSpPr/>
          <p:nvPr/>
        </p:nvSpPr>
        <p:spPr>
          <a:xfrm>
            <a:off x="731520" y="1645920"/>
            <a:ext cx="10332720" cy="731520"/>
          </a:xfrm>
          <a:prstGeom prst="rect">
            <a:avLst/>
          </a:prstGeom>
          <a:noFill/>
          <a:ln/>
        </p:spPr>
        <p:txBody>
          <a:bodyPr wrap="square" lIns="0" tIns="0" rIns="0" bIns="0" rtlCol="0" anchor="ctr"/>
          <a:lstStyle/>
          <a:p>
            <a:pPr indent="0" marL="0">
              <a:buNone/>
            </a:pPr>
            <a:r>
              <a:rPr lang="en-US" sz="4800" b="1" dirty="0">
                <a:solidFill>
                  <a:srgbClr val="FFFFFF"/>
                </a:solidFill>
                <a:latin typeface="Aptos Display" pitchFamily="34" charset="0"/>
                <a:ea typeface="Aptos Display" pitchFamily="34" charset="-122"/>
                <a:cs typeface="Aptos Display" pitchFamily="34" charset="-120"/>
              </a:rPr>
              <a:t>Try one real feature.</a:t>
            </a:r>
            <a:endParaRPr lang="en-US" sz="4800" dirty="0"/>
          </a:p>
        </p:txBody>
      </p:sp>
      <p:sp>
        <p:nvSpPr>
          <p:cNvPr id="5" name="Text 3"/>
          <p:cNvSpPr/>
          <p:nvPr/>
        </p:nvSpPr>
        <p:spPr>
          <a:xfrm>
            <a:off x="777240" y="2606040"/>
            <a:ext cx="9966960" cy="457200"/>
          </a:xfrm>
          <a:prstGeom prst="rect">
            <a:avLst/>
          </a:prstGeom>
          <a:noFill/>
          <a:ln/>
        </p:spPr>
        <p:txBody>
          <a:bodyPr wrap="square" lIns="0" tIns="0" rIns="0" bIns="0" rtlCol="0" anchor="ctr"/>
          <a:lstStyle/>
          <a:p>
            <a:pPr indent="0" marL="0">
              <a:buNone/>
            </a:pPr>
            <a:r>
              <a:rPr lang="en-US" sz="1900" dirty="0">
                <a:solidFill>
                  <a:srgbClr val="CBD5E1"/>
                </a:solidFill>
              </a:rPr>
              <a:t>Not a full rollout. Not a tool mandate. One focused feature, one project, one learning loop.</a:t>
            </a:r>
            <a:endParaRPr lang="en-US" sz="1900" dirty="0"/>
          </a:p>
        </p:txBody>
      </p:sp>
      <p:sp>
        <p:nvSpPr>
          <p:cNvPr id="6" name="Shape 4"/>
          <p:cNvSpPr/>
          <p:nvPr/>
        </p:nvSpPr>
        <p:spPr>
          <a:xfrm>
            <a:off x="777240" y="3337560"/>
            <a:ext cx="2926080" cy="0"/>
          </a:xfrm>
          <a:prstGeom prst="line">
            <a:avLst/>
          </a:prstGeom>
          <a:noFill/>
          <a:ln w="50800">
            <a:solidFill>
              <a:srgbClr val="F97316"/>
            </a:solidFill>
            <a:prstDash val="solid"/>
          </a:ln>
        </p:spPr>
      </p:sp>
      <p:sp>
        <p:nvSpPr>
          <p:cNvPr id="7" name="Text 5"/>
          <p:cNvSpPr/>
          <p:nvPr/>
        </p:nvSpPr>
        <p:spPr>
          <a:xfrm>
            <a:off x="777240" y="4709160"/>
            <a:ext cx="9875520" cy="502920"/>
          </a:xfrm>
          <a:prstGeom prst="rect">
            <a:avLst/>
          </a:prstGeom>
          <a:noFill/>
          <a:ln/>
        </p:spPr>
        <p:txBody>
          <a:bodyPr wrap="square" lIns="0" tIns="0" rIns="0" bIns="0" rtlCol="0" anchor="ctr"/>
          <a:lstStyle/>
          <a:p>
            <a:pPr indent="0" marL="0">
              <a:buNone/>
            </a:pPr>
            <a:r>
              <a:rPr lang="en-US" sz="2400" b="1" dirty="0">
                <a:solidFill>
                  <a:srgbClr val="FFFFFF"/>
                </a:solidFill>
              </a:rPr>
              <a:t>This is the SDD mindset, not the tool mindset.</a:t>
            </a:r>
            <a:endParaRPr lang="en-US" sz="2400" dirty="0"/>
          </a:p>
        </p:txBody>
      </p:sp>
      <p:sp>
        <p:nvSpPr>
          <p:cNvPr id="8" name="Text 6"/>
          <p:cNvSpPr/>
          <p:nvPr/>
        </p:nvSpPr>
        <p:spPr>
          <a:xfrm>
            <a:off x="777240" y="5715000"/>
            <a:ext cx="9875520" cy="320040"/>
          </a:xfrm>
          <a:prstGeom prst="rect">
            <a:avLst/>
          </a:prstGeom>
          <a:noFill/>
          <a:ln/>
        </p:spPr>
        <p:txBody>
          <a:bodyPr wrap="square" lIns="0" tIns="0" rIns="0" bIns="0" rtlCol="0" anchor="ctr"/>
          <a:lstStyle/>
          <a:p>
            <a:pPr indent="0" marL="0">
              <a:buNone/>
            </a:pPr>
            <a:r>
              <a:rPr lang="en-US" sz="1700" dirty="0">
                <a:solidFill>
                  <a:srgbClr val="CBD5E1"/>
                </a:solidFill>
              </a:rPr>
              <a:t>Thank you — Questions</a:t>
            </a:r>
            <a:endParaRPr lang="en-US" sz="1700" dirty="0"/>
          </a:p>
        </p:txBody>
      </p:sp>
      <p:sp>
        <p:nvSpPr>
          <p:cNvPr id="9" name="Text 7"/>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CBD5E1"/>
                </a:solidFill>
              </a:rPr>
              <a:t>30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7316"/>
          </a:solidFill>
          <a:ln w="12700">
            <a:solidFill>
              <a:srgbClr val="333333">
                <a:alpha val="0"/>
              </a:srgbClr>
            </a:solidFill>
            <a:prstDash val="solid"/>
          </a:ln>
        </p:spPr>
      </p:sp>
      <p:sp>
        <p:nvSpPr>
          <p:cNvPr id="3" name="Text 1"/>
          <p:cNvSpPr/>
          <p:nvPr/>
        </p:nvSpPr>
        <p:spPr>
          <a:xfrm>
            <a:off x="548640" y="384048"/>
            <a:ext cx="10881360" cy="530352"/>
          </a:xfrm>
          <a:prstGeom prst="rect">
            <a:avLst/>
          </a:prstGeom>
          <a:noFill/>
          <a:ln/>
        </p:spPr>
        <p:txBody>
          <a:bodyPr wrap="square" lIns="0" tIns="0" rIns="0" bIns="0" rtlCol="0" anchor="ctr"/>
          <a:lstStyle/>
          <a:p>
            <a:pPr indent="0" marL="0">
              <a:buNone/>
            </a:pPr>
            <a:r>
              <a:rPr lang="en-US" sz="3000" b="1" dirty="0">
                <a:solidFill>
                  <a:srgbClr val="111827"/>
                </a:solidFill>
                <a:latin typeface="Aptos Display" pitchFamily="34" charset="0"/>
                <a:ea typeface="Aptos Display" pitchFamily="34" charset="-122"/>
                <a:cs typeface="Aptos Display" pitchFamily="34" charset="-120"/>
              </a:rPr>
              <a:t>Sources used to update this version</a:t>
            </a:r>
            <a:endParaRPr lang="en-US" sz="3000" dirty="0"/>
          </a:p>
        </p:txBody>
      </p:sp>
      <p:sp>
        <p:nvSpPr>
          <p:cNvPr id="4" name="Text 2"/>
          <p:cNvSpPr/>
          <p:nvPr/>
        </p:nvSpPr>
        <p:spPr>
          <a:xfrm>
            <a:off x="566928" y="987552"/>
            <a:ext cx="10515600" cy="347472"/>
          </a:xfrm>
          <a:prstGeom prst="rect">
            <a:avLst/>
          </a:prstGeom>
          <a:noFill/>
          <a:ln/>
        </p:spPr>
        <p:txBody>
          <a:bodyPr wrap="square" lIns="0" tIns="0" rIns="0" bIns="0" rtlCol="0" anchor="ctr"/>
          <a:lstStyle/>
          <a:p>
            <a:pPr indent="0" marL="0">
              <a:buNone/>
            </a:pPr>
            <a:r>
              <a:rPr lang="en-US" sz="1400" dirty="0">
                <a:solidFill>
                  <a:srgbClr val="64748B"/>
                </a:solidFill>
              </a:rPr>
              <a:t>Keep this slide as appendix or backup for Q&amp;A.</a:t>
            </a:r>
            <a:endParaRPr lang="en-US" sz="1400" dirty="0"/>
          </a:p>
        </p:txBody>
      </p:sp>
      <p:sp>
        <p:nvSpPr>
          <p:cNvPr id="5" name="Text 3"/>
          <p:cNvSpPr/>
          <p:nvPr/>
        </p:nvSpPr>
        <p:spPr>
          <a:xfrm>
            <a:off x="822960" y="1417320"/>
            <a:ext cx="4572000" cy="201168"/>
          </a:xfrm>
          <a:prstGeom prst="rect">
            <a:avLst/>
          </a:prstGeom>
          <a:noFill/>
          <a:ln/>
        </p:spPr>
        <p:txBody>
          <a:bodyPr wrap="square" lIns="0" tIns="0" rIns="0" bIns="0" rtlCol="0" anchor="ctr"/>
          <a:lstStyle/>
          <a:p>
            <a:pPr indent="0" marL="0">
              <a:buNone/>
            </a:pPr>
            <a:r>
              <a:rPr lang="en-US" sz="1100" b="1" dirty="0">
                <a:solidFill>
                  <a:srgbClr val="111827"/>
                </a:solidFill>
              </a:rPr>
              <a:t>1. GitHub Spec Kit documentation</a:t>
            </a:r>
            <a:endParaRPr lang="en-US" sz="1100" dirty="0"/>
          </a:p>
        </p:txBody>
      </p:sp>
      <p:sp>
        <p:nvSpPr>
          <p:cNvPr id="6" name="Text 4"/>
          <p:cNvSpPr/>
          <p:nvPr/>
        </p:nvSpPr>
        <p:spPr>
          <a:xfrm>
            <a:off x="5486400" y="1417320"/>
            <a:ext cx="5760720" cy="201168"/>
          </a:xfrm>
          <a:prstGeom prst="rect">
            <a:avLst/>
          </a:prstGeom>
          <a:noFill/>
          <a:ln/>
        </p:spPr>
        <p:txBody>
          <a:bodyPr wrap="square" lIns="0" tIns="0" rIns="0" bIns="0" rtlCol="0" anchor="ctr">
            <a:normAutofit/>
          </a:bodyPr>
          <a:lstStyle/>
          <a:p>
            <a:pPr indent="0" marL="0">
              <a:buNone/>
            </a:pPr>
            <a:r>
              <a:rPr lang="en-US" sz="850" dirty="0">
                <a:solidFill>
                  <a:srgbClr val="64748B"/>
                </a:solidFill>
              </a:rPr>
              <a:t>https://github.github.io/spec-kit/</a:t>
            </a:r>
            <a:endParaRPr lang="en-US" sz="850" dirty="0"/>
          </a:p>
        </p:txBody>
      </p:sp>
      <p:sp>
        <p:nvSpPr>
          <p:cNvPr id="7" name="Text 5"/>
          <p:cNvSpPr/>
          <p:nvPr/>
        </p:nvSpPr>
        <p:spPr>
          <a:xfrm>
            <a:off x="822960" y="1984248"/>
            <a:ext cx="4572000" cy="201168"/>
          </a:xfrm>
          <a:prstGeom prst="rect">
            <a:avLst/>
          </a:prstGeom>
          <a:noFill/>
          <a:ln/>
        </p:spPr>
        <p:txBody>
          <a:bodyPr wrap="square" lIns="0" tIns="0" rIns="0" bIns="0" rtlCol="0" anchor="ctr"/>
          <a:lstStyle/>
          <a:p>
            <a:pPr indent="0" marL="0">
              <a:buNone/>
            </a:pPr>
            <a:r>
              <a:rPr lang="en-US" sz="1100" b="1" dirty="0">
                <a:solidFill>
                  <a:srgbClr val="111827"/>
                </a:solidFill>
              </a:rPr>
              <a:t>2. Spec Kit command reference</a:t>
            </a:r>
            <a:endParaRPr lang="en-US" sz="1100" dirty="0"/>
          </a:p>
        </p:txBody>
      </p:sp>
      <p:sp>
        <p:nvSpPr>
          <p:cNvPr id="8" name="Text 6"/>
          <p:cNvSpPr/>
          <p:nvPr/>
        </p:nvSpPr>
        <p:spPr>
          <a:xfrm>
            <a:off x="5486400" y="1984248"/>
            <a:ext cx="5760720" cy="201168"/>
          </a:xfrm>
          <a:prstGeom prst="rect">
            <a:avLst/>
          </a:prstGeom>
          <a:noFill/>
          <a:ln/>
        </p:spPr>
        <p:txBody>
          <a:bodyPr wrap="square" lIns="0" tIns="0" rIns="0" bIns="0" rtlCol="0" anchor="ctr">
            <a:normAutofit/>
          </a:bodyPr>
          <a:lstStyle/>
          <a:p>
            <a:pPr indent="0" marL="0">
              <a:buNone/>
            </a:pPr>
            <a:r>
              <a:rPr lang="en-US" sz="850" dirty="0">
                <a:solidFill>
                  <a:srgbClr val="64748B"/>
                </a:solidFill>
              </a:rPr>
              <a:t>https://github.github.com/spec-kit/reference/agentic-sdd.html</a:t>
            </a:r>
            <a:endParaRPr lang="en-US" sz="850" dirty="0"/>
          </a:p>
        </p:txBody>
      </p:sp>
      <p:sp>
        <p:nvSpPr>
          <p:cNvPr id="9" name="Text 7"/>
          <p:cNvSpPr/>
          <p:nvPr/>
        </p:nvSpPr>
        <p:spPr>
          <a:xfrm>
            <a:off x="822960" y="2551176"/>
            <a:ext cx="4572000" cy="201168"/>
          </a:xfrm>
          <a:prstGeom prst="rect">
            <a:avLst/>
          </a:prstGeom>
          <a:noFill/>
          <a:ln/>
        </p:spPr>
        <p:txBody>
          <a:bodyPr wrap="square" lIns="0" tIns="0" rIns="0" bIns="0" rtlCol="0" anchor="ctr"/>
          <a:lstStyle/>
          <a:p>
            <a:pPr indent="0" marL="0">
              <a:buNone/>
            </a:pPr>
            <a:r>
              <a:rPr lang="en-US" sz="1100" b="1" dirty="0">
                <a:solidFill>
                  <a:srgbClr val="111827"/>
                </a:solidFill>
              </a:rPr>
              <a:t>3. GitHub Copilot custom instructions</a:t>
            </a:r>
            <a:endParaRPr lang="en-US" sz="1100" dirty="0"/>
          </a:p>
        </p:txBody>
      </p:sp>
      <p:sp>
        <p:nvSpPr>
          <p:cNvPr id="10" name="Text 8"/>
          <p:cNvSpPr/>
          <p:nvPr/>
        </p:nvSpPr>
        <p:spPr>
          <a:xfrm>
            <a:off x="5486400" y="2551176"/>
            <a:ext cx="5760720" cy="201168"/>
          </a:xfrm>
          <a:prstGeom prst="rect">
            <a:avLst/>
          </a:prstGeom>
          <a:noFill/>
          <a:ln/>
        </p:spPr>
        <p:txBody>
          <a:bodyPr wrap="square" lIns="0" tIns="0" rIns="0" bIns="0" rtlCol="0" anchor="ctr">
            <a:normAutofit/>
          </a:bodyPr>
          <a:lstStyle/>
          <a:p>
            <a:pPr indent="0" marL="0">
              <a:buNone/>
            </a:pPr>
            <a:r>
              <a:rPr lang="en-US" sz="850" dirty="0">
                <a:solidFill>
                  <a:srgbClr val="64748B"/>
                </a:solidFill>
              </a:rPr>
              <a:t>https://docs.github.com/en/copilot/how-tos/configure-custom-instructions-in-your-ide/add-repository-instructions-in-your-ide</a:t>
            </a:r>
            <a:endParaRPr lang="en-US" sz="850" dirty="0"/>
          </a:p>
        </p:txBody>
      </p:sp>
      <p:sp>
        <p:nvSpPr>
          <p:cNvPr id="11" name="Text 9"/>
          <p:cNvSpPr/>
          <p:nvPr/>
        </p:nvSpPr>
        <p:spPr>
          <a:xfrm>
            <a:off x="822960" y="3118104"/>
            <a:ext cx="4572000" cy="201168"/>
          </a:xfrm>
          <a:prstGeom prst="rect">
            <a:avLst/>
          </a:prstGeom>
          <a:noFill/>
          <a:ln/>
        </p:spPr>
        <p:txBody>
          <a:bodyPr wrap="square" lIns="0" tIns="0" rIns="0" bIns="0" rtlCol="0" anchor="ctr"/>
          <a:lstStyle/>
          <a:p>
            <a:pPr indent="0" marL="0">
              <a:buNone/>
            </a:pPr>
            <a:r>
              <a:rPr lang="en-US" sz="1100" b="1" dirty="0">
                <a:solidFill>
                  <a:srgbClr val="111827"/>
                </a:solidFill>
              </a:rPr>
              <a:t>4. BMAD Method workflow map</a:t>
            </a:r>
            <a:endParaRPr lang="en-US" sz="1100" dirty="0"/>
          </a:p>
        </p:txBody>
      </p:sp>
      <p:sp>
        <p:nvSpPr>
          <p:cNvPr id="12" name="Text 10"/>
          <p:cNvSpPr/>
          <p:nvPr/>
        </p:nvSpPr>
        <p:spPr>
          <a:xfrm>
            <a:off x="5486400" y="3118104"/>
            <a:ext cx="5760720" cy="201168"/>
          </a:xfrm>
          <a:prstGeom prst="rect">
            <a:avLst/>
          </a:prstGeom>
          <a:noFill/>
          <a:ln/>
        </p:spPr>
        <p:txBody>
          <a:bodyPr wrap="square" lIns="0" tIns="0" rIns="0" bIns="0" rtlCol="0" anchor="ctr">
            <a:normAutofit/>
          </a:bodyPr>
          <a:lstStyle/>
          <a:p>
            <a:pPr indent="0" marL="0">
              <a:buNone/>
            </a:pPr>
            <a:r>
              <a:rPr lang="en-US" sz="850" dirty="0">
                <a:solidFill>
                  <a:srgbClr val="64748B"/>
                </a:solidFill>
              </a:rPr>
              <a:t>https://docs.bmad-method.org/reference/workflow-map/</a:t>
            </a:r>
            <a:endParaRPr lang="en-US" sz="850" dirty="0"/>
          </a:p>
        </p:txBody>
      </p:sp>
      <p:sp>
        <p:nvSpPr>
          <p:cNvPr id="13" name="Text 11"/>
          <p:cNvSpPr/>
          <p:nvPr/>
        </p:nvSpPr>
        <p:spPr>
          <a:xfrm>
            <a:off x="822960" y="3685032"/>
            <a:ext cx="4572000" cy="201168"/>
          </a:xfrm>
          <a:prstGeom prst="rect">
            <a:avLst/>
          </a:prstGeom>
          <a:noFill/>
          <a:ln/>
        </p:spPr>
        <p:txBody>
          <a:bodyPr wrap="square" lIns="0" tIns="0" rIns="0" bIns="0" rtlCol="0" anchor="ctr"/>
          <a:lstStyle/>
          <a:p>
            <a:pPr indent="0" marL="0">
              <a:buNone/>
            </a:pPr>
            <a:r>
              <a:rPr lang="en-US" sz="1100" b="1" dirty="0">
                <a:solidFill>
                  <a:srgbClr val="111827"/>
                </a:solidFill>
              </a:rPr>
              <a:t>5. OpenSpec commands and OPSX workflow</a:t>
            </a:r>
            <a:endParaRPr lang="en-US" sz="1100" dirty="0"/>
          </a:p>
        </p:txBody>
      </p:sp>
      <p:sp>
        <p:nvSpPr>
          <p:cNvPr id="14" name="Text 12"/>
          <p:cNvSpPr/>
          <p:nvPr/>
        </p:nvSpPr>
        <p:spPr>
          <a:xfrm>
            <a:off x="5486400" y="3685032"/>
            <a:ext cx="5760720" cy="201168"/>
          </a:xfrm>
          <a:prstGeom prst="rect">
            <a:avLst/>
          </a:prstGeom>
          <a:noFill/>
          <a:ln/>
        </p:spPr>
        <p:txBody>
          <a:bodyPr wrap="square" lIns="0" tIns="0" rIns="0" bIns="0" rtlCol="0" anchor="ctr">
            <a:normAutofit/>
          </a:bodyPr>
          <a:lstStyle/>
          <a:p>
            <a:pPr indent="0" marL="0">
              <a:buNone/>
            </a:pPr>
            <a:r>
              <a:rPr lang="en-US" sz="850" dirty="0">
                <a:solidFill>
                  <a:srgbClr val="64748B"/>
                </a:solidFill>
              </a:rPr>
              <a:t>https://openspec.dev/docs/opsx</a:t>
            </a:r>
            <a:endParaRPr lang="en-US" sz="850" dirty="0"/>
          </a:p>
        </p:txBody>
      </p:sp>
      <p:sp>
        <p:nvSpPr>
          <p:cNvPr id="15" name="Text 13"/>
          <p:cNvSpPr/>
          <p:nvPr/>
        </p:nvSpPr>
        <p:spPr>
          <a:xfrm>
            <a:off x="822960" y="4251960"/>
            <a:ext cx="4572000" cy="201168"/>
          </a:xfrm>
          <a:prstGeom prst="rect">
            <a:avLst/>
          </a:prstGeom>
          <a:noFill/>
          <a:ln/>
        </p:spPr>
        <p:txBody>
          <a:bodyPr wrap="square" lIns="0" tIns="0" rIns="0" bIns="0" rtlCol="0" anchor="ctr"/>
          <a:lstStyle/>
          <a:p>
            <a:pPr indent="0" marL="0">
              <a:buNone/>
            </a:pPr>
            <a:r>
              <a:rPr lang="en-US" sz="1100" b="1" dirty="0">
                <a:solidFill>
                  <a:srgbClr val="111827"/>
                </a:solidFill>
              </a:rPr>
              <a:t>6. Böckeler, Understanding Spec-Driven Development</a:t>
            </a:r>
            <a:endParaRPr lang="en-US" sz="1100" dirty="0"/>
          </a:p>
        </p:txBody>
      </p:sp>
      <p:sp>
        <p:nvSpPr>
          <p:cNvPr id="16" name="Text 14"/>
          <p:cNvSpPr/>
          <p:nvPr/>
        </p:nvSpPr>
        <p:spPr>
          <a:xfrm>
            <a:off x="5486400" y="4251960"/>
            <a:ext cx="5760720" cy="201168"/>
          </a:xfrm>
          <a:prstGeom prst="rect">
            <a:avLst/>
          </a:prstGeom>
          <a:noFill/>
          <a:ln/>
        </p:spPr>
        <p:txBody>
          <a:bodyPr wrap="square" lIns="0" tIns="0" rIns="0" bIns="0" rtlCol="0" anchor="ctr">
            <a:normAutofit/>
          </a:bodyPr>
          <a:lstStyle/>
          <a:p>
            <a:pPr indent="0" marL="0">
              <a:buNone/>
            </a:pPr>
            <a:r>
              <a:rPr lang="en-US" sz="850" dirty="0">
                <a:solidFill>
                  <a:srgbClr val="64748B"/>
                </a:solidFill>
              </a:rPr>
              <a:t>https://martinfowler.com/articles/exploring-gen-ai/sdd-3-tools.html</a:t>
            </a:r>
            <a:endParaRPr lang="en-US" sz="850" dirty="0"/>
          </a:p>
        </p:txBody>
      </p:sp>
      <p:sp>
        <p:nvSpPr>
          <p:cNvPr id="17" name="Text 15"/>
          <p:cNvSpPr/>
          <p:nvPr/>
        </p:nvSpPr>
        <p:spPr>
          <a:xfrm>
            <a:off x="822960" y="4818888"/>
            <a:ext cx="4572000" cy="201168"/>
          </a:xfrm>
          <a:prstGeom prst="rect">
            <a:avLst/>
          </a:prstGeom>
          <a:noFill/>
          <a:ln/>
        </p:spPr>
        <p:txBody>
          <a:bodyPr wrap="square" lIns="0" tIns="0" rIns="0" bIns="0" rtlCol="0" anchor="ctr"/>
          <a:lstStyle/>
          <a:p>
            <a:pPr indent="0" marL="0">
              <a:buNone/>
            </a:pPr>
            <a:r>
              <a:rPr lang="en-US" sz="1100" b="1" dirty="0">
                <a:solidFill>
                  <a:srgbClr val="111827"/>
                </a:solidFill>
              </a:rPr>
              <a:t>7. Agent OS v3 migration</a:t>
            </a:r>
            <a:endParaRPr lang="en-US" sz="1100" dirty="0"/>
          </a:p>
        </p:txBody>
      </p:sp>
      <p:sp>
        <p:nvSpPr>
          <p:cNvPr id="18" name="Text 16"/>
          <p:cNvSpPr/>
          <p:nvPr/>
        </p:nvSpPr>
        <p:spPr>
          <a:xfrm>
            <a:off x="5486400" y="4818888"/>
            <a:ext cx="5760720" cy="201168"/>
          </a:xfrm>
          <a:prstGeom prst="rect">
            <a:avLst/>
          </a:prstGeom>
          <a:noFill/>
          <a:ln/>
        </p:spPr>
        <p:txBody>
          <a:bodyPr wrap="square" lIns="0" tIns="0" rIns="0" bIns="0" rtlCol="0" anchor="ctr">
            <a:normAutofit/>
          </a:bodyPr>
          <a:lstStyle/>
          <a:p>
            <a:pPr indent="0" marL="0">
              <a:buNone/>
            </a:pPr>
            <a:r>
              <a:rPr lang="en-US" sz="850" dirty="0">
                <a:solidFill>
                  <a:srgbClr val="64748B"/>
                </a:solidFill>
              </a:rPr>
              <a:t>https://buildermethods.com/agent-os/migration</a:t>
            </a:r>
            <a:endParaRPr lang="en-US" sz="850" dirty="0"/>
          </a:p>
        </p:txBody>
      </p:sp>
      <p:sp>
        <p:nvSpPr>
          <p:cNvPr id="19" name="Text 17"/>
          <p:cNvSpPr/>
          <p:nvPr/>
        </p:nvSpPr>
        <p:spPr>
          <a:xfrm>
            <a:off x="11475720" y="6446520"/>
            <a:ext cx="411480" cy="164592"/>
          </a:xfrm>
          <a:prstGeom prst="rect">
            <a:avLst/>
          </a:prstGeom>
          <a:noFill/>
          <a:ln/>
        </p:spPr>
        <p:txBody>
          <a:bodyPr wrap="square" lIns="0" tIns="0" rIns="0" bIns="0" rtlCol="0" anchor="ctr"/>
          <a:lstStyle/>
          <a:p>
            <a:pPr algn="r" indent="0" marL="0">
              <a:buNone/>
            </a:pPr>
            <a:r>
              <a:rPr lang="en-US" sz="800" dirty="0">
                <a:solidFill>
                  <a:srgbClr val="64748B"/>
                </a:solidFill>
              </a:rPr>
              <a:t>31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EA GenAI Team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Vibe Coding to Spec-Driven Development</dc:title>
  <dc:subject>Shifting Mindset to Spec-Driven Development</dc:subject>
  <dc:creator>Mahantesh / EA GenAI Team</dc:creator>
  <cp:lastModifiedBy>Mahantesh / EA GenAI Team</cp:lastModifiedBy>
  <cp:revision>1</cp:revision>
  <dcterms:created xsi:type="dcterms:W3CDTF">2026-08-03T15:49:32Z</dcterms:created>
  <dcterms:modified xsi:type="dcterms:W3CDTF">2026-08-03T15:49:32Z</dcterms:modified>
</cp:coreProperties>
</file>